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85" r:id="rId2"/>
    <p:sldId id="292"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93" r:id="rId38"/>
    <p:sldId id="294" r:id="rId39"/>
    <p:sldId id="295" r:id="rId40"/>
    <p:sldId id="296" r:id="rId41"/>
    <p:sldId id="297" r:id="rId42"/>
    <p:sldId id="298" r:id="rId43"/>
    <p:sldId id="299" r:id="rId44"/>
    <p:sldId id="300" r:id="rId45"/>
    <p:sldId id="301" r:id="rId46"/>
    <p:sldId id="302"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8" d="100"/>
          <a:sy n="98" d="100"/>
        </p:scale>
        <p:origin x="68" y="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9691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ABERTURA]</a:t>
            </a:r>
          </a:p>
          <a:p>
            <a:endParaRPr/>
          </a:p>
          <a:p>
            <a:r>
              <a:t>RESUMO DO ASSUNTO (para estudar):</a:t>
            </a:r>
          </a:p>
          <a:p>
            <a:r>
              <a:t>Slide de capa. Define o tom do evento: não é curso de 'onde clicar', é formação de raciocínio de Arquiteto.</a:t>
            </a:r>
          </a:p>
          <a:p>
            <a:endParaRPr/>
          </a:p>
          <a:p>
            <a:r>
              <a:t>SCRIPT / O QUE FALAR:</a:t>
            </a:r>
          </a:p>
          <a:p>
            <a:r>
              <a:t>Bora lá! Sejam muito bem-vindos à Imersão Arquiteto Azure — Cloud &amp; AI. Nos próximos dois dias você não vai aprender a clicar botão: você vai aprender a DECIDIR como um Arquiteto. Presta atenção, porque hoje a gente sai do tradicional e constrói a primeira arquitetura moderna de verdade no Azure.</a:t>
            </a:r>
          </a:p>
          <a:p>
            <a:endParaRPr/>
          </a:p>
          <a:p>
            <a:r>
              <a:t>ESTRUTURA / CONDUCAO:</a:t>
            </a:r>
          </a:p>
          <a:p>
            <a:r>
              <a:t>Energia alta. Confirme que todos estão vendo a tela e ouvindo. Peça um 'BORA' no chat para aquecer.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D343C-34FA-B701-1E0A-4D67D7C1EE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8D52BE-D424-D12C-4D8B-D8A16A621F0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AEFFE32-C338-21A0-69EB-503455F27B25}"/>
              </a:ext>
            </a:extLst>
          </p:cNvPr>
          <p:cNvSpPr>
            <a:spLocks noGrp="1"/>
          </p:cNvSpPr>
          <p:nvPr>
            <p:ph type="body" sz="quarter" idx="3"/>
          </p:nvPr>
        </p:nvSpPr>
        <p:spPr/>
        <p:txBody>
          <a:bodyPr/>
          <a:lstStyle/>
          <a:p>
            <a:r>
              <a:t>[MOMENTO: ABERTURA]</a:t>
            </a:r>
          </a:p>
          <a:p>
            <a:endParaRPr/>
          </a:p>
          <a:p>
            <a:r>
              <a:t>RESUMO DO ASSUNTO (para estudar):</a:t>
            </a:r>
          </a:p>
          <a:p>
            <a:r>
              <a:t>Slide de capa. Define o tom do evento: não é curso de 'onde clicar', é formação de raciocínio de Arquiteto.</a:t>
            </a:r>
          </a:p>
          <a:p>
            <a:endParaRPr/>
          </a:p>
          <a:p>
            <a:r>
              <a:t>SCRIPT / O QUE FALAR:</a:t>
            </a:r>
          </a:p>
          <a:p>
            <a:r>
              <a:t>Bora lá! Sejam muito bem-vindos à Imersão Arquiteto Azure — Cloud &amp; AI. Nos próximos dois dias você não vai aprender a clicar botão: você vai aprender a DECIDIR como um Arquiteto. Presta atenção, porque hoje a gente sai do tradicional e constrói a primeira arquitetura moderna de verdade no Azure.</a:t>
            </a:r>
          </a:p>
          <a:p>
            <a:endParaRPr/>
          </a:p>
          <a:p>
            <a:r>
              <a:t>ESTRUTURA / CONDUCAO:</a:t>
            </a:r>
          </a:p>
          <a:p>
            <a:r>
              <a:t>Energia alta. Confirme que todos estão vendo a tela e ouvindo. Peça um 'BORA' no chat para aquecer.</a:t>
            </a:r>
          </a:p>
        </p:txBody>
      </p:sp>
      <p:sp>
        <p:nvSpPr>
          <p:cNvPr id="4" name="Slide Number Placeholder 3">
            <a:extLst>
              <a:ext uri="{FF2B5EF4-FFF2-40B4-BE49-F238E27FC236}">
                <a16:creationId xmlns:a16="http://schemas.microsoft.com/office/drawing/2014/main" id="{E891BD05-E08F-4F4C-A58D-D2A6F5A2432A}"/>
              </a:ext>
            </a:extLst>
          </p:cNvPr>
          <p:cNvSpPr>
            <a:spLocks noGrp="1"/>
          </p:cNvSpPr>
          <p:nvPr>
            <p:ph type="sldNum" sz="quarter" idx="5"/>
          </p:nvPr>
        </p:nvSpPr>
        <p:spPr/>
      </p:sp>
    </p:spTree>
    <p:extLst>
      <p:ext uri="{BB962C8B-B14F-4D97-AF65-F5344CB8AC3E}">
        <p14:creationId xmlns:p14="http://schemas.microsoft.com/office/powerpoint/2010/main" val="2049837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ABERTURA]</a:t>
            </a:r>
          </a:p>
          <a:p>
            <a:endParaRPr/>
          </a:p>
          <a:p>
            <a:r>
              <a:t>RESUMO DO ASSUNTO (para estudar):</a:t>
            </a:r>
          </a:p>
          <a:p>
            <a:r>
              <a:t>Capa do Dia 2. Retoma a narrativa e sinaliza a evolução para Cloud Native + AI.</a:t>
            </a:r>
          </a:p>
          <a:p>
            <a:endParaRPr/>
          </a:p>
          <a:p>
            <a:r>
              <a:t>SCRIPT / O QUE FALAR:</a:t>
            </a:r>
          </a:p>
          <a:p>
            <a:r>
              <a:t>Bem-vindo de volta! Hoje é o dia da virada de chave: a mesma Expert Store de ontem vai ganhar Kubernetes, DevOps e Inteligência Artificial. Se ontem a gente modernizou, hoje a gente entra no jogo dos grandes. Bora pra cima!</a:t>
            </a:r>
          </a:p>
          <a:p>
            <a:endParaRPr/>
          </a:p>
          <a:p>
            <a:r>
              <a:t>ESTRUTURA / CONDUCAO:</a:t>
            </a:r>
          </a:p>
          <a:p>
            <a:r>
              <a:t>Energia alta desde o primeiro segundo. Marque que às 14h entra IA (o gancho de ontem se cumpre hoje).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ENGAJAMENTO / RECONEXAO]</a:t>
            </a:r>
          </a:p>
          <a:p>
            <a:endParaRPr/>
          </a:p>
          <a:p>
            <a:r>
              <a:t>RESUMO DO ASSUNTO (para estudar):</a:t>
            </a:r>
          </a:p>
          <a:p>
            <a:r>
              <a:t>Reconexão de abertura do Dia 2. Reativa quem voltou e mede engajamento.</a:t>
            </a:r>
          </a:p>
          <a:p>
            <a:endParaRPr/>
          </a:p>
          <a:p>
            <a:r>
              <a:t>SCRIPT / O QUE FALAR:</a:t>
            </a:r>
          </a:p>
          <a:p>
            <a:r>
              <a:t>Antes de começar, quero sentir a energia: quem acordou hoje ainda pensando na arquitetura de ontem? Quem já foi lá no portal rever alguma coisa? Digita 'JÁ APLIQUEI' ou 'BORA PRA CIMA' no chat. Quero ver quem veio com sede de aprender.</a:t>
            </a:r>
          </a:p>
          <a:p>
            <a:endParaRPr/>
          </a:p>
          <a:p>
            <a:r>
              <a:t>ESTRUTURA / CONDUCAO:</a:t>
            </a:r>
          </a:p>
          <a:p>
            <a:r>
              <a:t>Chamada nominal de quem responde forte. Reconecta o grupo e recompensa a presença no Dia 2.</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CONTEUDO / RECONEXAO]</a:t>
            </a:r>
          </a:p>
          <a:p>
            <a:endParaRPr/>
          </a:p>
          <a:p>
            <a:r>
              <a:t>RESUMO DO ASSUNTO (para estudar):</a:t>
            </a:r>
          </a:p>
          <a:p>
            <a:r>
              <a:t>Recap visual do Dia 1 para reancorar o ponto de partida de hoje.</a:t>
            </a:r>
          </a:p>
          <a:p>
            <a:endParaRPr/>
          </a:p>
          <a:p>
            <a:r>
              <a:t>SCRIPT / O QUE FALAR:</a:t>
            </a:r>
          </a:p>
          <a:p>
            <a:r>
              <a:t>Rapidão pra reancorar: ontem a gente saiu de uma VM e chegou nessa arquitetura — App Service, Azure SQL, Key Vault e Managed Identity. Cloud moderna, segura. Hoje isso vira Cloud NATIVE, com Kubernetes, DevOps e IA. Segura essa evolução.</a:t>
            </a:r>
          </a:p>
          <a:p>
            <a:endParaRPr/>
          </a:p>
          <a:p>
            <a:r>
              <a:t>ESTRUTURA / CONDUCAO:</a:t>
            </a:r>
          </a:p>
          <a:p>
            <a:r>
              <a:t>Não repita o conteúdo todo de ontem. Só o suficiente pra dar contexto e emendar no AKS.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CONTEUDO — LAB 07]</a:t>
            </a:r>
          </a:p>
          <a:p>
            <a:endParaRPr/>
          </a:p>
          <a:p>
            <a:r>
              <a:t>RESUMO DO ASSUNTO (para estudar):</a:t>
            </a:r>
          </a:p>
          <a:p>
            <a:r>
              <a:t>Abertura do LAB de AKS: fecha o loop aberto de ontem (imagem no ACR sem destino).</a:t>
            </a:r>
          </a:p>
          <a:p>
            <a:endParaRPr/>
          </a:p>
          <a:p>
            <a:r>
              <a:t>SCRIPT / O QUE FALAR:</a:t>
            </a:r>
          </a:p>
          <a:p>
            <a:r>
              <a:t>Lembra do gancho de ontem? A imagem estava pronta no ACR, mas sem destino. Hoje ela GANHA VIDA. Bora subir a Expert Store no Azure Kubernetes Service, o AKS.</a:t>
            </a:r>
          </a:p>
          <a:p>
            <a:endParaRPr/>
          </a:p>
          <a:p>
            <a:r>
              <a:t>ESTRUTURA / CONDUCAO:</a:t>
            </a:r>
          </a:p>
          <a:p>
            <a:r>
              <a:t>Cobre a dívida de retenção do Dia 1. Aqui a promessa se cumpre — dá peso a isso.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CONTEUDO]</a:t>
            </a:r>
          </a:p>
          <a:p>
            <a:endParaRPr/>
          </a:p>
          <a:p>
            <a:r>
              <a:t>RESUMO DO ASSUNTO (para estudar):</a:t>
            </a:r>
          </a:p>
          <a:p>
            <a:r>
              <a:t>Anatomia do AKS. Vocabulário essencial: Node (VM que roda containers), Pod (menor unidade), Deployment (mantém N réplicas), Service + Load Balancer (expõem a app), Namespace (isola).</a:t>
            </a:r>
          </a:p>
          <a:p>
            <a:endParaRPr/>
          </a:p>
          <a:p>
            <a:r>
              <a:t>SCRIPT / O QUE FALAR:</a:t>
            </a:r>
          </a:p>
          <a:p>
            <a:r>
              <a:t>Vamos ao vocabulário que todo Arquiteto precisa dominar: o AKS é o Kubernetes GERENCIADO pela Azure. O Node é a VM que roda os containers. O Pod é a menor unidade executável. O Deployment mantém N réplicas do seu Pod no ar. O Service com Load Balancer expõe a aplicação num IP. E o Namespace isola ambientes e times dentro do mesmo cluster. Decisão de arquiteto: AKS quando você precisa de escala, microserviços e portabilidade — senão, App Service resolve.</a:t>
            </a:r>
          </a:p>
          <a:p>
            <a:endParaRPr/>
          </a:p>
          <a:p>
            <a:r>
              <a:t>ESTRUTURA / CONDUCAO:</a:t>
            </a:r>
          </a:p>
          <a:p>
            <a:r>
              <a:t>Vá com calma no vocabulário — é o alicerce dos próximos slides. Custo: control plane barato, paga-se pelos nodes.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CONTEUDO]</a:t>
            </a:r>
          </a:p>
          <a:p>
            <a:endParaRPr/>
          </a:p>
          <a:p>
            <a:r>
              <a:t>RESUMO DO ASSUNTO (para estudar):</a:t>
            </a:r>
          </a:p>
          <a:p>
            <a:r>
              <a:t>Diagrama da arquitetura Cloud Native com AKS, Load Balancer, Pods, ACR e Azure SQL via Private Endpoint.</a:t>
            </a:r>
          </a:p>
          <a:p>
            <a:endParaRPr/>
          </a:p>
          <a:p>
            <a:r>
              <a:t>SCRIPT / O QUE FALAR:</a:t>
            </a:r>
          </a:p>
          <a:p>
            <a:r>
              <a:t>Olha a arquitetura completa Cloud Native: a internet chega no Load Balancer, que distribui pros Pods no AKS, e a aplicação fala com o Azure SQL por Private Endpoint — rede privada, sem exposição pública. O ACR alimenta o cluster com a imagem. Isso aqui é arquitetura de gente grande.</a:t>
            </a:r>
          </a:p>
          <a:p>
            <a:endParaRPr/>
          </a:p>
          <a:p>
            <a:r>
              <a:t>ESTRUTURA / CONDUCAO:</a:t>
            </a:r>
          </a:p>
          <a:p>
            <a:r>
              <a:t>Aponte o caminho do tráfego e destaque o Private Endpoint (dívida do Dia 1 quitada).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CONTEUDO — LAB 08]</a:t>
            </a:r>
          </a:p>
          <a:p>
            <a:endParaRPr/>
          </a:p>
          <a:p>
            <a:r>
              <a:t>RESUMO DO ASSUNTO (para estudar):</a:t>
            </a:r>
          </a:p>
          <a:p>
            <a:r>
              <a:t>Abertura do LAB de resiliência e escala: demonstração ao vivo do poder do Kubernetes.</a:t>
            </a:r>
          </a:p>
          <a:p>
            <a:endParaRPr/>
          </a:p>
          <a:p>
            <a:r>
              <a:t>SCRIPT / O QUE FALAR:</a:t>
            </a:r>
          </a:p>
          <a:p>
            <a:r>
              <a:t>Agora vem a parte que dá arrepio: resiliência e escala. A gente vai MATAR um Pod na frente de vocês e ver o Kubernetes recriar sozinho. Depois a gente escala réplicas. Presta atenção que isso muda a forma como você pensa disponibilidade.</a:t>
            </a:r>
          </a:p>
          <a:p>
            <a:endParaRPr/>
          </a:p>
          <a:p>
            <a:r>
              <a:t>ESTRUTURA / CONDUCAO:</a:t>
            </a:r>
          </a:p>
          <a:p>
            <a:r>
              <a:t>Este é um momento de 'uau' ao vivo. Faça a demonstração acontecer na tela, não só no slide.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CONTEUDO]</a:t>
            </a:r>
          </a:p>
          <a:p>
            <a:endParaRPr/>
          </a:p>
          <a:p>
            <a:r>
              <a:t>RESUMO DO ASSUNTO (para estudar):</a:t>
            </a:r>
          </a:p>
          <a:p>
            <a:r>
              <a:t>Anatomia de resiliência: self-healing (Deployment recria Pod caído), réplicas (distribuem carga), scaling (manual x HPA), rolling update (sem downtime).</a:t>
            </a:r>
          </a:p>
          <a:p>
            <a:endParaRPr/>
          </a:p>
          <a:p>
            <a:r>
              <a:t>SCRIPT / O QUE FALAR:</a:t>
            </a:r>
          </a:p>
          <a:p>
            <a:r>
              <a:t>Três superpoderes do Kubernetes: self-healing — se um Pod cai, o Deployment recria sozinho, sem ninguém acordar de madrugada. Réplicas — várias instâncias distribuindo carga e aumentando disponibilidade. E scaling — ajustar réplicas conforme a demanda, manual ou automático com HPA. E dá pra atualizar versão sem downtime, o rolling update. A decisão é dimensionar por SLA e padrão de tráfego, não por achismo.</a:t>
            </a:r>
          </a:p>
          <a:p>
            <a:endParaRPr/>
          </a:p>
          <a:p>
            <a:r>
              <a:t>ESTRUTURA / CONDUCAO:</a:t>
            </a:r>
          </a:p>
          <a:p>
            <a:r>
              <a:t>Depois da demo de matar o Pod, volte aqui pra consolidar o conceito. Custo leve: paga pelos nodes/réplicas.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ENGAJAMENTO / SEEDING]</a:t>
            </a:r>
          </a:p>
          <a:p>
            <a:endParaRPr/>
          </a:p>
          <a:p>
            <a:r>
              <a:t>RESUMO DO ASSUNTO (para estudar):</a:t>
            </a:r>
          </a:p>
          <a:p>
            <a:r>
              <a:t>Pergunta de negócio que justifica o AKS e planta a ideia de estar preparado (ponte para valor de carreira).</a:t>
            </a:r>
          </a:p>
          <a:p>
            <a:endParaRPr/>
          </a:p>
          <a:p>
            <a:r>
              <a:t>SCRIPT / O QUE FALAR:</a:t>
            </a:r>
          </a:p>
          <a:p>
            <a:r>
              <a:t>Deixa eu te fazer a pergunta que todo gestor faz: e se AMANHÃ a Expert Store receber 10 vezes mais usuários? No mundo tradicional isso é pânico. Com AKS, é CONFIGURAÇÃO. Escala, resiliência, deploy sem downtime. É esse tipo de resposta que faz de você o Arquiteto que a empresa não quer perder.</a:t>
            </a:r>
          </a:p>
          <a:p>
            <a:endParaRPr/>
          </a:p>
          <a:p>
            <a:r>
              <a:t>ESTRUTURA / CONDUCAO:</a:t>
            </a:r>
          </a:p>
          <a:p>
            <a:r>
              <a:t>Conecte capacidade técnica com valor de carreira. Semente sutil pro pitch da tarde.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CONTEUDO — LAB 09]</a:t>
            </a:r>
          </a:p>
          <a:p>
            <a:endParaRPr/>
          </a:p>
          <a:p>
            <a:r>
              <a:t>RESUMO DO ASSUNTO (para estudar):</a:t>
            </a:r>
          </a:p>
          <a:p>
            <a:r>
              <a:t>Abertura do LAB de DevOps: automatizar o caminho do código até o cluster.</a:t>
            </a:r>
          </a:p>
          <a:p>
            <a:endParaRPr/>
          </a:p>
          <a:p>
            <a:r>
              <a:t>SCRIPT / O QUE FALAR:</a:t>
            </a:r>
          </a:p>
          <a:p>
            <a:r>
              <a:t>Até agora a gente fez muita coisa na mão. E se tudo isso acontecesse sozinho a cada commit? Bem-vindo ao DevOps. A gente vai construir a ponte: do desenvolvedor pro GitHub, build, ACR e deploy automático no AKS.</a:t>
            </a:r>
          </a:p>
          <a:p>
            <a:endParaRPr/>
          </a:p>
          <a:p>
            <a:r>
              <a:t>ESTRUTURA / CONDUCAO:</a:t>
            </a:r>
          </a:p>
          <a:p>
            <a:r>
              <a:t>Contraste o 'na mão' com o 'automatizado'. Prepara o valor do CI/CD.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CONTEUDO]</a:t>
            </a:r>
          </a:p>
          <a:p>
            <a:endParaRPr/>
          </a:p>
          <a:p>
            <a:r>
              <a:t>RESUMO DO ASSUNTO (para estudar):</a:t>
            </a:r>
          </a:p>
          <a:p>
            <a:r>
              <a:t>Anatomia de CI/CD com GitHub Actions. CI = integração contínua (build/teste); CD = entrega/deploy contínuo. Fluxo dev -&gt; GitHub -&gt; build -&gt; ACR -&gt; AKS.</a:t>
            </a:r>
          </a:p>
          <a:p>
            <a:endParaRPr/>
          </a:p>
          <a:p>
            <a:r>
              <a:t>SCRIPT / O QUE FALAR:</a:t>
            </a:r>
          </a:p>
          <a:p>
            <a:r>
              <a:t>GitHub é onde o código vive e a colaboração acontece. GitHub Actions é o motor de CI/CD, acionado por evento — um push dispara tudo: testa, builda a imagem, manda pro ACR e faz o deploy no AKS. Cada versão fica ligada a um commit, então você tem rastreabilidade total. A decisão de arquiteto: o pipeline é a ÚNICA porta de entrada pra produção. Ninguém faz deploy na mão.</a:t>
            </a:r>
          </a:p>
          <a:p>
            <a:endParaRPr/>
          </a:p>
          <a:p>
            <a:r>
              <a:t>ESTRUTURA / CONDUCAO:</a:t>
            </a:r>
          </a:p>
          <a:p>
            <a:r>
              <a:t>Reforce a regra: 'produção só pelo pipeline'. Custo leve: Actions tem minutos gratuitos generosos.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RETENCAO / SEEDING]</a:t>
            </a:r>
          </a:p>
          <a:p>
            <a:endParaRPr/>
          </a:p>
          <a:p>
            <a:r>
              <a:t>RESUMO DO ASSUNTO (para estudar):</a:t>
            </a:r>
          </a:p>
          <a:p>
            <a:r>
              <a:t>Teaser do bloco da tarde. Cumpre a promessa feita no Dia 1 (às 14h entra IA) e segura a audiência no horário nobre.</a:t>
            </a:r>
          </a:p>
          <a:p>
            <a:endParaRPr/>
          </a:p>
          <a:p>
            <a:r>
              <a:t>SCRIPT / O QUE FALAR:</a:t>
            </a:r>
          </a:p>
          <a:p>
            <a:r>
              <a:t>Presta atenção no horário: 14h. É AGORA que entra Inteligência Artificial, exatamente como eu prometi ontem. Até aqui a gente construiu a aplicação; a partir de agora a gente vai ter a IA ajudando a evoluir a arquitetura. Ninguém sai, porque o melhor está começando.</a:t>
            </a:r>
          </a:p>
          <a:p>
            <a:endParaRPr/>
          </a:p>
          <a:p>
            <a:r>
              <a:t>ESTRUTURA / CONDUCAO:</a:t>
            </a:r>
          </a:p>
          <a:p>
            <a:r>
              <a:t>Marco de retenção do horário nobre. É também onde, mais à frente, entra o pitch. Segure a audiência aqui.</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CONTEUDO — LAB 10]</a:t>
            </a:r>
          </a:p>
          <a:p>
            <a:endParaRPr/>
          </a:p>
          <a:p>
            <a:r>
              <a:t>RESUMO DO ASSUNTO (para estudar):</a:t>
            </a:r>
          </a:p>
          <a:p>
            <a:r>
              <a:t>Abertura do LAB de IA no desenvolvimento: GitHub Copilot como par de programação.</a:t>
            </a:r>
          </a:p>
          <a:p>
            <a:endParaRPr/>
          </a:p>
          <a:p>
            <a:r>
              <a:t>SCRIPT / O QUE FALAR:</a:t>
            </a:r>
          </a:p>
          <a:p>
            <a:r>
              <a:t>Chegou a IA! Primeiro, o GitHub Copilot: um par de programação que entende o seu código, gera features, testes, YAML e te acelera absurdamente. Mas atenção: ele te acelera, ele não te substitui — quem decide a arquitetura é você.</a:t>
            </a:r>
          </a:p>
          <a:p>
            <a:endParaRPr/>
          </a:p>
          <a:p>
            <a:r>
              <a:t>ESTRUTURA / CONDUCAO:</a:t>
            </a:r>
          </a:p>
          <a:p>
            <a:r>
              <a:t>Deixe claro o posicionamento: IA é acelerador, arquiteto é o cérebro. Isso valoriza a formação.</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CONTEUDO]</a:t>
            </a:r>
          </a:p>
          <a:p>
            <a:endParaRPr/>
          </a:p>
          <a:p>
            <a:r>
              <a:t>RESUMO DO ASSUNTO (para estudar):</a:t>
            </a:r>
          </a:p>
          <a:p>
            <a:r>
              <a:t>Anatomia do GitHub Copilot. Assistente de IA no editor que entende o contexto do projeto e gera código/testes/YAML. Regra: IA propõe, humano (arquiteto) decide.</a:t>
            </a:r>
          </a:p>
          <a:p>
            <a:endParaRPr/>
          </a:p>
          <a:p>
            <a:r>
              <a:t>SCRIPT / O QUE FALAR:</a:t>
            </a:r>
          </a:p>
          <a:p>
            <a:r>
              <a:t>O Copilot vive dentro do seu editor e entende o contexto do seu projeto. Ele sugere e completa código em tempo real, explica, refatora, corrige erro e até ajuda a revisar decisão de arquitetura. Mas o trade-off é sério: produtividade não substitui revisão humana. A IA propõe, VOCÊ decide. A responsabilidade de arquitetura continua sua.</a:t>
            </a:r>
          </a:p>
          <a:p>
            <a:endParaRPr/>
          </a:p>
          <a:p>
            <a:r>
              <a:t>ESTRUTURA / CONDUCAO:</a:t>
            </a:r>
          </a:p>
          <a:p>
            <a:r>
              <a:t>Demonstre ao vivo, se possível. Reforce o valor do humano que sabe arquitetar — vende a Pós indiretamente.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CONTEUDO]</a:t>
            </a:r>
          </a:p>
          <a:p>
            <a:endParaRPr/>
          </a:p>
          <a:p>
            <a:r>
              <a:t>RESUMO DO ASSUNTO (para estudar):</a:t>
            </a:r>
          </a:p>
          <a:p>
            <a:r>
              <a:t>Anatomia do MCP (Model Context Protocol). Padrão que conecta a IA a ferramentas/dados reais. A IA deixa de 'achar' e passa a consultar fontes reais (Azure, docs, banco).</a:t>
            </a:r>
          </a:p>
          <a:p>
            <a:endParaRPr/>
          </a:p>
          <a:p>
            <a:r>
              <a:t>SCRIPT / O QUE FALAR:</a:t>
            </a:r>
          </a:p>
          <a:p>
            <a:r>
              <a:t>E aqui vem o que quase ninguém está ensinando ainda: o MCP, Model Context Protocol. É o padrão que conecta a IA a ferramentas e dados REAIS. Sem MCP, a IA 'acha'. Com MCP, a IA CONSULTA — o seu Azure, a sua documentação, o seu banco. O fluxo é Copilot, MCP, e as ferramentas. Decisão de arquiteto: exponha só as ferramentas necessárias, com permissão mínima, porque mais poder é mais superfície de risco.</a:t>
            </a:r>
          </a:p>
          <a:p>
            <a:endParaRPr/>
          </a:p>
          <a:p>
            <a:r>
              <a:t>ESTRUTURA / CONDUCAO:</a:t>
            </a:r>
          </a:p>
          <a:p>
            <a:r>
              <a:t>Este é um diferencial de ponta. Destaque que isso é vanguarda — poucos dominam. Valoriza o conteúdo.</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PROVA SOCIAL / PRE-PITCH]</a:t>
            </a:r>
          </a:p>
          <a:p>
            <a:endParaRPr/>
          </a:p>
          <a:p>
            <a:r>
              <a:t>RESUMO DO ASSUNTO (para estudar):</a:t>
            </a:r>
          </a:p>
          <a:p>
            <a:r>
              <a:t>Segundo depoimento, mais forte e emocional. Ponte direta para o pitch: transformação de carreira e salário.</a:t>
            </a:r>
          </a:p>
          <a:p>
            <a:endParaRPr/>
          </a:p>
          <a:p>
            <a:r>
              <a:t>SCRIPT / O QUE FALAR:</a:t>
            </a:r>
          </a:p>
          <a:p>
            <a:r>
              <a:t>Antes de eu te mostrar o próximo passo, quero que você leia isso comigo: 'eu estava estagnado e inseguro. Estruturei meu aprendizado, virei Arquiteto Azure e hoje trabalho em projetos maiores, com salário muito melhor.' Isso não é sorte. É método, é estrutura, é acompanhamento. E é exatamente sobre isso que eu quero falar agora com você.</a:t>
            </a:r>
          </a:p>
          <a:p>
            <a:endParaRPr/>
          </a:p>
          <a:p>
            <a:r>
              <a:t>ESTRUTURA / CONDUCAO:</a:t>
            </a:r>
          </a:p>
          <a:p>
            <a:r>
              <a:t>Este depoimento é a rampa de acesso ao pitch. Baixe o ritmo, aumente a emoção. Emenda direto no próximo slide.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PITCH — EMOCIONAL]</a:t>
            </a:r>
          </a:p>
          <a:p>
            <a:endParaRPr/>
          </a:p>
          <a:p>
            <a:r>
              <a:t>RESUMO DO ASSUNTO (para estudar):</a:t>
            </a:r>
          </a:p>
          <a:p>
            <a:r>
              <a:t>Início do pitch pelo lado emocional: contraste entre o futuro fragmentado e o futuro estruturado (12 meses).</a:t>
            </a:r>
          </a:p>
          <a:p>
            <a:endParaRPr/>
          </a:p>
          <a:p>
            <a:r>
              <a:t>SCRIPT / O QUE FALAR:</a:t>
            </a:r>
          </a:p>
          <a:p>
            <a:r>
              <a:t>Deixa eu te fazer a pergunta mais importante desses dois dias: onde você vai estar daqui a 12 meses aprendendo Azure de forma fragmentada, um vídeo solto aqui, um tutorial ali? E onde você PODE estar com um plano estruturado, professores especialistas, projetos reais, certificações, Cloud e IA? Os 12 meses vão passar de qualquer jeito. A pergunta é: com ou sem direção?</a:t>
            </a:r>
          </a:p>
          <a:p>
            <a:endParaRPr/>
          </a:p>
          <a:p>
            <a:r>
              <a:t>ESTRUTURA / CONDUCAO:</a:t>
            </a:r>
          </a:p>
          <a:p>
            <a:r>
              <a:t>Fale com calma, olhando na câmera. Silêncio depois da pergunta. É o pico emocional que abre a apresentação da Pós.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PITCH — RACIONAL]</a:t>
            </a:r>
          </a:p>
          <a:p>
            <a:endParaRPr/>
          </a:p>
          <a:p>
            <a:r>
              <a:t>RESUMO DO ASSUNTO (para estudar):</a:t>
            </a:r>
          </a:p>
          <a:p>
            <a:r>
              <a:t>Lado racional do pitch: posiciona a Pós como continuação natural da Imersão, sem desmerecer a Imersão.</a:t>
            </a:r>
          </a:p>
          <a:p>
            <a:endParaRPr/>
          </a:p>
          <a:p>
            <a:r>
              <a:t>SCRIPT / O QUE FALAR:</a:t>
            </a:r>
          </a:p>
          <a:p>
            <a:r>
              <a:t>No lado racional: a Imersão te deu dois dias intensivos e a sua primeira arquitetura Cloud &amp; AI. Isso é a BASE. A Pós-Graduação é a continuação natural: 12 meses estruturados, 10 disciplinas online, professores que são MVPs e gente de Big Tech, projetos reais, certificações, 6 meses de mentoria comigo e uma comunidade. A Imersão te mostra o caminho; a Pós te leva até o destino.</a:t>
            </a:r>
          </a:p>
          <a:p>
            <a:endParaRPr/>
          </a:p>
          <a:p>
            <a:r>
              <a:t>ESTRUTURA / CONDUCAO:</a:t>
            </a:r>
          </a:p>
          <a:p>
            <a:r>
              <a:t>Não diminua a Imersão — ela é a porta. A Pós é a transformação completa. Aqui você apresenta o produto.</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PITCH — OFERTA]</a:t>
            </a:r>
          </a:p>
          <a:p>
            <a:endParaRPr/>
          </a:p>
          <a:p>
            <a:r>
              <a:t>RESUMO DO ASSUNTO (para estudar):</a:t>
            </a:r>
          </a:p>
          <a:p>
            <a:r>
              <a:t>Apresentação da oferta principal (Pós). Valores reais conhecidos: investimento normal R$ 6.000. PLACEHOLDERS a preencher: condição de lançamento e condição Imersão (promo ao vivo).</a:t>
            </a:r>
          </a:p>
          <a:p>
            <a:endParaRPr/>
          </a:p>
          <a:p>
            <a:r>
              <a:t>SCRIPT / O QUE FALAR:</a:t>
            </a:r>
          </a:p>
          <a:p>
            <a:r>
              <a:t>Essa é a Pós-Graduação em Arquitetura de Azure com IA — a PRIMEIRA do mercado com esse foco. 12 meses, 10 disciplinas, professores MVP e de Big Tech, 6 meses de mentoria comigo, projetos, certificações e reconhecimento acadêmico. O investimento normal dela é 6 mil reais. Mas quem está aqui AO VIVO não paga o valor normal. [ATENÇÃO: fale aqui a condição de lançamento e a condição especial da Imersão que você definir.]</a:t>
            </a:r>
          </a:p>
          <a:p>
            <a:endParaRPr/>
          </a:p>
          <a:p>
            <a:r>
              <a:t>ESTRUTURA / CONDUCAO:</a:t>
            </a:r>
          </a:p>
          <a:p>
            <a:r>
              <a:t>PREENCHER antes do evento: valor da condição de lançamento e da condição Imersão. Nunca invente número — use o que você definir. Ancore sempre no R$ 6.000 antes de revelar a condição.</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BONUS — TSUNAMI]</a:t>
            </a:r>
          </a:p>
          <a:p>
            <a:endParaRPr/>
          </a:p>
          <a:p>
            <a:r>
              <a:t>RESUMO DO ASSUNTO (para estudar):</a:t>
            </a:r>
          </a:p>
          <a:p>
            <a:r>
              <a:t>Tsunami de bônus: revelar UM benefício por vez, somando valor percebido antes de reforçar o preço. PLACEHOLDERS: nomes, valores e total dos bônus (preencher com os seus reais).</a:t>
            </a:r>
          </a:p>
          <a:p>
            <a:endParaRPr/>
          </a:p>
          <a:p>
            <a:r>
              <a:t>SCRIPT / O QUE FALAR:</a:t>
            </a:r>
          </a:p>
          <a:p>
            <a:r>
              <a:t>E não para por aí. Quem entrar AGORA, ao vivo, leva um tsunami de bônus. [Revele um bônus por vez, com pausa entre cada um:] Bônus 1... o que é, quanto vale. Bônus 2... Bônus 3... Bônus 4... Soma tudo isso: é muito mais do que o valor do investimento. Você não está comprando um curso, está levando um arsenal.</a:t>
            </a:r>
          </a:p>
          <a:p>
            <a:endParaRPr/>
          </a:p>
          <a:p>
            <a:r>
              <a:t>ESTRUTURA / CONDUCAO:</a:t>
            </a:r>
          </a:p>
          <a:p>
            <a:r>
              <a:t>PREENCHER com seus bônus reais (nome + valor + descrição). Revele um por vez, acumulando valor. Só depois volte ao preço.</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PITCH — CTA / OFERTA COMPLETA]</a:t>
            </a:r>
          </a:p>
          <a:p>
            <a:endParaRPr/>
          </a:p>
          <a:p>
            <a:r>
              <a:t>RESUMO DO ASSUNTO (para estudar):</a:t>
            </a:r>
          </a:p>
          <a:p>
            <a:r>
              <a:t>Chamada para ação com a oferta completa, garantia, escassez e QR. Valores reais: Pós R$ 6.000; Pacote premium (Mentoria + Pós) R$ 7.000. PLACEHOLDERS: condição, garantia, prazo, pagamento, QR e link.</a:t>
            </a:r>
          </a:p>
          <a:p>
            <a:endParaRPr/>
          </a:p>
          <a:p>
            <a:r>
              <a:t>SCRIPT / O QUE FALAR:</a:t>
            </a:r>
          </a:p>
          <a:p>
            <a:r>
              <a:t>Chegou a hora da decisão. Recapitulando: o investimento normal é 6 mil; a condição da Imersão é [valor que você definir]; tem garantia de [definir], as vagas/prazo são [definir], e o pagamento pode ser [definir]. E pra quem quer o máximo de acompanhamento, tem o pacote premium com Mentoria mais Pós por 7 mil. O QR está na tela e o link está no chat. Faz a matrícula agora, comigo, ao vivo.</a:t>
            </a:r>
          </a:p>
          <a:p>
            <a:endParaRPr/>
          </a:p>
          <a:p>
            <a:r>
              <a:t>ESTRUTURA / CONDUCAO:</a:t>
            </a:r>
          </a:p>
          <a:p>
            <a:r>
              <a:t>MANTENHA o QR na tela por vários minutos. PREENCHA os placeholders antes do evento. Peça ação imediata e crie urgência real (prazo/vagas verdadeiros).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QUEBRA DE OBJECOES]</a:t>
            </a:r>
          </a:p>
          <a:p>
            <a:endParaRPr/>
          </a:p>
          <a:p>
            <a:r>
              <a:t>RESUMO DO ASSUNTO (para estudar):</a:t>
            </a:r>
          </a:p>
          <a:p>
            <a:r>
              <a:t>Bloco de quebra de objeções ao vivo, com o QR ainda na tela. Cobre as dúvidas mais comuns (iniciante, certificação, tempo, acompanhamento).</a:t>
            </a:r>
          </a:p>
          <a:p>
            <a:endParaRPr/>
          </a:p>
          <a:p>
            <a:r>
              <a:t>SCRIPT / O QUE FALAR:</a:t>
            </a:r>
          </a:p>
          <a:p>
            <a:r>
              <a:t>Enquanto o QR fica na tela, deixa eu quebrar as dúvidas mais comuns. 'Funciona pra iniciante?' Sim, a trilha começa do essencial. 'Preciso ser certificado?' Não, a Pós te PREPARA pras certificações. 'Consigo fazer trabalhando?' Sim, é online, no seu ritmo, com mentoria. 'Tem acompanhamento?' Tem, 6 meses de mentoria comigo. E se você travar, tem comunidade e projeto prático. A real objeção é: quanto custa CONTINUAR do jeito que está?</a:t>
            </a:r>
          </a:p>
          <a:p>
            <a:endParaRPr/>
          </a:p>
          <a:p>
            <a:r>
              <a:t>ESTRUTURA / CONDUCAO:</a:t>
            </a:r>
          </a:p>
          <a:p>
            <a:r>
              <a:t>Responda cada objeção com firmeza e vá lendo o chat. Não tire o QR. Traga de volta o custo da inação.</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RE-PITCH]</a:t>
            </a:r>
          </a:p>
          <a:p>
            <a:endParaRPr/>
          </a:p>
          <a:p>
            <a:r>
              <a:t>RESUMO DO ASSUNTO (para estudar):</a:t>
            </a:r>
          </a:p>
          <a:p>
            <a:r>
              <a:t>Transição do pitch de volta para a entrega (Azure OpenAI). Mantém quem não comprou na sala e continua a venda ao longo do bloco final.</a:t>
            </a:r>
          </a:p>
          <a:p>
            <a:endParaRPr/>
          </a:p>
          <a:p>
            <a:r>
              <a:t>SCRIPT / O QUE FALAR:</a:t>
            </a:r>
          </a:p>
          <a:p>
            <a:r>
              <a:t>E olha que interessante: a aula NÃO acabou. Eu prometi a peça final e vou entregar — Azure OpenAI aplicada à nossa arquitetura. Quem já se matriculou, parabéns, você vai avançar mais rápido. Quem ainda não, fica aqui aprendendo, porque o QR continua no chat e a condição continua de pé até o fim de hoje.</a:t>
            </a:r>
          </a:p>
          <a:p>
            <a:endParaRPr/>
          </a:p>
          <a:p>
            <a:r>
              <a:t>ESTRUTURA / CONDUCAO:</a:t>
            </a:r>
          </a:p>
          <a:p>
            <a:r>
              <a:t>RE-PITCH: a venda continua durante a entrega final. Reabra a oferta de leve algumas vezes sem cansar.</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CONTEUDO — LAB FINAL]</a:t>
            </a:r>
          </a:p>
          <a:p>
            <a:endParaRPr/>
          </a:p>
          <a:p>
            <a:r>
              <a:t>RESUMO DO ASSUNTO (para estudar):</a:t>
            </a:r>
          </a:p>
          <a:p>
            <a:r>
              <a:t>Abertura do laboratório final: dar inteligência à aplicação com Azure OpenAI.</a:t>
            </a:r>
          </a:p>
          <a:p>
            <a:endParaRPr/>
          </a:p>
          <a:p>
            <a:r>
              <a:t>SCRIPT / O QUE FALAR:</a:t>
            </a:r>
          </a:p>
          <a:p>
            <a:r>
              <a:t>Bora pra peça final da nossa arquitetura: dar INTELIGÊNCIA pra Expert Store. A gente vai plugar o Azure OpenAI e criar o Expert AI Assistant, um assistente que entende o catálogo e conversa com o cliente. É o coroamento de tudo que a gente construiu.</a:t>
            </a:r>
          </a:p>
          <a:p>
            <a:endParaRPr/>
          </a:p>
          <a:p>
            <a:r>
              <a:t>ESTRUTURA / CONDUCAO:</a:t>
            </a:r>
          </a:p>
          <a:p>
            <a:r>
              <a:t>Este é o clímax de entrega dos dois dias. Faça com que o público sinta que fechou o ciclo completo.</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CONTEUDO]</a:t>
            </a:r>
          </a:p>
          <a:p>
            <a:endParaRPr/>
          </a:p>
          <a:p>
            <a:r>
              <a:t>RESUMO DO ASSUNTO (para estudar):</a:t>
            </a:r>
          </a:p>
          <a:p>
            <a:r>
              <a:t>Anatomia do Azure OpenAI / AI Foundry. Modelo (ex.: gpt-4o) como serviço; Deployment expõe via API; a app envia catálogo (contexto) + pergunta e recebe a resposta. Chave no Key Vault. Cobrança por token.</a:t>
            </a:r>
          </a:p>
          <a:p>
            <a:endParaRPr/>
          </a:p>
          <a:p>
            <a:r>
              <a:t>SCRIPT / O QUE FALAR:</a:t>
            </a:r>
          </a:p>
          <a:p>
            <a:r>
              <a:t>O Azure OpenAI entrega modelos de IA, tipo o gpt-4o, como serviço gerenciado. Você cria um deployment que expõe o modelo por API, e o AI Foundry organiza modelos e governança. Na prática: a API da Expert Store chama o modelo com a chave que está no Key Vault, envia o catálogo como contexto mais a pergunta do cliente, e recebe a recomendação. Decisão de arquiteto: dado sensível dentro do Azure, chave no cofre, prompt controlado. Custo por token — parado, não custa quase nada.</a:t>
            </a:r>
          </a:p>
          <a:p>
            <a:endParaRPr/>
          </a:p>
          <a:p>
            <a:r>
              <a:t>ESTRUTURA / CONDUCAO:</a:t>
            </a:r>
          </a:p>
          <a:p>
            <a:r>
              <a:t>Amarre com tudo: Key Vault (Dia 1), rede privada, identidade. Aqui todos os conceitos se conectam.</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CONTEUDO]</a:t>
            </a:r>
          </a:p>
          <a:p>
            <a:endParaRPr/>
          </a:p>
          <a:p>
            <a:r>
              <a:t>RESUMO DO ASSUNTO (para estudar):</a:t>
            </a:r>
          </a:p>
          <a:p>
            <a:r>
              <a:t>Diagrama do fluxo de IA: usuário -&gt; API -&gt; Azure OpenAI, com catálogo como contexto e chave no Key Vault.</a:t>
            </a:r>
          </a:p>
          <a:p>
            <a:endParaRPr/>
          </a:p>
          <a:p>
            <a:r>
              <a:t>SCRIPT / O QUE FALAR:</a:t>
            </a:r>
          </a:p>
          <a:p>
            <a:r>
              <a:t>Olha o fluxo do Expert AI Assistant: o usuário pergunta, a API da Expert Store monta o contexto com o catálogo, chama o Azure OpenAI usando a chave do Key Vault, e devolve a resposta inteligente. Simples, seguro e poderoso. A Expert Store agora TEM inteligência.</a:t>
            </a:r>
          </a:p>
          <a:p>
            <a:endParaRPr/>
          </a:p>
          <a:p>
            <a:r>
              <a:t>ESTRUTURA / CONDUCAO:</a:t>
            </a:r>
          </a:p>
          <a:p>
            <a:r>
              <a:t>Mostre, se der, a IA respondendo ao vivo. Nada vende IA melhor do que ver funcionando.</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RE-PITCH / CONTEUDO]</a:t>
            </a:r>
          </a:p>
          <a:p>
            <a:endParaRPr/>
          </a:p>
          <a:p>
            <a:r>
              <a:t>RESUMO DO ASSUNTO (para estudar):</a:t>
            </a:r>
          </a:p>
          <a:p>
            <a:r>
              <a:t>Visão geral de ponta a ponta dos dois dias (diagrama completo). Reforça o tamanho da transformação e sustenta a venda.</a:t>
            </a:r>
          </a:p>
          <a:p>
            <a:endParaRPr/>
          </a:p>
          <a:p>
            <a:r>
              <a:t>SCRIPT / O QUE FALAR:</a:t>
            </a:r>
          </a:p>
          <a:p>
            <a:r>
              <a:t>Respira e olha o tamanho do que você construiu em dois dias: fundação e modernização, containers, DevOps e Kubernetes, e a camada de Cloud &amp; AI — com os fluxos de runtime, DevOps, IA e identidade, tudo integrado. ISSO é uma arquitetura de Arquiteto. E é exatamente esse nível que a Pós te leva a dominar de ponta a ponta.</a:t>
            </a:r>
          </a:p>
          <a:p>
            <a:endParaRPr/>
          </a:p>
          <a:p>
            <a:r>
              <a:t>ESTRUTURA / CONDUCAO:</a:t>
            </a:r>
          </a:p>
          <a:p>
            <a:r>
              <a:t>Use o mapa completo como prova do valor entregue e re-abra a oferta: 'quer dominar isso de verdade? o caminho é a Pós'.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FECHAMENTO]</a:t>
            </a:r>
          </a:p>
          <a:p>
            <a:endParaRPr/>
          </a:p>
          <a:p>
            <a:r>
              <a:t>RESUMO DO ASSUNTO (para estudar):</a:t>
            </a:r>
          </a:p>
          <a:p>
            <a:r>
              <a:t>Grande fechamento com contraste antes/depois dos dois dias. Ancora a ideia de trilha (ponte final para a Pós).</a:t>
            </a:r>
          </a:p>
          <a:p>
            <a:endParaRPr/>
          </a:p>
          <a:p>
            <a:r>
              <a:t>SCRIPT / O QUE FALAR:</a:t>
            </a:r>
          </a:p>
          <a:p>
            <a:r>
              <a:t>Olha de onde você saiu e onde você chegou: 9h30 do Dia 1, você tinha uma VM, infra tradicional, deploy manual e zero IA. 18h do Dia 2, você tem Cloud, DevOps, Kubernetes e IA, rede segura, CI/CD automatizado e um assistente de IA em produção. Em DOIS dias. Agora imagina o que acontece com você em 12 meses, com uma trilha estruturada. Você percebe o quanto dá pra evoluir quando existe um caminho?</a:t>
            </a:r>
          </a:p>
          <a:p>
            <a:endParaRPr/>
          </a:p>
          <a:p>
            <a:r>
              <a:t>ESTRUTURA / CONDUCAO:</a:t>
            </a:r>
          </a:p>
          <a:p>
            <a:r>
              <a:t>Emoção no talo. Conecte a transformação dos dois dias com a promessa da Pós. Última ponte antes do encerramento.</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FECHAMENTO / RE-PITCH FINAL]</a:t>
            </a:r>
          </a:p>
          <a:p>
            <a:endParaRPr/>
          </a:p>
          <a:p>
            <a:r>
              <a:t>RESUMO DO ASSUNTO (para estudar):</a:t>
            </a:r>
          </a:p>
          <a:p>
            <a:r>
              <a:t>Encerramento com CTA final. Última chamada para a matrícula com a condição da Imersão.</a:t>
            </a:r>
          </a:p>
          <a:p>
            <a:endParaRPr/>
          </a:p>
          <a:p>
            <a:r>
              <a:t>SCRIPT / O QUE FALAR:</a:t>
            </a:r>
          </a:p>
          <a:p>
            <a:r>
              <a:t>Foram dois dias intensos e eu tô muito orgulhoso de você que chegou até aqui. Sua próxima decisão de arquitetura não é sobre um serviço do Azure — é sobre a SUA carreira. A condição exclusiva da Imersão pra Pós continua no chat e o QR está na tela. Se você quer parar de aprender solto e virar o Arquiteto que o mercado paga bem, seu lugar é na Pós. Bora rumo ao Arquiteto Azure. Te vejo lá dentro!</a:t>
            </a:r>
          </a:p>
          <a:p>
            <a:endParaRPr/>
          </a:p>
          <a:p>
            <a:r>
              <a:t>ESTRUTURA / CONDUCAO:</a:t>
            </a:r>
          </a:p>
          <a:p>
            <a:r>
              <a:t>Última chamada. Mantenha link/QR visíveis. Agradeça, reforce a condição e feche com a assinatura de marca ('bora rumo ao Arquiteto').</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1696"/>
            <a:ext cx="12191695" cy="146304"/>
          </a:xfrm>
          <a:prstGeom prst="rect">
            <a:avLst/>
          </a:prstGeom>
          <a:solidFill>
            <a:srgbClr val="22C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371600"/>
            <a:ext cx="10515600" cy="45720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500" b="1" i="0">
                <a:solidFill>
                  <a:srgbClr val="22C3A6"/>
                </a:solidFill>
                <a:latin typeface="Segoe UI"/>
              </a:rPr>
              <a:t>IMERSÃO ARQUITETO AZURE — CLOUD &amp; AI</a:t>
            </a:r>
          </a:p>
        </p:txBody>
      </p:sp>
      <p:sp>
        <p:nvSpPr>
          <p:cNvPr id="5" name="TextBox 4"/>
          <p:cNvSpPr txBox="1"/>
          <p:nvPr/>
        </p:nvSpPr>
        <p:spPr>
          <a:xfrm>
            <a:off x="822960" y="1874519"/>
            <a:ext cx="10607040" cy="2170531"/>
          </a:xfrm>
          <a:prstGeom prst="rect">
            <a:avLst/>
          </a:prstGeom>
          <a:noFill/>
        </p:spPr>
        <p:txBody>
          <a:bodyPr wrap="square" lIns="25400" tIns="25400" rIns="25400" bIns="25400" anchor="t">
            <a:spAutoFit/>
          </a:bodyPr>
          <a:lstStyle/>
          <a:p>
            <a:pPr algn="l">
              <a:lnSpc>
                <a:spcPct val="102000"/>
              </a:lnSpc>
              <a:spcBef>
                <a:spcPts val="0"/>
              </a:spcBef>
              <a:spcAft>
                <a:spcPts val="0"/>
              </a:spcAft>
            </a:pPr>
            <a:r>
              <a:rPr sz="4600" b="1" i="0" dirty="0">
                <a:solidFill>
                  <a:srgbClr val="FFFFFF"/>
                </a:solidFill>
                <a:latin typeface="Segoe UI"/>
              </a:rPr>
              <a:t>Dia 1 — Do </a:t>
            </a:r>
            <a:r>
              <a:rPr lang="en-US" sz="4600" b="1" dirty="0" err="1">
                <a:solidFill>
                  <a:srgbClr val="FFFFFF"/>
                </a:solidFill>
                <a:latin typeface="Segoe UI"/>
              </a:rPr>
              <a:t>A</a:t>
            </a:r>
            <a:r>
              <a:rPr sz="4600" b="1" i="0" dirty="0" err="1">
                <a:solidFill>
                  <a:srgbClr val="FFFFFF"/>
                </a:solidFill>
                <a:latin typeface="Segoe UI"/>
              </a:rPr>
              <a:t>mbiente</a:t>
            </a:r>
            <a:r>
              <a:rPr sz="4600" b="1" i="0" dirty="0">
                <a:solidFill>
                  <a:srgbClr val="FFFFFF"/>
                </a:solidFill>
                <a:latin typeface="Segoe UI"/>
              </a:rPr>
              <a:t> </a:t>
            </a:r>
            <a:r>
              <a:rPr lang="en-US" sz="4600" b="1" dirty="0" err="1">
                <a:solidFill>
                  <a:srgbClr val="FFFFFF"/>
                </a:solidFill>
                <a:latin typeface="Segoe UI"/>
              </a:rPr>
              <a:t>T</a:t>
            </a:r>
            <a:r>
              <a:rPr sz="4600" b="1" i="0" dirty="0" err="1">
                <a:solidFill>
                  <a:srgbClr val="FFFFFF"/>
                </a:solidFill>
                <a:latin typeface="Segoe UI"/>
              </a:rPr>
              <a:t>radicional</a:t>
            </a:r>
            <a:r>
              <a:rPr sz="4600" b="1" i="0" dirty="0">
                <a:solidFill>
                  <a:srgbClr val="FFFFFF"/>
                </a:solidFill>
                <a:latin typeface="Segoe UI"/>
              </a:rPr>
              <a:t> à </a:t>
            </a:r>
            <a:r>
              <a:rPr lang="en-US" sz="4600" b="1" dirty="0" err="1">
                <a:solidFill>
                  <a:srgbClr val="FFFFFF"/>
                </a:solidFill>
                <a:latin typeface="Segoe UI"/>
              </a:rPr>
              <a:t>P</a:t>
            </a:r>
            <a:r>
              <a:rPr sz="4600" b="1" i="0" dirty="0" err="1">
                <a:solidFill>
                  <a:srgbClr val="FFFFFF"/>
                </a:solidFill>
                <a:latin typeface="Segoe UI"/>
              </a:rPr>
              <a:t>rimeira</a:t>
            </a:r>
            <a:r>
              <a:rPr sz="4600" b="1" i="0" dirty="0">
                <a:solidFill>
                  <a:srgbClr val="FFFFFF"/>
                </a:solidFill>
                <a:latin typeface="Segoe UI"/>
              </a:rPr>
              <a:t> </a:t>
            </a:r>
            <a:r>
              <a:rPr lang="pt-BR" sz="4600" b="1" dirty="0">
                <a:solidFill>
                  <a:srgbClr val="FFFFFF"/>
                </a:solidFill>
                <a:latin typeface="Segoe UI"/>
              </a:rPr>
              <a:t>A</a:t>
            </a:r>
            <a:r>
              <a:rPr sz="4600" b="1" i="0" dirty="0" err="1">
                <a:solidFill>
                  <a:srgbClr val="FFFFFF"/>
                </a:solidFill>
                <a:latin typeface="Segoe UI"/>
              </a:rPr>
              <a:t>rquitetura</a:t>
            </a:r>
            <a:r>
              <a:rPr sz="4600" b="1" i="0" dirty="0">
                <a:solidFill>
                  <a:srgbClr val="FFFFFF"/>
                </a:solidFill>
                <a:latin typeface="Segoe UI"/>
              </a:rPr>
              <a:t> </a:t>
            </a:r>
            <a:r>
              <a:rPr lang="pt-BR" sz="4600" b="1" dirty="0">
                <a:solidFill>
                  <a:srgbClr val="FFFFFF"/>
                </a:solidFill>
                <a:latin typeface="Segoe UI"/>
              </a:rPr>
              <a:t>M</a:t>
            </a:r>
            <a:r>
              <a:rPr sz="4600" b="1" i="0" dirty="0" err="1">
                <a:solidFill>
                  <a:srgbClr val="FFFFFF"/>
                </a:solidFill>
                <a:latin typeface="Segoe UI"/>
              </a:rPr>
              <a:t>oderna</a:t>
            </a:r>
            <a:r>
              <a:rPr sz="4600" b="1" i="0" dirty="0">
                <a:solidFill>
                  <a:srgbClr val="FFFFFF"/>
                </a:solidFill>
                <a:latin typeface="Segoe UI"/>
              </a:rPr>
              <a:t> no Azure</a:t>
            </a:r>
          </a:p>
        </p:txBody>
      </p:sp>
      <p:sp>
        <p:nvSpPr>
          <p:cNvPr id="6" name="TextBox 5"/>
          <p:cNvSpPr txBox="1"/>
          <p:nvPr/>
        </p:nvSpPr>
        <p:spPr>
          <a:xfrm>
            <a:off x="841248" y="3977639"/>
            <a:ext cx="10424160" cy="73152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900" b="0" i="0">
                <a:solidFill>
                  <a:srgbClr val="9AA7BD"/>
                </a:solidFill>
                <a:latin typeface="Segoe UI"/>
              </a:rPr>
              <a:t>Você não vai aprender a clicar botões. Você vai aprender a decidir como um Arquiteto.</a:t>
            </a:r>
          </a:p>
        </p:txBody>
      </p:sp>
      <p:sp>
        <p:nvSpPr>
          <p:cNvPr id="7" name="TextBox 6"/>
          <p:cNvSpPr txBox="1"/>
          <p:nvPr/>
        </p:nvSpPr>
        <p:spPr>
          <a:xfrm>
            <a:off x="841248" y="5806440"/>
            <a:ext cx="10424160" cy="248145"/>
          </a:xfrm>
          <a:prstGeom prst="rect">
            <a:avLst/>
          </a:prstGeom>
          <a:noFill/>
        </p:spPr>
        <p:txBody>
          <a:bodyPr wrap="square" lIns="25400" tIns="25400" rIns="25400" bIns="25400" anchor="t">
            <a:spAutoFit/>
          </a:bodyPr>
          <a:lstStyle/>
          <a:p>
            <a:pPr>
              <a:lnSpc>
                <a:spcPct val="106000"/>
              </a:lnSpc>
            </a:pPr>
            <a:r>
              <a:rPr sz="1300" b="1" dirty="0">
                <a:solidFill>
                  <a:schemeClr val="bg1"/>
                </a:solidFill>
                <a:latin typeface="Segoe UI"/>
              </a:rPr>
              <a:t>High Expert  </a:t>
            </a:r>
            <a:r>
              <a:rPr lang="en-US" sz="1300" b="1" dirty="0">
                <a:solidFill>
                  <a:schemeClr val="bg1"/>
                </a:solidFill>
                <a:latin typeface="Segoe UI"/>
              </a:rPr>
              <a:t>|</a:t>
            </a:r>
            <a:r>
              <a:rPr sz="1300" b="1" dirty="0">
                <a:solidFill>
                  <a:schemeClr val="bg1"/>
                </a:solidFill>
                <a:latin typeface="Segoe UI"/>
              </a:rPr>
              <a:t>  Guilherme Maia </a:t>
            </a:r>
            <a:r>
              <a:rPr lang="en-US" sz="1300" b="1" dirty="0">
                <a:solidFill>
                  <a:schemeClr val="bg1"/>
                </a:solidFill>
                <a:latin typeface="Segoe UI"/>
              </a:rPr>
              <a:t>•  </a:t>
            </a:r>
            <a:r>
              <a:rPr sz="1300" b="1" dirty="0">
                <a:solidFill>
                  <a:schemeClr val="bg1"/>
                </a:solidFill>
                <a:latin typeface="Segoe UI"/>
              </a:rPr>
              <a:t>MVP Microsoft  • </a:t>
            </a:r>
            <a:r>
              <a:rPr lang="en-US" sz="1300" b="1" dirty="0">
                <a:solidFill>
                  <a:schemeClr val="bg1"/>
                </a:solidFill>
                <a:latin typeface="Segoe UI"/>
              </a:rPr>
              <a:t>Founder &amp; CEO </a:t>
            </a:r>
            <a:endParaRPr sz="1300" b="1" dirty="0">
              <a:solidFill>
                <a:schemeClr val="bg1"/>
              </a:solidFill>
              <a:latin typeface="Segoe UI"/>
            </a:endParaRPr>
          </a:p>
        </p:txBody>
      </p:sp>
      <p:pic>
        <p:nvPicPr>
          <p:cNvPr id="9" name="Picture 8" descr="The image showcases an expert in architecture, with a futuristic blue background and a spacecraft silhouette, emphasizing services like Azure and AI.&#10;&#10;AI-generated content may be incorrect.">
            <a:extLst>
              <a:ext uri="{FF2B5EF4-FFF2-40B4-BE49-F238E27FC236}">
                <a16:creationId xmlns:a16="http://schemas.microsoft.com/office/drawing/2014/main" id="{0BBDD4FA-6DE7-E230-F7A4-8B281305D20C}"/>
              </a:ext>
            </a:extLst>
          </p:cNvPr>
          <p:cNvPicPr>
            <a:picLocks noChangeAspect="1"/>
          </p:cNvPicPr>
          <p:nvPr/>
        </p:nvPicPr>
        <p:blipFill>
          <a:blip r:embed="rId3"/>
          <a:stretch>
            <a:fillRect/>
          </a:stretch>
        </p:blipFill>
        <p:spPr>
          <a:xfrm>
            <a:off x="3239" y="0"/>
            <a:ext cx="1218552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A221D-6641-3121-DA65-4781C520A36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957A348-9D52-5FA6-3603-644EF2DEF101}"/>
              </a:ext>
            </a:extLst>
          </p:cNvPr>
          <p:cNvSpPr/>
          <p:nvPr/>
        </p:nvSpPr>
        <p:spPr>
          <a:xfrm>
            <a:off x="0" y="0"/>
            <a:ext cx="12191695" cy="146304"/>
          </a:xfrm>
          <a:prstGeom prst="rect">
            <a:avLst/>
          </a:prstGeom>
          <a:solidFill>
            <a:srgbClr val="2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7A704E9F-C801-2BE8-DFAA-DC16E09ADE9C}"/>
              </a:ext>
            </a:extLst>
          </p:cNvPr>
          <p:cNvSpPr/>
          <p:nvPr/>
        </p:nvSpPr>
        <p:spPr>
          <a:xfrm>
            <a:off x="0" y="6711696"/>
            <a:ext cx="12191695" cy="146304"/>
          </a:xfrm>
          <a:prstGeom prst="rect">
            <a:avLst/>
          </a:prstGeom>
          <a:solidFill>
            <a:srgbClr val="22C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DD39477F-DDFE-E8F3-2EC9-D9F97365715B}"/>
              </a:ext>
            </a:extLst>
          </p:cNvPr>
          <p:cNvSpPr txBox="1"/>
          <p:nvPr/>
        </p:nvSpPr>
        <p:spPr>
          <a:xfrm>
            <a:off x="822960" y="1371600"/>
            <a:ext cx="10515600" cy="45720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500" b="1" i="0">
                <a:solidFill>
                  <a:srgbClr val="22C3A6"/>
                </a:solidFill>
                <a:latin typeface="Segoe UI"/>
              </a:rPr>
              <a:t>IMERSÃO ARQUITETO AZURE — CLOUD &amp; AI</a:t>
            </a:r>
          </a:p>
        </p:txBody>
      </p:sp>
      <p:sp>
        <p:nvSpPr>
          <p:cNvPr id="5" name="TextBox 4">
            <a:extLst>
              <a:ext uri="{FF2B5EF4-FFF2-40B4-BE49-F238E27FC236}">
                <a16:creationId xmlns:a16="http://schemas.microsoft.com/office/drawing/2014/main" id="{C02FC24B-9F71-D36A-123F-C4B83FC537D6}"/>
              </a:ext>
            </a:extLst>
          </p:cNvPr>
          <p:cNvSpPr txBox="1"/>
          <p:nvPr/>
        </p:nvSpPr>
        <p:spPr>
          <a:xfrm>
            <a:off x="822960" y="1874519"/>
            <a:ext cx="10607040" cy="2170531"/>
          </a:xfrm>
          <a:prstGeom prst="rect">
            <a:avLst/>
          </a:prstGeom>
          <a:noFill/>
        </p:spPr>
        <p:txBody>
          <a:bodyPr wrap="square" lIns="25400" tIns="25400" rIns="25400" bIns="25400" anchor="t">
            <a:spAutoFit/>
          </a:bodyPr>
          <a:lstStyle/>
          <a:p>
            <a:pPr algn="l">
              <a:lnSpc>
                <a:spcPct val="102000"/>
              </a:lnSpc>
              <a:spcBef>
                <a:spcPts val="0"/>
              </a:spcBef>
              <a:spcAft>
                <a:spcPts val="0"/>
              </a:spcAft>
            </a:pPr>
            <a:r>
              <a:rPr sz="4600" b="1" i="0" dirty="0">
                <a:solidFill>
                  <a:srgbClr val="FFFFFF"/>
                </a:solidFill>
                <a:latin typeface="Segoe UI"/>
              </a:rPr>
              <a:t>Dia 1 — Do </a:t>
            </a:r>
            <a:r>
              <a:rPr lang="en-US" sz="4600" b="1" dirty="0" err="1">
                <a:solidFill>
                  <a:srgbClr val="FFFFFF"/>
                </a:solidFill>
                <a:latin typeface="Segoe UI"/>
              </a:rPr>
              <a:t>A</a:t>
            </a:r>
            <a:r>
              <a:rPr sz="4600" b="1" i="0" dirty="0" err="1">
                <a:solidFill>
                  <a:srgbClr val="FFFFFF"/>
                </a:solidFill>
                <a:latin typeface="Segoe UI"/>
              </a:rPr>
              <a:t>mbiente</a:t>
            </a:r>
            <a:r>
              <a:rPr sz="4600" b="1" i="0" dirty="0">
                <a:solidFill>
                  <a:srgbClr val="FFFFFF"/>
                </a:solidFill>
                <a:latin typeface="Segoe UI"/>
              </a:rPr>
              <a:t> </a:t>
            </a:r>
            <a:r>
              <a:rPr lang="en-US" sz="4600" b="1" dirty="0" err="1">
                <a:solidFill>
                  <a:srgbClr val="FFFFFF"/>
                </a:solidFill>
                <a:latin typeface="Segoe UI"/>
              </a:rPr>
              <a:t>T</a:t>
            </a:r>
            <a:r>
              <a:rPr sz="4600" b="1" i="0" dirty="0" err="1">
                <a:solidFill>
                  <a:srgbClr val="FFFFFF"/>
                </a:solidFill>
                <a:latin typeface="Segoe UI"/>
              </a:rPr>
              <a:t>radicional</a:t>
            </a:r>
            <a:r>
              <a:rPr sz="4600" b="1" i="0" dirty="0">
                <a:solidFill>
                  <a:srgbClr val="FFFFFF"/>
                </a:solidFill>
                <a:latin typeface="Segoe UI"/>
              </a:rPr>
              <a:t> à </a:t>
            </a:r>
            <a:r>
              <a:rPr lang="en-US" sz="4600" b="1" dirty="0" err="1">
                <a:solidFill>
                  <a:srgbClr val="FFFFFF"/>
                </a:solidFill>
                <a:latin typeface="Segoe UI"/>
              </a:rPr>
              <a:t>P</a:t>
            </a:r>
            <a:r>
              <a:rPr sz="4600" b="1" i="0" dirty="0" err="1">
                <a:solidFill>
                  <a:srgbClr val="FFFFFF"/>
                </a:solidFill>
                <a:latin typeface="Segoe UI"/>
              </a:rPr>
              <a:t>rimeira</a:t>
            </a:r>
            <a:r>
              <a:rPr sz="4600" b="1" i="0" dirty="0">
                <a:solidFill>
                  <a:srgbClr val="FFFFFF"/>
                </a:solidFill>
                <a:latin typeface="Segoe UI"/>
              </a:rPr>
              <a:t> </a:t>
            </a:r>
            <a:r>
              <a:rPr lang="pt-BR" sz="4600" b="1" dirty="0">
                <a:solidFill>
                  <a:srgbClr val="FFFFFF"/>
                </a:solidFill>
                <a:latin typeface="Segoe UI"/>
              </a:rPr>
              <a:t>A</a:t>
            </a:r>
            <a:r>
              <a:rPr sz="4600" b="1" i="0" dirty="0" err="1">
                <a:solidFill>
                  <a:srgbClr val="FFFFFF"/>
                </a:solidFill>
                <a:latin typeface="Segoe UI"/>
              </a:rPr>
              <a:t>rquitetura</a:t>
            </a:r>
            <a:r>
              <a:rPr sz="4600" b="1" i="0" dirty="0">
                <a:solidFill>
                  <a:srgbClr val="FFFFFF"/>
                </a:solidFill>
                <a:latin typeface="Segoe UI"/>
              </a:rPr>
              <a:t> </a:t>
            </a:r>
            <a:r>
              <a:rPr lang="pt-BR" sz="4600" b="1" dirty="0">
                <a:solidFill>
                  <a:srgbClr val="FFFFFF"/>
                </a:solidFill>
                <a:latin typeface="Segoe UI"/>
              </a:rPr>
              <a:t>M</a:t>
            </a:r>
            <a:r>
              <a:rPr sz="4600" b="1" i="0" dirty="0" err="1">
                <a:solidFill>
                  <a:srgbClr val="FFFFFF"/>
                </a:solidFill>
                <a:latin typeface="Segoe UI"/>
              </a:rPr>
              <a:t>oderna</a:t>
            </a:r>
            <a:r>
              <a:rPr sz="4600" b="1" i="0" dirty="0">
                <a:solidFill>
                  <a:srgbClr val="FFFFFF"/>
                </a:solidFill>
                <a:latin typeface="Segoe UI"/>
              </a:rPr>
              <a:t> no Azure</a:t>
            </a:r>
          </a:p>
        </p:txBody>
      </p:sp>
      <p:sp>
        <p:nvSpPr>
          <p:cNvPr id="6" name="TextBox 5">
            <a:extLst>
              <a:ext uri="{FF2B5EF4-FFF2-40B4-BE49-F238E27FC236}">
                <a16:creationId xmlns:a16="http://schemas.microsoft.com/office/drawing/2014/main" id="{2A3D0CFE-848C-6946-7D9A-111309A21C2B}"/>
              </a:ext>
            </a:extLst>
          </p:cNvPr>
          <p:cNvSpPr txBox="1"/>
          <p:nvPr/>
        </p:nvSpPr>
        <p:spPr>
          <a:xfrm>
            <a:off x="841248" y="3977639"/>
            <a:ext cx="10424160" cy="73152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900" b="0" i="0">
                <a:solidFill>
                  <a:srgbClr val="9AA7BD"/>
                </a:solidFill>
                <a:latin typeface="Segoe UI"/>
              </a:rPr>
              <a:t>Você não vai aprender a clicar botões. Você vai aprender a decidir como um Arquiteto.</a:t>
            </a:r>
          </a:p>
        </p:txBody>
      </p:sp>
      <p:sp>
        <p:nvSpPr>
          <p:cNvPr id="7" name="TextBox 6">
            <a:extLst>
              <a:ext uri="{FF2B5EF4-FFF2-40B4-BE49-F238E27FC236}">
                <a16:creationId xmlns:a16="http://schemas.microsoft.com/office/drawing/2014/main" id="{5C285377-0240-B8C8-C292-BB7FD97765CD}"/>
              </a:ext>
            </a:extLst>
          </p:cNvPr>
          <p:cNvSpPr txBox="1"/>
          <p:nvPr/>
        </p:nvSpPr>
        <p:spPr>
          <a:xfrm>
            <a:off x="841248" y="5806440"/>
            <a:ext cx="10424160" cy="248145"/>
          </a:xfrm>
          <a:prstGeom prst="rect">
            <a:avLst/>
          </a:prstGeom>
          <a:noFill/>
        </p:spPr>
        <p:txBody>
          <a:bodyPr wrap="square" lIns="25400" tIns="25400" rIns="25400" bIns="25400" anchor="t">
            <a:spAutoFit/>
          </a:bodyPr>
          <a:lstStyle/>
          <a:p>
            <a:pPr>
              <a:lnSpc>
                <a:spcPct val="106000"/>
              </a:lnSpc>
            </a:pPr>
            <a:r>
              <a:rPr sz="1300" b="1" dirty="0">
                <a:solidFill>
                  <a:schemeClr val="bg1"/>
                </a:solidFill>
                <a:latin typeface="Segoe UI"/>
              </a:rPr>
              <a:t>High Expert  </a:t>
            </a:r>
            <a:r>
              <a:rPr lang="en-US" sz="1300" b="1" dirty="0">
                <a:solidFill>
                  <a:schemeClr val="bg1"/>
                </a:solidFill>
                <a:latin typeface="Segoe UI"/>
              </a:rPr>
              <a:t>|</a:t>
            </a:r>
            <a:r>
              <a:rPr sz="1300" b="1" dirty="0">
                <a:solidFill>
                  <a:schemeClr val="bg1"/>
                </a:solidFill>
                <a:latin typeface="Segoe UI"/>
              </a:rPr>
              <a:t>  Guilherme Maia </a:t>
            </a:r>
            <a:r>
              <a:rPr lang="en-US" sz="1300" b="1" dirty="0">
                <a:solidFill>
                  <a:schemeClr val="bg1"/>
                </a:solidFill>
                <a:latin typeface="Segoe UI"/>
              </a:rPr>
              <a:t>•  </a:t>
            </a:r>
            <a:r>
              <a:rPr sz="1300" b="1" dirty="0">
                <a:solidFill>
                  <a:schemeClr val="bg1"/>
                </a:solidFill>
                <a:latin typeface="Segoe UI"/>
              </a:rPr>
              <a:t>MVP Microsoft  • </a:t>
            </a:r>
            <a:r>
              <a:rPr lang="en-US" sz="1300" b="1" dirty="0">
                <a:solidFill>
                  <a:schemeClr val="bg1"/>
                </a:solidFill>
                <a:latin typeface="Segoe UI"/>
              </a:rPr>
              <a:t>Founder &amp; CEO </a:t>
            </a:r>
            <a:endParaRPr sz="1300" b="1" dirty="0">
              <a:solidFill>
                <a:schemeClr val="bg1"/>
              </a:solidFill>
              <a:latin typeface="Segoe UI"/>
            </a:endParaRPr>
          </a:p>
        </p:txBody>
      </p:sp>
      <p:pic>
        <p:nvPicPr>
          <p:cNvPr id="10" name="Picture 9" descr="The image depicts a futuristic, tech-themed logo with a person holding a blueprint, surrounded by a cloud-like, interconnected network, symbolizing Azure's expertise in cloud architecture and AI.&#10;&#10;AI-generated content may be incorrect.">
            <a:extLst>
              <a:ext uri="{FF2B5EF4-FFF2-40B4-BE49-F238E27FC236}">
                <a16:creationId xmlns:a16="http://schemas.microsoft.com/office/drawing/2014/main" id="{8042B9D3-3ABE-FF07-A960-BCEE79BEA2E7}"/>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2843185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1696"/>
            <a:ext cx="12191695" cy="146304"/>
          </a:xfrm>
          <a:prstGeom prst="rect">
            <a:avLst/>
          </a:prstGeom>
          <a:solidFill>
            <a:srgbClr val="22C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371600"/>
            <a:ext cx="10515600" cy="45720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500" b="1" i="0">
                <a:solidFill>
                  <a:srgbClr val="22C3A6"/>
                </a:solidFill>
                <a:latin typeface="Segoe UI"/>
              </a:rPr>
              <a:t>IMERSÃO ARQUITETO AZURE — CLOUD &amp; AI</a:t>
            </a:r>
          </a:p>
        </p:txBody>
      </p:sp>
      <p:sp>
        <p:nvSpPr>
          <p:cNvPr id="5" name="TextBox 4"/>
          <p:cNvSpPr txBox="1"/>
          <p:nvPr/>
        </p:nvSpPr>
        <p:spPr>
          <a:xfrm>
            <a:off x="822960" y="1874519"/>
            <a:ext cx="10607040" cy="2011680"/>
          </a:xfrm>
          <a:prstGeom prst="rect">
            <a:avLst/>
          </a:prstGeom>
          <a:noFill/>
        </p:spPr>
        <p:txBody>
          <a:bodyPr wrap="square" lIns="25400" tIns="25400" rIns="25400" bIns="25400" anchor="t">
            <a:spAutoFit/>
          </a:bodyPr>
          <a:lstStyle/>
          <a:p>
            <a:pPr algn="l">
              <a:lnSpc>
                <a:spcPct val="102000"/>
              </a:lnSpc>
              <a:spcBef>
                <a:spcPts val="0"/>
              </a:spcBef>
              <a:spcAft>
                <a:spcPts val="0"/>
              </a:spcAft>
            </a:pPr>
            <a:r>
              <a:rPr sz="4600" b="1" i="0">
                <a:solidFill>
                  <a:srgbClr val="FFFFFF"/>
                </a:solidFill>
                <a:latin typeface="Segoe UI"/>
              </a:rPr>
              <a:t>Dia 2 — Cloud Native + DevOps + AI</a:t>
            </a:r>
          </a:p>
        </p:txBody>
      </p:sp>
      <p:sp>
        <p:nvSpPr>
          <p:cNvPr id="6" name="TextBox 5"/>
          <p:cNvSpPr txBox="1"/>
          <p:nvPr/>
        </p:nvSpPr>
        <p:spPr>
          <a:xfrm>
            <a:off x="841248" y="3977639"/>
            <a:ext cx="10424160" cy="64896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900" b="0" i="0" dirty="0">
                <a:solidFill>
                  <a:srgbClr val="9AA7BD"/>
                </a:solidFill>
                <a:latin typeface="Segoe UI"/>
              </a:rPr>
              <a:t>A </a:t>
            </a:r>
            <a:r>
              <a:rPr sz="1900" b="0" i="0" dirty="0" err="1">
                <a:solidFill>
                  <a:srgbClr val="9AA7BD"/>
                </a:solidFill>
                <a:latin typeface="Segoe UI"/>
              </a:rPr>
              <a:t>mesma</a:t>
            </a:r>
            <a:r>
              <a:rPr sz="1900" b="0" i="0" dirty="0">
                <a:solidFill>
                  <a:srgbClr val="9AA7BD"/>
                </a:solidFill>
                <a:latin typeface="Segoe UI"/>
              </a:rPr>
              <a:t> </a:t>
            </a:r>
            <a:r>
              <a:rPr lang="pt-BR" sz="1900" dirty="0">
                <a:solidFill>
                  <a:srgbClr val="9AA7BD"/>
                </a:solidFill>
                <a:latin typeface="Segoe UI"/>
              </a:rPr>
              <a:t>aplicação Azure Shop</a:t>
            </a:r>
            <a:r>
              <a:rPr sz="1900" b="0" i="0" dirty="0">
                <a:solidFill>
                  <a:srgbClr val="9AA7BD"/>
                </a:solidFill>
                <a:latin typeface="Segoe UI"/>
              </a:rPr>
              <a:t> Store de </a:t>
            </a:r>
            <a:r>
              <a:rPr sz="1900" b="0" i="0" dirty="0" err="1">
                <a:solidFill>
                  <a:srgbClr val="9AA7BD"/>
                </a:solidFill>
                <a:latin typeface="Segoe UI"/>
              </a:rPr>
              <a:t>ontem</a:t>
            </a:r>
            <a:r>
              <a:rPr sz="1900" b="0" i="0" dirty="0">
                <a:solidFill>
                  <a:srgbClr val="9AA7BD"/>
                </a:solidFill>
                <a:latin typeface="Segoe UI"/>
              </a:rPr>
              <a:t>, agora com Kubernetes, DevOps e </a:t>
            </a:r>
            <a:r>
              <a:rPr sz="1900" b="0" i="0" dirty="0" err="1">
                <a:solidFill>
                  <a:srgbClr val="9AA7BD"/>
                </a:solidFill>
                <a:latin typeface="Segoe UI"/>
              </a:rPr>
              <a:t>Inteligência</a:t>
            </a:r>
            <a:r>
              <a:rPr sz="1900" b="0" i="0" dirty="0">
                <a:solidFill>
                  <a:srgbClr val="9AA7BD"/>
                </a:solidFill>
                <a:latin typeface="Segoe UI"/>
              </a:rPr>
              <a:t> Artificial</a:t>
            </a:r>
            <a:r>
              <a:rPr lang="pt-BR" sz="1900" b="0" i="0" dirty="0">
                <a:solidFill>
                  <a:srgbClr val="9AA7BD"/>
                </a:solidFill>
                <a:latin typeface="Segoe UI"/>
              </a:rPr>
              <a:t> de verdade</a:t>
            </a:r>
            <a:r>
              <a:rPr sz="1900" b="0" i="0" dirty="0">
                <a:solidFill>
                  <a:srgbClr val="9AA7BD"/>
                </a:solidFill>
                <a:latin typeface="Segoe UI"/>
              </a:rPr>
              <a:t>.</a:t>
            </a:r>
          </a:p>
        </p:txBody>
      </p:sp>
      <p:sp>
        <p:nvSpPr>
          <p:cNvPr id="7" name="TextBox 6"/>
          <p:cNvSpPr txBox="1"/>
          <p:nvPr/>
        </p:nvSpPr>
        <p:spPr>
          <a:xfrm>
            <a:off x="841248" y="5806440"/>
            <a:ext cx="10424160" cy="248145"/>
          </a:xfrm>
          <a:prstGeom prst="rect">
            <a:avLst/>
          </a:prstGeom>
          <a:noFill/>
        </p:spPr>
        <p:txBody>
          <a:bodyPr wrap="square" lIns="25400" tIns="25400" rIns="25400" bIns="25400" anchor="t">
            <a:spAutoFit/>
          </a:bodyPr>
          <a:lstStyle/>
          <a:p>
            <a:pPr>
              <a:lnSpc>
                <a:spcPct val="106000"/>
              </a:lnSpc>
            </a:pPr>
            <a:r>
              <a:rPr lang="en-US" sz="1300" b="1" dirty="0">
                <a:solidFill>
                  <a:schemeClr val="bg1"/>
                </a:solidFill>
                <a:latin typeface="Segoe UI"/>
              </a:rPr>
              <a:t>High Expert  |  Guilherme Maia •  MVP Microsoft  • Founder &amp; CEO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rgbClr val="10182A"/>
        </a:solidFill>
        <a:effectLst/>
      </p:bgPr>
    </p:bg>
    <p:spTree>
      <p:nvGrpSpPr>
        <p:cNvPr id="1" name=""/>
        <p:cNvGrpSpPr/>
        <p:nvPr/>
      </p:nvGrpSpPr>
      <p:grpSpPr>
        <a:xfrm>
          <a:off x="0" y="0"/>
          <a:ext cx="0" cy="0"/>
          <a:chOff x="0" y="0"/>
          <a:chExt cx="0" cy="0"/>
        </a:xfrm>
      </p:grpSpPr>
      <p:sp>
        <p:nvSpPr>
          <p:cNvPr id="2" name="TextBox 1"/>
          <p:cNvSpPr txBox="1"/>
          <p:nvPr/>
        </p:nvSpPr>
        <p:spPr>
          <a:xfrm>
            <a:off x="914400" y="1280160"/>
            <a:ext cx="10332720" cy="45720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400" b="1" i="0">
                <a:solidFill>
                  <a:srgbClr val="22C3A6"/>
                </a:solidFill>
                <a:latin typeface="Segoe UI"/>
              </a:rPr>
              <a:t>MOMENTO DE INTERAÇÃO</a:t>
            </a:r>
          </a:p>
        </p:txBody>
      </p:sp>
      <p:sp>
        <p:nvSpPr>
          <p:cNvPr id="3" name="TextBox 2"/>
          <p:cNvSpPr txBox="1"/>
          <p:nvPr/>
        </p:nvSpPr>
        <p:spPr>
          <a:xfrm>
            <a:off x="914400" y="1828800"/>
            <a:ext cx="10332720" cy="986745"/>
          </a:xfrm>
          <a:prstGeom prst="rect">
            <a:avLst/>
          </a:prstGeom>
          <a:noFill/>
        </p:spPr>
        <p:txBody>
          <a:bodyPr wrap="square" lIns="25400" tIns="25400" rIns="25400" bIns="25400" anchor="t">
            <a:spAutoFit/>
          </a:bodyPr>
          <a:lstStyle/>
          <a:p>
            <a:pPr algn="l">
              <a:lnSpc>
                <a:spcPct val="105000"/>
              </a:lnSpc>
              <a:spcBef>
                <a:spcPts val="0"/>
              </a:spcBef>
              <a:spcAft>
                <a:spcPts val="0"/>
              </a:spcAft>
            </a:pPr>
            <a:r>
              <a:rPr sz="3000" b="1" i="0" dirty="0">
                <a:solidFill>
                  <a:srgbClr val="FFFFFF"/>
                </a:solidFill>
                <a:latin typeface="Segoe UI"/>
              </a:rPr>
              <a:t>Quem </a:t>
            </a:r>
            <a:r>
              <a:rPr sz="3000" b="1" i="0" dirty="0" err="1">
                <a:solidFill>
                  <a:srgbClr val="FFFFFF"/>
                </a:solidFill>
                <a:latin typeface="Segoe UI"/>
              </a:rPr>
              <a:t>acordou</a:t>
            </a:r>
            <a:r>
              <a:rPr sz="3000" b="1" i="0" dirty="0">
                <a:solidFill>
                  <a:srgbClr val="FFFFFF"/>
                </a:solidFill>
                <a:latin typeface="Segoe UI"/>
              </a:rPr>
              <a:t> </a:t>
            </a:r>
            <a:r>
              <a:rPr sz="3000" b="1" i="0" dirty="0" err="1">
                <a:solidFill>
                  <a:srgbClr val="FFFFFF"/>
                </a:solidFill>
                <a:latin typeface="Segoe UI"/>
              </a:rPr>
              <a:t>hoje</a:t>
            </a:r>
            <a:r>
              <a:rPr sz="3000" b="1" i="0" dirty="0">
                <a:solidFill>
                  <a:srgbClr val="FFFFFF"/>
                </a:solidFill>
                <a:latin typeface="Segoe UI"/>
              </a:rPr>
              <a:t> </a:t>
            </a:r>
            <a:r>
              <a:rPr sz="3000" b="1" i="0" dirty="0" err="1">
                <a:solidFill>
                  <a:srgbClr val="FFFFFF"/>
                </a:solidFill>
                <a:latin typeface="Segoe UI"/>
              </a:rPr>
              <a:t>pensando</a:t>
            </a:r>
            <a:r>
              <a:rPr sz="3000" b="1" i="0" dirty="0">
                <a:solidFill>
                  <a:srgbClr val="FFFFFF"/>
                </a:solidFill>
                <a:latin typeface="Segoe UI"/>
              </a:rPr>
              <a:t> </a:t>
            </a:r>
            <a:r>
              <a:rPr sz="3000" b="1" i="0" dirty="0" err="1">
                <a:solidFill>
                  <a:srgbClr val="FFFFFF"/>
                </a:solidFill>
                <a:latin typeface="Segoe UI"/>
              </a:rPr>
              <a:t>na</a:t>
            </a:r>
            <a:r>
              <a:rPr sz="3000" b="1" i="0" dirty="0">
                <a:solidFill>
                  <a:srgbClr val="FFFFFF"/>
                </a:solidFill>
                <a:latin typeface="Segoe UI"/>
              </a:rPr>
              <a:t> </a:t>
            </a:r>
            <a:r>
              <a:rPr lang="pt-BR" sz="3000" b="1" dirty="0">
                <a:solidFill>
                  <a:srgbClr val="FFFFFF"/>
                </a:solidFill>
                <a:latin typeface="Segoe UI"/>
              </a:rPr>
              <a:t>A</a:t>
            </a:r>
            <a:r>
              <a:rPr sz="3000" b="1" i="0" dirty="0" err="1">
                <a:solidFill>
                  <a:srgbClr val="FFFFFF"/>
                </a:solidFill>
                <a:latin typeface="Segoe UI"/>
              </a:rPr>
              <a:t>rquitetura</a:t>
            </a:r>
            <a:r>
              <a:rPr sz="3000" b="1" i="0" dirty="0">
                <a:solidFill>
                  <a:srgbClr val="FFFFFF"/>
                </a:solidFill>
                <a:latin typeface="Segoe UI"/>
              </a:rPr>
              <a:t> </a:t>
            </a:r>
            <a:r>
              <a:rPr sz="3000" b="1" i="0" dirty="0" err="1">
                <a:solidFill>
                  <a:srgbClr val="FFFFFF"/>
                </a:solidFill>
                <a:latin typeface="Segoe UI"/>
              </a:rPr>
              <a:t>que</a:t>
            </a:r>
            <a:r>
              <a:rPr sz="3000" b="1" i="0" dirty="0">
                <a:solidFill>
                  <a:srgbClr val="FFFFFF"/>
                </a:solidFill>
                <a:latin typeface="Segoe UI"/>
              </a:rPr>
              <a:t> </a:t>
            </a:r>
            <a:r>
              <a:rPr sz="3000" b="1" i="0" dirty="0" err="1">
                <a:solidFill>
                  <a:srgbClr val="FFFFFF"/>
                </a:solidFill>
                <a:latin typeface="Segoe UI"/>
              </a:rPr>
              <a:t>construímos</a:t>
            </a:r>
            <a:r>
              <a:rPr sz="3000" b="1" i="0" dirty="0">
                <a:solidFill>
                  <a:srgbClr val="FFFFFF"/>
                </a:solidFill>
                <a:latin typeface="Segoe UI"/>
              </a:rPr>
              <a:t> </a:t>
            </a:r>
            <a:r>
              <a:rPr sz="3000" b="1" i="0" dirty="0" err="1">
                <a:solidFill>
                  <a:srgbClr val="FFFFFF"/>
                </a:solidFill>
                <a:latin typeface="Segoe UI"/>
              </a:rPr>
              <a:t>ontem</a:t>
            </a:r>
            <a:r>
              <a:rPr sz="3000" b="1" i="0" dirty="0">
                <a:solidFill>
                  <a:srgbClr val="FFFFFF"/>
                </a:solidFill>
                <a:latin typeface="Segoe UI"/>
              </a:rPr>
              <a:t>? E quem </a:t>
            </a:r>
            <a:r>
              <a:rPr sz="3000" b="1" i="0" dirty="0" err="1">
                <a:solidFill>
                  <a:srgbClr val="FFFFFF"/>
                </a:solidFill>
                <a:latin typeface="Segoe UI"/>
              </a:rPr>
              <a:t>já</a:t>
            </a:r>
            <a:r>
              <a:rPr sz="3000" b="1" i="0" dirty="0">
                <a:solidFill>
                  <a:srgbClr val="FFFFFF"/>
                </a:solidFill>
                <a:latin typeface="Segoe UI"/>
              </a:rPr>
              <a:t> </a:t>
            </a:r>
            <a:r>
              <a:rPr sz="3000" b="1" i="0" dirty="0" err="1">
                <a:solidFill>
                  <a:srgbClr val="FFFFFF"/>
                </a:solidFill>
                <a:latin typeface="Segoe UI"/>
              </a:rPr>
              <a:t>foi</a:t>
            </a:r>
            <a:r>
              <a:rPr sz="3000" b="1" i="0" dirty="0">
                <a:solidFill>
                  <a:srgbClr val="FFFFFF"/>
                </a:solidFill>
                <a:latin typeface="Segoe UI"/>
              </a:rPr>
              <a:t> </a:t>
            </a:r>
            <a:r>
              <a:rPr sz="3000" b="1" i="0" dirty="0" err="1">
                <a:solidFill>
                  <a:srgbClr val="FFFFFF"/>
                </a:solidFill>
                <a:latin typeface="Segoe UI"/>
              </a:rPr>
              <a:t>rever</a:t>
            </a:r>
            <a:r>
              <a:rPr sz="3000" b="1" i="0" dirty="0">
                <a:solidFill>
                  <a:srgbClr val="FFFFFF"/>
                </a:solidFill>
                <a:latin typeface="Segoe UI"/>
              </a:rPr>
              <a:t> algo no Azure?</a:t>
            </a:r>
          </a:p>
        </p:txBody>
      </p:sp>
      <p:sp>
        <p:nvSpPr>
          <p:cNvPr id="4" name="Rounded Rectangle 3"/>
          <p:cNvSpPr/>
          <p:nvPr/>
        </p:nvSpPr>
        <p:spPr>
          <a:xfrm>
            <a:off x="914400" y="4206240"/>
            <a:ext cx="5120640" cy="914400"/>
          </a:xfrm>
          <a:prstGeom prst="roundRect">
            <a:avLst>
              <a:gd name="adj" fmla="val 6000"/>
            </a:avLst>
          </a:prstGeom>
          <a:solidFill>
            <a:srgbClr val="162035"/>
          </a:solidFill>
          <a:ln w="19050">
            <a:solidFill>
              <a:srgbClr val="22C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4206240"/>
            <a:ext cx="5120640" cy="914400"/>
          </a:xfrm>
          <a:prstGeom prst="rect">
            <a:avLst/>
          </a:prstGeom>
          <a:noFill/>
        </p:spPr>
        <p:txBody>
          <a:bodyPr wrap="square" lIns="25400" tIns="25400" rIns="25400" bIns="25400" anchor="ctr">
            <a:spAutoFit/>
          </a:bodyPr>
          <a:lstStyle/>
          <a:p>
            <a:pPr algn="ctr">
              <a:lnSpc>
                <a:spcPct val="106000"/>
              </a:lnSpc>
              <a:spcBef>
                <a:spcPts val="0"/>
              </a:spcBef>
              <a:spcAft>
                <a:spcPts val="0"/>
              </a:spcAft>
            </a:pPr>
            <a:r>
              <a:rPr sz="1800" b="1" i="0">
                <a:solidFill>
                  <a:srgbClr val="FFFFFF"/>
                </a:solidFill>
                <a:latin typeface="Segoe UI"/>
              </a:rPr>
              <a:t>Digite: JÁ APLIQUEI</a:t>
            </a:r>
          </a:p>
        </p:txBody>
      </p:sp>
      <p:sp>
        <p:nvSpPr>
          <p:cNvPr id="6" name="Rounded Rectangle 5"/>
          <p:cNvSpPr/>
          <p:nvPr/>
        </p:nvSpPr>
        <p:spPr>
          <a:xfrm>
            <a:off x="6309359" y="4206240"/>
            <a:ext cx="5120640" cy="914400"/>
          </a:xfrm>
          <a:prstGeom prst="roundRect">
            <a:avLst>
              <a:gd name="adj" fmla="val 6000"/>
            </a:avLst>
          </a:prstGeom>
          <a:solidFill>
            <a:srgbClr val="162035"/>
          </a:solidFill>
          <a:ln w="19050">
            <a:solidFill>
              <a:srgbClr val="22C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09359" y="4206240"/>
            <a:ext cx="5120640" cy="914400"/>
          </a:xfrm>
          <a:prstGeom prst="rect">
            <a:avLst/>
          </a:prstGeom>
          <a:noFill/>
        </p:spPr>
        <p:txBody>
          <a:bodyPr wrap="square" lIns="25400" tIns="25400" rIns="25400" bIns="25400" anchor="ctr">
            <a:spAutoFit/>
          </a:bodyPr>
          <a:lstStyle/>
          <a:p>
            <a:pPr algn="ctr">
              <a:lnSpc>
                <a:spcPct val="106000"/>
              </a:lnSpc>
              <a:spcBef>
                <a:spcPts val="0"/>
              </a:spcBef>
              <a:spcAft>
                <a:spcPts val="0"/>
              </a:spcAft>
            </a:pPr>
            <a:r>
              <a:rPr sz="1800" b="1" i="0">
                <a:solidFill>
                  <a:srgbClr val="FFFFFF"/>
                </a:solidFill>
                <a:latin typeface="Segoe UI"/>
              </a:rPr>
              <a:t>Digite: BORA PRA CIMA</a:t>
            </a:r>
          </a:p>
        </p:txBody>
      </p:sp>
      <p:sp>
        <p:nvSpPr>
          <p:cNvPr id="8" name="TextBox 7"/>
          <p:cNvSpPr txBox="1"/>
          <p:nvPr/>
        </p:nvSpPr>
        <p:spPr>
          <a:xfrm>
            <a:off x="914400" y="5577840"/>
            <a:ext cx="10332720" cy="54864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300" b="0" i="1">
                <a:solidFill>
                  <a:srgbClr val="9AA7BD"/>
                </a:solidFill>
                <a:latin typeface="Segoe UI"/>
              </a:rPr>
              <a:t>Reconexão: trazer de volta quem voltou e reativar o desejo antes de aprofundar.</a:t>
            </a:r>
          </a:p>
        </p:txBody>
      </p:sp>
      <p:sp>
        <p:nvSpPr>
          <p:cNvPr id="9" name="Rectangle 8"/>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
        <p:nvSpPr>
          <p:cNvPr id="11" name="TextBox 10"/>
          <p:cNvSpPr txBox="1"/>
          <p:nvPr/>
        </p:nvSpPr>
        <p:spPr>
          <a:xfrm>
            <a:off x="11155680" y="6565392"/>
            <a:ext cx="822960" cy="292608"/>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900" b="0" i="0">
                <a:solidFill>
                  <a:srgbClr val="9AA7BD"/>
                </a:solidFill>
                <a:latin typeface="Segoe UI"/>
              </a:rPr>
              <a:t>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457200" y="475488"/>
            <a:ext cx="109728" cy="566928"/>
          </a:xfrm>
          <a:prstGeom prst="rect">
            <a:avLst/>
          </a:prstGeom>
          <a:solidFill>
            <a:srgbClr val="2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20624"/>
            <a:ext cx="10789920" cy="292608"/>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200" b="1" i="0">
                <a:solidFill>
                  <a:srgbClr val="2E8BFF"/>
                </a:solidFill>
                <a:latin typeface="Segoe UI"/>
              </a:rPr>
              <a:t>RECAP DO DIA 1</a:t>
            </a:r>
          </a:p>
        </p:txBody>
      </p:sp>
      <p:sp>
        <p:nvSpPr>
          <p:cNvPr id="4" name="TextBox 3"/>
          <p:cNvSpPr txBox="1"/>
          <p:nvPr/>
        </p:nvSpPr>
        <p:spPr>
          <a:xfrm>
            <a:off x="658368" y="676656"/>
            <a:ext cx="10881360" cy="566928"/>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2700" b="1" i="0">
                <a:solidFill>
                  <a:srgbClr val="FFFFFF"/>
                </a:solidFill>
                <a:latin typeface="Segoe UI"/>
              </a:rPr>
              <a:t>Ontem construímos Cloud. Hoje vira Cloud Native + AI.</a:t>
            </a:r>
          </a:p>
        </p:txBody>
      </p:sp>
      <p:sp>
        <p:nvSpPr>
          <p:cNvPr id="5" name="Rectangle 4"/>
          <p:cNvSpPr/>
          <p:nvPr/>
        </p:nvSpPr>
        <p:spPr>
          <a:xfrm>
            <a:off x="1811213" y="1408176"/>
            <a:ext cx="8569268" cy="4672584"/>
          </a:xfrm>
          <a:prstGeom prst="rect">
            <a:avLst/>
          </a:prstGeom>
          <a:solidFill>
            <a:srgbClr val="FFFFFF"/>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d3-dia1-paas.png"/>
          <p:cNvPicPr>
            <a:picLocks noChangeAspect="1"/>
          </p:cNvPicPr>
          <p:nvPr/>
        </p:nvPicPr>
        <p:blipFill>
          <a:blip r:embed="rId3"/>
          <a:stretch>
            <a:fillRect/>
          </a:stretch>
        </p:blipFill>
        <p:spPr>
          <a:xfrm>
            <a:off x="1884365" y="1481328"/>
            <a:ext cx="8422964" cy="4526280"/>
          </a:xfrm>
          <a:prstGeom prst="rect">
            <a:avLst/>
          </a:prstGeom>
        </p:spPr>
      </p:pic>
      <p:sp>
        <p:nvSpPr>
          <p:cNvPr id="7" name="TextBox 6"/>
          <p:cNvSpPr txBox="1"/>
          <p:nvPr/>
        </p:nvSpPr>
        <p:spPr>
          <a:xfrm>
            <a:off x="658368" y="6126480"/>
            <a:ext cx="10881360" cy="365760"/>
          </a:xfrm>
          <a:prstGeom prst="rect">
            <a:avLst/>
          </a:prstGeom>
          <a:noFill/>
        </p:spPr>
        <p:txBody>
          <a:bodyPr wrap="square" lIns="25400" tIns="25400" rIns="25400" bIns="25400" anchor="t">
            <a:spAutoFit/>
          </a:bodyPr>
          <a:lstStyle/>
          <a:p>
            <a:pPr algn="ctr">
              <a:lnSpc>
                <a:spcPct val="106000"/>
              </a:lnSpc>
              <a:spcBef>
                <a:spcPts val="0"/>
              </a:spcBef>
              <a:spcAft>
                <a:spcPts val="0"/>
              </a:spcAft>
            </a:pPr>
            <a:r>
              <a:rPr sz="1200" b="0" i="1">
                <a:solidFill>
                  <a:srgbClr val="9AA7BD"/>
                </a:solidFill>
                <a:latin typeface="Segoe UI"/>
              </a:rPr>
              <a:t>Internet -&gt; App Service -&gt; Azure SQL, com Key Vault e Managed Identity.</a:t>
            </a:r>
          </a:p>
        </p:txBody>
      </p:sp>
      <p:sp>
        <p:nvSpPr>
          <p:cNvPr id="8" name="Rectangle 7"/>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
        <p:nvSpPr>
          <p:cNvPr id="10" name="TextBox 9"/>
          <p:cNvSpPr txBox="1"/>
          <p:nvPr/>
        </p:nvSpPr>
        <p:spPr>
          <a:xfrm>
            <a:off x="11155680" y="6565392"/>
            <a:ext cx="822960" cy="292608"/>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900" b="0" i="0">
                <a:solidFill>
                  <a:srgbClr val="9AA7BD"/>
                </a:solidFill>
                <a:latin typeface="Segoe UI"/>
              </a:rPr>
              <a:t>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182A"/>
        </a:solidFill>
        <a:effectLst/>
      </p:bgPr>
    </p:bg>
    <p:spTree>
      <p:nvGrpSpPr>
        <p:cNvPr id="1" name=""/>
        <p:cNvGrpSpPr/>
        <p:nvPr/>
      </p:nvGrpSpPr>
      <p:grpSpPr>
        <a:xfrm>
          <a:off x="0" y="0"/>
          <a:ext cx="0" cy="0"/>
          <a:chOff x="0" y="0"/>
          <a:chExt cx="0" cy="0"/>
        </a:xfrm>
      </p:grpSpPr>
      <p:sp>
        <p:nvSpPr>
          <p:cNvPr id="2" name="Rounded Rectangle 1"/>
          <p:cNvSpPr/>
          <p:nvPr/>
        </p:nvSpPr>
        <p:spPr>
          <a:xfrm>
            <a:off x="822960" y="2011680"/>
            <a:ext cx="2011680" cy="2011680"/>
          </a:xfrm>
          <a:prstGeom prst="roundRect">
            <a:avLst>
              <a:gd name="adj" fmla="val 6000"/>
            </a:avLst>
          </a:prstGeom>
          <a:noFill/>
          <a:ln w="25400">
            <a:solidFill>
              <a:srgbClr val="22C3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431750"/>
            <a:ext cx="2011680" cy="1171539"/>
          </a:xfrm>
          <a:prstGeom prst="rect">
            <a:avLst/>
          </a:prstGeom>
          <a:noFill/>
        </p:spPr>
        <p:txBody>
          <a:bodyPr wrap="square" lIns="25400" tIns="25400" rIns="25400" bIns="25400" anchor="ctr">
            <a:spAutoFit/>
          </a:bodyPr>
          <a:lstStyle/>
          <a:p>
            <a:pPr algn="ctr">
              <a:lnSpc>
                <a:spcPct val="106000"/>
              </a:lnSpc>
              <a:spcBef>
                <a:spcPts val="0"/>
              </a:spcBef>
              <a:spcAft>
                <a:spcPts val="0"/>
              </a:spcAft>
            </a:pPr>
            <a:r>
              <a:rPr lang="pt-BR" sz="7400" b="1" dirty="0">
                <a:solidFill>
                  <a:srgbClr val="22C3A6"/>
                </a:solidFill>
                <a:latin typeface="Segoe UI"/>
              </a:rPr>
              <a:t>10</a:t>
            </a:r>
            <a:endParaRPr sz="7400" b="1" i="0" dirty="0">
              <a:solidFill>
                <a:srgbClr val="22C3A6"/>
              </a:solidFill>
              <a:latin typeface="Segoe UI"/>
            </a:endParaRPr>
          </a:p>
        </p:txBody>
      </p:sp>
      <p:sp>
        <p:nvSpPr>
          <p:cNvPr id="4" name="TextBox 3"/>
          <p:cNvSpPr txBox="1"/>
          <p:nvPr/>
        </p:nvSpPr>
        <p:spPr>
          <a:xfrm>
            <a:off x="3200400" y="2286000"/>
            <a:ext cx="8229600" cy="1280160"/>
          </a:xfrm>
          <a:prstGeom prst="rect">
            <a:avLst/>
          </a:prstGeom>
          <a:noFill/>
        </p:spPr>
        <p:txBody>
          <a:bodyPr wrap="square" lIns="25400" tIns="25400" rIns="25400" bIns="25400" anchor="t">
            <a:spAutoFit/>
          </a:bodyPr>
          <a:lstStyle/>
          <a:p>
            <a:pPr algn="l">
              <a:lnSpc>
                <a:spcPct val="100000"/>
              </a:lnSpc>
              <a:spcBef>
                <a:spcPts val="0"/>
              </a:spcBef>
              <a:spcAft>
                <a:spcPts val="0"/>
              </a:spcAft>
            </a:pPr>
            <a:r>
              <a:rPr sz="3800" b="1" i="0" dirty="0">
                <a:solidFill>
                  <a:srgbClr val="FFFFFF"/>
                </a:solidFill>
                <a:latin typeface="Segoe UI"/>
              </a:rPr>
              <a:t>Kubernetes / AKS</a:t>
            </a:r>
          </a:p>
        </p:txBody>
      </p:sp>
      <p:sp>
        <p:nvSpPr>
          <p:cNvPr id="5" name="Rectangle 4"/>
          <p:cNvSpPr/>
          <p:nvPr/>
        </p:nvSpPr>
        <p:spPr>
          <a:xfrm>
            <a:off x="3246120" y="3611880"/>
            <a:ext cx="2743200" cy="45720"/>
          </a:xfrm>
          <a:prstGeom prst="rect">
            <a:avLst/>
          </a:prstGeom>
          <a:solidFill>
            <a:srgbClr val="22C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46120" y="3794760"/>
            <a:ext cx="8138160" cy="128016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700" b="0" i="0">
                <a:solidFill>
                  <a:srgbClr val="9AA7BD"/>
                </a:solidFill>
                <a:latin typeface="Segoe UI"/>
              </a:rPr>
              <a:t>A imagem que colocamos no ACR ontem finalmente ganha vida.</a:t>
            </a:r>
          </a:p>
        </p:txBody>
      </p:sp>
      <p:sp>
        <p:nvSpPr>
          <p:cNvPr id="7" name="Rectangle 6"/>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457200" y="457200"/>
            <a:ext cx="109728" cy="640080"/>
          </a:xfrm>
          <a:prstGeom prst="rect">
            <a:avLst/>
          </a:prstGeom>
          <a:solidFill>
            <a:srgbClr val="22C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02336"/>
            <a:ext cx="10789920" cy="27432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200" b="1" i="0">
                <a:solidFill>
                  <a:srgbClr val="22C3A6"/>
                </a:solidFill>
                <a:latin typeface="Segoe UI"/>
              </a:rPr>
              <a:t>LAB 07 · AKS</a:t>
            </a:r>
          </a:p>
        </p:txBody>
      </p:sp>
      <p:sp>
        <p:nvSpPr>
          <p:cNvPr id="4" name="TextBox 3"/>
          <p:cNvSpPr txBox="1"/>
          <p:nvPr/>
        </p:nvSpPr>
        <p:spPr>
          <a:xfrm>
            <a:off x="658368" y="658368"/>
            <a:ext cx="8229600" cy="54864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2600" b="1" i="0">
                <a:solidFill>
                  <a:srgbClr val="FFFFFF"/>
                </a:solidFill>
                <a:latin typeface="Segoe UI"/>
              </a:rPr>
              <a:t>Azure Kubernetes Service (AKS)</a:t>
            </a:r>
          </a:p>
        </p:txBody>
      </p:sp>
      <p:sp>
        <p:nvSpPr>
          <p:cNvPr id="5" name="TextBox 4"/>
          <p:cNvSpPr txBox="1"/>
          <p:nvPr/>
        </p:nvSpPr>
        <p:spPr>
          <a:xfrm>
            <a:off x="676656" y="1170432"/>
            <a:ext cx="10881360" cy="32004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350" b="0" i="1">
                <a:solidFill>
                  <a:srgbClr val="9AA7BD"/>
                </a:solidFill>
                <a:latin typeface="Segoe UI"/>
              </a:rPr>
              <a:t>Orquestração de containers em escala</a:t>
            </a:r>
          </a:p>
        </p:txBody>
      </p:sp>
      <p:sp>
        <p:nvSpPr>
          <p:cNvPr id="6" name="Rounded Rectangle 5"/>
          <p:cNvSpPr/>
          <p:nvPr/>
        </p:nvSpPr>
        <p:spPr>
          <a:xfrm>
            <a:off x="457200" y="1572768"/>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1572768"/>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572768"/>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2E8BFF"/>
                </a:solidFill>
                <a:latin typeface="Segoe UI"/>
              </a:rPr>
              <a:t>■  O QUE É</a:t>
            </a:r>
          </a:p>
        </p:txBody>
      </p:sp>
      <p:sp>
        <p:nvSpPr>
          <p:cNvPr id="9" name="TextBox 8"/>
          <p:cNvSpPr txBox="1"/>
          <p:nvPr/>
        </p:nvSpPr>
        <p:spPr>
          <a:xfrm>
            <a:off x="640080" y="2029967"/>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2E8BFF"/>
                </a:solidFill>
                <a:latin typeface="Segoe UI"/>
              </a:rPr>
              <a:t>— </a:t>
            </a:r>
            <a:r>
              <a:rPr sz="1200">
                <a:solidFill>
                  <a:srgbClr val="FFFFFF"/>
                </a:solidFill>
                <a:latin typeface="Segoe UI"/>
              </a:rPr>
              <a:t>Kubernetes gerenciado pela Azure (control plane administrado).</a:t>
            </a:r>
          </a:p>
          <a:p>
            <a:pPr>
              <a:lnSpc>
                <a:spcPct val="104000"/>
              </a:lnSpc>
              <a:spcBef>
                <a:spcPts val="0"/>
              </a:spcBef>
              <a:spcAft>
                <a:spcPts val="400"/>
              </a:spcAft>
            </a:pPr>
            <a:r>
              <a:rPr sz="1200" b="0">
                <a:solidFill>
                  <a:srgbClr val="2E8BFF"/>
                </a:solidFill>
                <a:latin typeface="Segoe UI"/>
              </a:rPr>
              <a:t>— </a:t>
            </a:r>
            <a:r>
              <a:rPr sz="1200">
                <a:solidFill>
                  <a:srgbClr val="FFFFFF"/>
                </a:solidFill>
                <a:latin typeface="Segoe UI"/>
              </a:rPr>
              <a:t>Node: VM que roda os containers. Pod: menor unidade executável.</a:t>
            </a:r>
          </a:p>
          <a:p>
            <a:pPr>
              <a:lnSpc>
                <a:spcPct val="104000"/>
              </a:lnSpc>
              <a:spcBef>
                <a:spcPts val="0"/>
              </a:spcBef>
              <a:spcAft>
                <a:spcPts val="400"/>
              </a:spcAft>
            </a:pPr>
            <a:r>
              <a:rPr sz="1200" b="0">
                <a:solidFill>
                  <a:srgbClr val="2E8BFF"/>
                </a:solidFill>
                <a:latin typeface="Segoe UI"/>
              </a:rPr>
              <a:t>— </a:t>
            </a:r>
            <a:r>
              <a:rPr sz="1200">
                <a:solidFill>
                  <a:srgbClr val="FFFFFF"/>
                </a:solidFill>
                <a:latin typeface="Segoe UI"/>
              </a:rPr>
              <a:t>Deployment, Service, Namespace e Load Balancer organizam a app.</a:t>
            </a:r>
          </a:p>
        </p:txBody>
      </p:sp>
      <p:sp>
        <p:nvSpPr>
          <p:cNvPr id="10" name="Rounded Rectangle 9"/>
          <p:cNvSpPr/>
          <p:nvPr/>
        </p:nvSpPr>
        <p:spPr>
          <a:xfrm>
            <a:off x="6217920" y="1572768"/>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217920" y="1572768"/>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82512" y="1572768"/>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22C3A6"/>
                </a:solidFill>
                <a:latin typeface="Segoe UI"/>
              </a:rPr>
              <a:t>⚙  COMO FUNCIONA</a:t>
            </a:r>
          </a:p>
        </p:txBody>
      </p:sp>
      <p:sp>
        <p:nvSpPr>
          <p:cNvPr id="13" name="TextBox 12"/>
          <p:cNvSpPr txBox="1"/>
          <p:nvPr/>
        </p:nvSpPr>
        <p:spPr>
          <a:xfrm>
            <a:off x="6400800" y="2029967"/>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22C3A6"/>
                </a:solidFill>
                <a:latin typeface="Segoe UI"/>
              </a:rPr>
              <a:t>— </a:t>
            </a:r>
            <a:r>
              <a:rPr sz="1200">
                <a:solidFill>
                  <a:srgbClr val="FFFFFF"/>
                </a:solidFill>
                <a:latin typeface="Segoe UI"/>
              </a:rPr>
              <a:t>Deployment mantém N réplicas do Pod no ar.</a:t>
            </a:r>
          </a:p>
          <a:p>
            <a:pPr>
              <a:lnSpc>
                <a:spcPct val="104000"/>
              </a:lnSpc>
              <a:spcBef>
                <a:spcPts val="0"/>
              </a:spcBef>
              <a:spcAft>
                <a:spcPts val="400"/>
              </a:spcAft>
            </a:pPr>
            <a:r>
              <a:rPr sz="1200" b="0">
                <a:solidFill>
                  <a:srgbClr val="22C3A6"/>
                </a:solidFill>
                <a:latin typeface="Segoe UI"/>
              </a:rPr>
              <a:t>— </a:t>
            </a:r>
            <a:r>
              <a:rPr sz="1200">
                <a:solidFill>
                  <a:srgbClr val="FFFFFF"/>
                </a:solidFill>
                <a:latin typeface="Segoe UI"/>
              </a:rPr>
              <a:t>Service + Load Balancer expõem a app com um IP.</a:t>
            </a:r>
          </a:p>
          <a:p>
            <a:pPr>
              <a:lnSpc>
                <a:spcPct val="104000"/>
              </a:lnSpc>
              <a:spcBef>
                <a:spcPts val="0"/>
              </a:spcBef>
              <a:spcAft>
                <a:spcPts val="400"/>
              </a:spcAft>
            </a:pPr>
            <a:r>
              <a:rPr sz="1200" b="0">
                <a:solidFill>
                  <a:srgbClr val="22C3A6"/>
                </a:solidFill>
                <a:latin typeface="Segoe UI"/>
              </a:rPr>
              <a:t>— </a:t>
            </a:r>
            <a:r>
              <a:rPr sz="1200">
                <a:solidFill>
                  <a:srgbClr val="FFFFFF"/>
                </a:solidFill>
                <a:latin typeface="Segoe UI"/>
              </a:rPr>
              <a:t>Namespace isola ambientes/equipes dentro do cluster.</a:t>
            </a:r>
          </a:p>
        </p:txBody>
      </p:sp>
      <p:sp>
        <p:nvSpPr>
          <p:cNvPr id="14" name="Rounded Rectangle 13"/>
          <p:cNvSpPr/>
          <p:nvPr/>
        </p:nvSpPr>
        <p:spPr>
          <a:xfrm>
            <a:off x="457200" y="3886200"/>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57200" y="3886200"/>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 y="3886200"/>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F5B301"/>
                </a:solidFill>
                <a:latin typeface="Segoe UI"/>
              </a:rPr>
              <a:t>⚖  TRADE-OFFS &amp; DECISÃO</a:t>
            </a:r>
          </a:p>
        </p:txBody>
      </p:sp>
      <p:sp>
        <p:nvSpPr>
          <p:cNvPr id="17" name="TextBox 16"/>
          <p:cNvSpPr txBox="1"/>
          <p:nvPr/>
        </p:nvSpPr>
        <p:spPr>
          <a:xfrm>
            <a:off x="640080" y="4343400"/>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F5B301"/>
                </a:solidFill>
                <a:latin typeface="Segoe UI"/>
              </a:rPr>
              <a:t>— </a:t>
            </a:r>
            <a:r>
              <a:rPr sz="1200">
                <a:solidFill>
                  <a:srgbClr val="FFFFFF"/>
                </a:solidFill>
                <a:latin typeface="Segoe UI"/>
              </a:rPr>
              <a:t>App Service x AKS: simplicidade vs. controle e portabilidade.</a:t>
            </a:r>
          </a:p>
          <a:p>
            <a:pPr>
              <a:lnSpc>
                <a:spcPct val="104000"/>
              </a:lnSpc>
              <a:spcBef>
                <a:spcPts val="0"/>
              </a:spcBef>
              <a:spcAft>
                <a:spcPts val="400"/>
              </a:spcAft>
            </a:pPr>
            <a:r>
              <a:rPr sz="1200" b="0">
                <a:solidFill>
                  <a:srgbClr val="F5B301"/>
                </a:solidFill>
                <a:latin typeface="Segoe UI"/>
              </a:rPr>
              <a:t>— </a:t>
            </a:r>
            <a:r>
              <a:rPr sz="1200">
                <a:solidFill>
                  <a:srgbClr val="FFFFFF"/>
                </a:solidFill>
                <a:latin typeface="Segoe UI"/>
              </a:rPr>
              <a:t>Poder do K8s traz complexidade operacional — use quando faz sentido.</a:t>
            </a:r>
          </a:p>
          <a:p>
            <a:pPr>
              <a:lnSpc>
                <a:spcPct val="104000"/>
              </a:lnSpc>
              <a:spcBef>
                <a:spcPts val="0"/>
              </a:spcBef>
              <a:spcAft>
                <a:spcPts val="400"/>
              </a:spcAft>
            </a:pPr>
            <a:r>
              <a:rPr sz="1200" b="0">
                <a:solidFill>
                  <a:srgbClr val="F5B301"/>
                </a:solidFill>
                <a:latin typeface="Segoe UI"/>
              </a:rPr>
              <a:t>— </a:t>
            </a:r>
            <a:r>
              <a:rPr sz="1200">
                <a:solidFill>
                  <a:srgbClr val="FFFFFF"/>
                </a:solidFill>
                <a:latin typeface="Segoe UI"/>
              </a:rPr>
              <a:t>Decisão: AKS quando há necessidade de escala, microserviços e portabilidade.</a:t>
            </a:r>
          </a:p>
        </p:txBody>
      </p:sp>
      <p:sp>
        <p:nvSpPr>
          <p:cNvPr id="18" name="Rounded Rectangle 17"/>
          <p:cNvSpPr/>
          <p:nvPr/>
        </p:nvSpPr>
        <p:spPr>
          <a:xfrm>
            <a:off x="6217920" y="3886200"/>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217920" y="3886200"/>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82512" y="3886200"/>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3DD68C"/>
                </a:solidFill>
                <a:latin typeface="Segoe UI"/>
              </a:rPr>
              <a:t>✓  BOAS PRÁTICAS DE ARQUITETURA</a:t>
            </a:r>
          </a:p>
        </p:txBody>
      </p:sp>
      <p:sp>
        <p:nvSpPr>
          <p:cNvPr id="21" name="TextBox 20"/>
          <p:cNvSpPr txBox="1"/>
          <p:nvPr/>
        </p:nvSpPr>
        <p:spPr>
          <a:xfrm>
            <a:off x="6400800" y="4343400"/>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3DD68C"/>
                </a:solidFill>
                <a:latin typeface="Segoe UI"/>
              </a:rPr>
              <a:t>— </a:t>
            </a:r>
            <a:r>
              <a:rPr sz="1200">
                <a:solidFill>
                  <a:srgbClr val="FFFFFF"/>
                </a:solidFill>
                <a:latin typeface="Segoe UI"/>
              </a:rPr>
              <a:t>Requests/limits e health probes em todo Pod.</a:t>
            </a:r>
          </a:p>
          <a:p>
            <a:pPr>
              <a:lnSpc>
                <a:spcPct val="104000"/>
              </a:lnSpc>
              <a:spcBef>
                <a:spcPts val="0"/>
              </a:spcBef>
              <a:spcAft>
                <a:spcPts val="400"/>
              </a:spcAft>
            </a:pPr>
            <a:r>
              <a:rPr sz="1200" b="0">
                <a:solidFill>
                  <a:srgbClr val="3DD68C"/>
                </a:solidFill>
                <a:latin typeface="Segoe UI"/>
              </a:rPr>
              <a:t>— </a:t>
            </a:r>
            <a:r>
              <a:rPr sz="1200">
                <a:solidFill>
                  <a:srgbClr val="FFFFFF"/>
                </a:solidFill>
                <a:latin typeface="Segoe UI"/>
              </a:rPr>
              <a:t>Segredos via CSI + Key Vault (nunca no manifesto).</a:t>
            </a:r>
          </a:p>
          <a:p>
            <a:pPr>
              <a:lnSpc>
                <a:spcPct val="104000"/>
              </a:lnSpc>
              <a:spcBef>
                <a:spcPts val="0"/>
              </a:spcBef>
              <a:spcAft>
                <a:spcPts val="400"/>
              </a:spcAft>
            </a:pPr>
            <a:r>
              <a:rPr sz="1200" b="0">
                <a:solidFill>
                  <a:srgbClr val="3DD68C"/>
                </a:solidFill>
                <a:latin typeface="Segoe UI"/>
              </a:rPr>
              <a:t>— </a:t>
            </a:r>
            <a:r>
              <a:rPr sz="1200">
                <a:solidFill>
                  <a:srgbClr val="FFFFFF"/>
                </a:solidFill>
                <a:latin typeface="Segoe UI"/>
              </a:rPr>
              <a:t>Rede privada para dados (Private Endpoint).</a:t>
            </a:r>
          </a:p>
        </p:txBody>
      </p:sp>
      <p:sp>
        <p:nvSpPr>
          <p:cNvPr id="22" name="Rounded Rectangle 21"/>
          <p:cNvSpPr/>
          <p:nvPr/>
        </p:nvSpPr>
        <p:spPr>
          <a:xfrm>
            <a:off x="457200" y="6080759"/>
            <a:ext cx="11274552" cy="457200"/>
          </a:xfrm>
          <a:prstGeom prst="roundRect">
            <a:avLst>
              <a:gd name="adj" fmla="val 6000"/>
            </a:avLst>
          </a:prstGeom>
          <a:solidFill>
            <a:srgbClr val="1D2A4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6080759"/>
            <a:ext cx="2011680" cy="457200"/>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150" b="1" i="0">
                <a:solidFill>
                  <a:srgbClr val="F5B301"/>
                </a:solidFill>
                <a:latin typeface="Segoe UI"/>
              </a:rPr>
              <a:t>💲 CUSTO (leve)</a:t>
            </a:r>
          </a:p>
        </p:txBody>
      </p:sp>
      <p:sp>
        <p:nvSpPr>
          <p:cNvPr id="24" name="TextBox 23"/>
          <p:cNvSpPr txBox="1"/>
          <p:nvPr/>
        </p:nvSpPr>
        <p:spPr>
          <a:xfrm>
            <a:off x="2468880" y="6080759"/>
            <a:ext cx="9144000" cy="457200"/>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150" b="0" i="0">
                <a:solidFill>
                  <a:srgbClr val="9AA7BD"/>
                </a:solidFill>
                <a:latin typeface="Segoe UI"/>
              </a:rPr>
              <a:t>AKS: control plane gratuito/baixo custo; paga-se pelos nodes (VMs) e Load Balancer. Desligue (az aks stop) quando ocioso.</a:t>
            </a:r>
          </a:p>
        </p:txBody>
      </p:sp>
      <p:sp>
        <p:nvSpPr>
          <p:cNvPr id="25" name="Rectangle 24"/>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
        <p:nvSpPr>
          <p:cNvPr id="27" name="TextBox 26"/>
          <p:cNvSpPr txBox="1"/>
          <p:nvPr/>
        </p:nvSpPr>
        <p:spPr>
          <a:xfrm>
            <a:off x="11155680" y="6565392"/>
            <a:ext cx="822960" cy="292608"/>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900" b="0" i="0">
                <a:solidFill>
                  <a:srgbClr val="9AA7BD"/>
                </a:solidFill>
                <a:latin typeface="Segoe UI"/>
              </a:rPr>
              <a:t>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457200" y="475488"/>
            <a:ext cx="109728" cy="566928"/>
          </a:xfrm>
          <a:prstGeom prst="rect">
            <a:avLst/>
          </a:prstGeom>
          <a:solidFill>
            <a:srgbClr val="22C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20624"/>
            <a:ext cx="10789920" cy="232949"/>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200" b="1" i="0" dirty="0">
                <a:solidFill>
                  <a:srgbClr val="22C3A6"/>
                </a:solidFill>
                <a:latin typeface="Segoe UI"/>
              </a:rPr>
              <a:t>LAB </a:t>
            </a:r>
            <a:r>
              <a:rPr lang="pt-BR" sz="1200" b="1" dirty="0">
                <a:solidFill>
                  <a:srgbClr val="22C3A6"/>
                </a:solidFill>
                <a:latin typeface="Segoe UI"/>
              </a:rPr>
              <a:t>10</a:t>
            </a:r>
            <a:r>
              <a:rPr sz="1200" b="1" i="0" dirty="0">
                <a:solidFill>
                  <a:srgbClr val="22C3A6"/>
                </a:solidFill>
                <a:latin typeface="Segoe UI"/>
              </a:rPr>
              <a:t> · AKS</a:t>
            </a:r>
          </a:p>
        </p:txBody>
      </p:sp>
      <p:sp>
        <p:nvSpPr>
          <p:cNvPr id="4" name="TextBox 3"/>
          <p:cNvSpPr txBox="1"/>
          <p:nvPr/>
        </p:nvSpPr>
        <p:spPr>
          <a:xfrm>
            <a:off x="658368" y="676656"/>
            <a:ext cx="10881360" cy="566928"/>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2700" b="1" i="0">
                <a:solidFill>
                  <a:srgbClr val="FFFFFF"/>
                </a:solidFill>
                <a:latin typeface="Segoe UI"/>
              </a:rPr>
              <a:t>Arquitetura Cloud Native com AKS</a:t>
            </a:r>
          </a:p>
        </p:txBody>
      </p:sp>
      <p:sp>
        <p:nvSpPr>
          <p:cNvPr id="5" name="Rectangle 4"/>
          <p:cNvSpPr/>
          <p:nvPr/>
        </p:nvSpPr>
        <p:spPr>
          <a:xfrm>
            <a:off x="2355280" y="1408176"/>
            <a:ext cx="7481134" cy="4672584"/>
          </a:xfrm>
          <a:prstGeom prst="rect">
            <a:avLst/>
          </a:prstGeom>
          <a:solidFill>
            <a:srgbClr val="FFFFFF"/>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d4-dia2-aks.png"/>
          <p:cNvPicPr>
            <a:picLocks noChangeAspect="1"/>
          </p:cNvPicPr>
          <p:nvPr/>
        </p:nvPicPr>
        <p:blipFill>
          <a:blip r:embed="rId3"/>
          <a:stretch>
            <a:fillRect/>
          </a:stretch>
        </p:blipFill>
        <p:spPr>
          <a:xfrm>
            <a:off x="2428432" y="1481328"/>
            <a:ext cx="7334830" cy="4526280"/>
          </a:xfrm>
          <a:prstGeom prst="rect">
            <a:avLst/>
          </a:prstGeom>
        </p:spPr>
      </p:pic>
      <p:sp>
        <p:nvSpPr>
          <p:cNvPr id="7" name="TextBox 6"/>
          <p:cNvSpPr txBox="1"/>
          <p:nvPr/>
        </p:nvSpPr>
        <p:spPr>
          <a:xfrm>
            <a:off x="658368" y="6126480"/>
            <a:ext cx="10881360" cy="232949"/>
          </a:xfrm>
          <a:prstGeom prst="rect">
            <a:avLst/>
          </a:prstGeom>
          <a:noFill/>
        </p:spPr>
        <p:txBody>
          <a:bodyPr wrap="square" lIns="25400" tIns="25400" rIns="25400" bIns="25400" anchor="t">
            <a:spAutoFit/>
          </a:bodyPr>
          <a:lstStyle/>
          <a:p>
            <a:pPr algn="ctr">
              <a:lnSpc>
                <a:spcPct val="106000"/>
              </a:lnSpc>
              <a:spcBef>
                <a:spcPts val="0"/>
              </a:spcBef>
              <a:spcAft>
                <a:spcPts val="0"/>
              </a:spcAft>
            </a:pPr>
            <a:r>
              <a:rPr sz="1200" b="0" i="1" dirty="0">
                <a:solidFill>
                  <a:schemeClr val="bg1"/>
                </a:solidFill>
                <a:latin typeface="Segoe UI"/>
              </a:rPr>
              <a:t>Internet -&gt; Load Balancer -&gt; AKS (Pods) -&gt; Azure SQL via Private Endpoint. ACR </a:t>
            </a:r>
            <a:r>
              <a:rPr sz="1200" b="0" i="1" dirty="0" err="1">
                <a:solidFill>
                  <a:schemeClr val="bg1"/>
                </a:solidFill>
                <a:latin typeface="Segoe UI"/>
              </a:rPr>
              <a:t>alimenta</a:t>
            </a:r>
            <a:r>
              <a:rPr sz="1200" b="0" i="1" dirty="0">
                <a:solidFill>
                  <a:schemeClr val="bg1"/>
                </a:solidFill>
                <a:latin typeface="Segoe UI"/>
              </a:rPr>
              <a:t> o cluster.</a:t>
            </a:r>
          </a:p>
        </p:txBody>
      </p:sp>
      <p:sp>
        <p:nvSpPr>
          <p:cNvPr id="8" name="Rectangle 7"/>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
        <p:nvSpPr>
          <p:cNvPr id="10" name="TextBox 9"/>
          <p:cNvSpPr txBox="1"/>
          <p:nvPr/>
        </p:nvSpPr>
        <p:spPr>
          <a:xfrm>
            <a:off x="11155680" y="6565392"/>
            <a:ext cx="822960" cy="292608"/>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900" b="0" i="0">
                <a:solidFill>
                  <a:srgbClr val="9AA7BD"/>
                </a:solidFill>
                <a:latin typeface="Segoe UI"/>
              </a:rPr>
              <a:t>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182A"/>
        </a:solidFill>
        <a:effectLst/>
      </p:bgPr>
    </p:bg>
    <p:spTree>
      <p:nvGrpSpPr>
        <p:cNvPr id="1" name=""/>
        <p:cNvGrpSpPr/>
        <p:nvPr/>
      </p:nvGrpSpPr>
      <p:grpSpPr>
        <a:xfrm>
          <a:off x="0" y="0"/>
          <a:ext cx="0" cy="0"/>
          <a:chOff x="0" y="0"/>
          <a:chExt cx="0" cy="0"/>
        </a:xfrm>
      </p:grpSpPr>
      <p:sp>
        <p:nvSpPr>
          <p:cNvPr id="2" name="Rounded Rectangle 1"/>
          <p:cNvSpPr/>
          <p:nvPr/>
        </p:nvSpPr>
        <p:spPr>
          <a:xfrm>
            <a:off x="822960" y="2011680"/>
            <a:ext cx="2011680" cy="2011680"/>
          </a:xfrm>
          <a:prstGeom prst="roundRect">
            <a:avLst>
              <a:gd name="adj" fmla="val 6000"/>
            </a:avLst>
          </a:prstGeom>
          <a:noFill/>
          <a:ln w="25400">
            <a:solidFill>
              <a:srgbClr val="2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431750"/>
            <a:ext cx="2011680" cy="1171539"/>
          </a:xfrm>
          <a:prstGeom prst="rect">
            <a:avLst/>
          </a:prstGeom>
          <a:noFill/>
        </p:spPr>
        <p:txBody>
          <a:bodyPr wrap="square" lIns="25400" tIns="25400" rIns="25400" bIns="25400" anchor="ctr">
            <a:spAutoFit/>
          </a:bodyPr>
          <a:lstStyle/>
          <a:p>
            <a:pPr algn="ctr">
              <a:lnSpc>
                <a:spcPct val="106000"/>
              </a:lnSpc>
              <a:spcBef>
                <a:spcPts val="0"/>
              </a:spcBef>
              <a:spcAft>
                <a:spcPts val="0"/>
              </a:spcAft>
            </a:pPr>
            <a:r>
              <a:rPr lang="pt-BR" sz="7400" b="1" dirty="0">
                <a:solidFill>
                  <a:srgbClr val="2E8BFF"/>
                </a:solidFill>
                <a:latin typeface="Segoe UI"/>
              </a:rPr>
              <a:t>10</a:t>
            </a:r>
            <a:endParaRPr sz="7400" b="1" i="0" dirty="0">
              <a:solidFill>
                <a:srgbClr val="2E8BFF"/>
              </a:solidFill>
              <a:latin typeface="Segoe UI"/>
            </a:endParaRPr>
          </a:p>
        </p:txBody>
      </p:sp>
      <p:sp>
        <p:nvSpPr>
          <p:cNvPr id="4" name="TextBox 3"/>
          <p:cNvSpPr txBox="1"/>
          <p:nvPr/>
        </p:nvSpPr>
        <p:spPr>
          <a:xfrm>
            <a:off x="3200400" y="2286000"/>
            <a:ext cx="8229600" cy="1280160"/>
          </a:xfrm>
          <a:prstGeom prst="rect">
            <a:avLst/>
          </a:prstGeom>
          <a:noFill/>
        </p:spPr>
        <p:txBody>
          <a:bodyPr wrap="square" lIns="25400" tIns="25400" rIns="25400" bIns="25400" anchor="t">
            <a:spAutoFit/>
          </a:bodyPr>
          <a:lstStyle/>
          <a:p>
            <a:pPr algn="l">
              <a:lnSpc>
                <a:spcPct val="100000"/>
              </a:lnSpc>
              <a:spcBef>
                <a:spcPts val="0"/>
              </a:spcBef>
              <a:spcAft>
                <a:spcPts val="0"/>
              </a:spcAft>
            </a:pPr>
            <a:r>
              <a:rPr sz="3800" b="1" i="0">
                <a:solidFill>
                  <a:srgbClr val="FFFFFF"/>
                </a:solidFill>
                <a:latin typeface="Segoe UI"/>
              </a:rPr>
              <a:t>Resiliência &amp; Escalabilidade</a:t>
            </a:r>
          </a:p>
        </p:txBody>
      </p:sp>
      <p:sp>
        <p:nvSpPr>
          <p:cNvPr id="5" name="Rectangle 4"/>
          <p:cNvSpPr/>
          <p:nvPr/>
        </p:nvSpPr>
        <p:spPr>
          <a:xfrm>
            <a:off x="3246120" y="3611880"/>
            <a:ext cx="2743200" cy="45720"/>
          </a:xfrm>
          <a:prstGeom prst="rect">
            <a:avLst/>
          </a:prstGeom>
          <a:solidFill>
            <a:srgbClr val="2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46120" y="3794760"/>
            <a:ext cx="8138160" cy="308674"/>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700" b="0" i="0" dirty="0">
                <a:solidFill>
                  <a:srgbClr val="9AA7BD"/>
                </a:solidFill>
                <a:latin typeface="Segoe UI"/>
              </a:rPr>
              <a:t>Ver o Kubernetes </a:t>
            </a:r>
            <a:r>
              <a:rPr sz="1700" b="0" i="0" dirty="0" err="1">
                <a:solidFill>
                  <a:srgbClr val="9AA7BD"/>
                </a:solidFill>
                <a:latin typeface="Segoe UI"/>
              </a:rPr>
              <a:t>funcionando</a:t>
            </a:r>
            <a:r>
              <a:rPr sz="1700" b="0" i="0" dirty="0">
                <a:solidFill>
                  <a:srgbClr val="9AA7BD"/>
                </a:solidFill>
                <a:latin typeface="Segoe UI"/>
              </a:rPr>
              <a:t>: </a:t>
            </a:r>
            <a:r>
              <a:rPr sz="1700" b="0" i="0" dirty="0" err="1">
                <a:solidFill>
                  <a:srgbClr val="9AA7BD"/>
                </a:solidFill>
                <a:latin typeface="Segoe UI"/>
              </a:rPr>
              <a:t>matar</a:t>
            </a:r>
            <a:r>
              <a:rPr sz="1700" b="0" i="0" dirty="0">
                <a:solidFill>
                  <a:srgbClr val="9AA7BD"/>
                </a:solidFill>
                <a:latin typeface="Segoe UI"/>
              </a:rPr>
              <a:t> Pod, </a:t>
            </a:r>
            <a:r>
              <a:rPr sz="1700" b="0" i="0" dirty="0" err="1">
                <a:solidFill>
                  <a:srgbClr val="9AA7BD"/>
                </a:solidFill>
                <a:latin typeface="Segoe UI"/>
              </a:rPr>
              <a:t>recriação</a:t>
            </a:r>
            <a:r>
              <a:rPr sz="1700" b="0" i="0" dirty="0">
                <a:solidFill>
                  <a:srgbClr val="9AA7BD"/>
                </a:solidFill>
                <a:latin typeface="Segoe UI"/>
              </a:rPr>
              <a:t> </a:t>
            </a:r>
            <a:r>
              <a:rPr sz="1700" b="0" i="0" dirty="0" err="1">
                <a:solidFill>
                  <a:srgbClr val="9AA7BD"/>
                </a:solidFill>
                <a:latin typeface="Segoe UI"/>
              </a:rPr>
              <a:t>automática</a:t>
            </a:r>
            <a:r>
              <a:rPr sz="1700" b="0" i="0" dirty="0">
                <a:solidFill>
                  <a:srgbClr val="9AA7BD"/>
                </a:solidFill>
                <a:latin typeface="Segoe UI"/>
              </a:rPr>
              <a:t>, </a:t>
            </a:r>
            <a:r>
              <a:rPr sz="1700" b="0" i="0" dirty="0" err="1">
                <a:solidFill>
                  <a:srgbClr val="9AA7BD"/>
                </a:solidFill>
                <a:latin typeface="Segoe UI"/>
              </a:rPr>
              <a:t>réplicas</a:t>
            </a:r>
            <a:r>
              <a:rPr sz="1700" b="0" i="0" dirty="0">
                <a:solidFill>
                  <a:srgbClr val="9AA7BD"/>
                </a:solidFill>
                <a:latin typeface="Segoe UI"/>
              </a:rPr>
              <a:t> e </a:t>
            </a:r>
            <a:r>
              <a:rPr lang="pt-BR" sz="1700" b="0" i="0" dirty="0">
                <a:solidFill>
                  <a:srgbClr val="9AA7BD"/>
                </a:solidFill>
                <a:latin typeface="Segoe UI"/>
              </a:rPr>
              <a:t>S</a:t>
            </a:r>
            <a:r>
              <a:rPr sz="1700" b="0" i="0" dirty="0" err="1">
                <a:solidFill>
                  <a:srgbClr val="9AA7BD"/>
                </a:solidFill>
                <a:latin typeface="Segoe UI"/>
              </a:rPr>
              <a:t>caling</a:t>
            </a:r>
            <a:r>
              <a:rPr sz="1700" b="0" i="0" dirty="0">
                <a:solidFill>
                  <a:srgbClr val="9AA7BD"/>
                </a:solidFill>
                <a:latin typeface="Segoe UI"/>
              </a:rPr>
              <a:t>.</a:t>
            </a:r>
          </a:p>
        </p:txBody>
      </p:sp>
      <p:sp>
        <p:nvSpPr>
          <p:cNvPr id="7" name="Rectangle 6"/>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457200" y="457200"/>
            <a:ext cx="109728" cy="640080"/>
          </a:xfrm>
          <a:prstGeom prst="rect">
            <a:avLst/>
          </a:prstGeom>
          <a:solidFill>
            <a:srgbClr val="2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02336"/>
            <a:ext cx="10789920" cy="27432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200" b="1" i="0">
                <a:solidFill>
                  <a:srgbClr val="2E8BFF"/>
                </a:solidFill>
                <a:latin typeface="Segoe UI"/>
              </a:rPr>
              <a:t>LAB 08 · RESILIÊNCIA</a:t>
            </a:r>
          </a:p>
        </p:txBody>
      </p:sp>
      <p:sp>
        <p:nvSpPr>
          <p:cNvPr id="4" name="TextBox 3"/>
          <p:cNvSpPr txBox="1"/>
          <p:nvPr/>
        </p:nvSpPr>
        <p:spPr>
          <a:xfrm>
            <a:off x="658368" y="658368"/>
            <a:ext cx="8229600" cy="54864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2600" b="1" i="0">
                <a:solidFill>
                  <a:srgbClr val="FFFFFF"/>
                </a:solidFill>
                <a:latin typeface="Segoe UI"/>
              </a:rPr>
              <a:t>Auto-recuperação e Escala no AKS</a:t>
            </a:r>
          </a:p>
        </p:txBody>
      </p:sp>
      <p:sp>
        <p:nvSpPr>
          <p:cNvPr id="5" name="TextBox 4"/>
          <p:cNvSpPr txBox="1"/>
          <p:nvPr/>
        </p:nvSpPr>
        <p:spPr>
          <a:xfrm>
            <a:off x="676656" y="1170432"/>
            <a:ext cx="10881360" cy="32004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350" b="0" i="1">
                <a:solidFill>
                  <a:srgbClr val="9AA7BD"/>
                </a:solidFill>
                <a:latin typeface="Segoe UI"/>
              </a:rPr>
              <a:t>Por que Kubernetes muda o jogo operacional</a:t>
            </a:r>
          </a:p>
        </p:txBody>
      </p:sp>
      <p:sp>
        <p:nvSpPr>
          <p:cNvPr id="6" name="Rounded Rectangle 5"/>
          <p:cNvSpPr/>
          <p:nvPr/>
        </p:nvSpPr>
        <p:spPr>
          <a:xfrm>
            <a:off x="457200" y="1572768"/>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1572768"/>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572768"/>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2E8BFF"/>
                </a:solidFill>
                <a:latin typeface="Segoe UI"/>
              </a:rPr>
              <a:t>■  O QUE É</a:t>
            </a:r>
          </a:p>
        </p:txBody>
      </p:sp>
      <p:sp>
        <p:nvSpPr>
          <p:cNvPr id="9" name="TextBox 8"/>
          <p:cNvSpPr txBox="1"/>
          <p:nvPr/>
        </p:nvSpPr>
        <p:spPr>
          <a:xfrm>
            <a:off x="640080" y="2029967"/>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2E8BFF"/>
                </a:solidFill>
                <a:latin typeface="Segoe UI"/>
              </a:rPr>
              <a:t>— </a:t>
            </a:r>
            <a:r>
              <a:rPr sz="1200">
                <a:solidFill>
                  <a:srgbClr val="FFFFFF"/>
                </a:solidFill>
                <a:latin typeface="Segoe UI"/>
              </a:rPr>
              <a:t>Self-healing: se um Pod cai, o Deployment recria automaticamente.</a:t>
            </a:r>
          </a:p>
          <a:p>
            <a:pPr>
              <a:lnSpc>
                <a:spcPct val="104000"/>
              </a:lnSpc>
              <a:spcBef>
                <a:spcPts val="0"/>
              </a:spcBef>
              <a:spcAft>
                <a:spcPts val="400"/>
              </a:spcAft>
            </a:pPr>
            <a:r>
              <a:rPr sz="1200" b="0">
                <a:solidFill>
                  <a:srgbClr val="2E8BFF"/>
                </a:solidFill>
                <a:latin typeface="Segoe UI"/>
              </a:rPr>
              <a:t>— </a:t>
            </a:r>
            <a:r>
              <a:rPr sz="1200">
                <a:solidFill>
                  <a:srgbClr val="FFFFFF"/>
                </a:solidFill>
                <a:latin typeface="Segoe UI"/>
              </a:rPr>
              <a:t>Réplicas: várias instâncias distribuem carga e aumentam disponibilidade.</a:t>
            </a:r>
          </a:p>
          <a:p>
            <a:pPr>
              <a:lnSpc>
                <a:spcPct val="104000"/>
              </a:lnSpc>
              <a:spcBef>
                <a:spcPts val="0"/>
              </a:spcBef>
              <a:spcAft>
                <a:spcPts val="400"/>
              </a:spcAft>
            </a:pPr>
            <a:r>
              <a:rPr sz="1200" b="0">
                <a:solidFill>
                  <a:srgbClr val="2E8BFF"/>
                </a:solidFill>
                <a:latin typeface="Segoe UI"/>
              </a:rPr>
              <a:t>— </a:t>
            </a:r>
            <a:r>
              <a:rPr sz="1200">
                <a:solidFill>
                  <a:srgbClr val="FFFFFF"/>
                </a:solidFill>
                <a:latin typeface="Segoe UI"/>
              </a:rPr>
              <a:t>Scaling: ajustar réplicas conforme a demanda.</a:t>
            </a:r>
          </a:p>
        </p:txBody>
      </p:sp>
      <p:sp>
        <p:nvSpPr>
          <p:cNvPr id="10" name="Rounded Rectangle 9"/>
          <p:cNvSpPr/>
          <p:nvPr/>
        </p:nvSpPr>
        <p:spPr>
          <a:xfrm>
            <a:off x="6217920" y="1572768"/>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217920" y="1572768"/>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82512" y="1572768"/>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22C3A6"/>
                </a:solidFill>
                <a:latin typeface="Segoe UI"/>
              </a:rPr>
              <a:t>⚙  COMO FUNCIONA</a:t>
            </a:r>
          </a:p>
        </p:txBody>
      </p:sp>
      <p:sp>
        <p:nvSpPr>
          <p:cNvPr id="13" name="TextBox 12"/>
          <p:cNvSpPr txBox="1"/>
          <p:nvPr/>
        </p:nvSpPr>
        <p:spPr>
          <a:xfrm>
            <a:off x="6400800" y="2029967"/>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22C3A6"/>
                </a:solidFill>
                <a:latin typeface="Segoe UI"/>
              </a:rPr>
              <a:t>— </a:t>
            </a:r>
            <a:r>
              <a:rPr sz="1200">
                <a:solidFill>
                  <a:srgbClr val="FFFFFF"/>
                </a:solidFill>
                <a:latin typeface="Segoe UI"/>
              </a:rPr>
              <a:t>Matamos um Pod -&gt; o cluster recria sozinho (sem intervenção).</a:t>
            </a:r>
          </a:p>
          <a:p>
            <a:pPr>
              <a:lnSpc>
                <a:spcPct val="104000"/>
              </a:lnSpc>
              <a:spcBef>
                <a:spcPts val="0"/>
              </a:spcBef>
              <a:spcAft>
                <a:spcPts val="400"/>
              </a:spcAft>
            </a:pPr>
            <a:r>
              <a:rPr sz="1200" b="0">
                <a:solidFill>
                  <a:srgbClr val="22C3A6"/>
                </a:solidFill>
                <a:latin typeface="Segoe UI"/>
              </a:rPr>
              <a:t>— </a:t>
            </a:r>
            <a:r>
              <a:rPr sz="1200">
                <a:solidFill>
                  <a:srgbClr val="FFFFFF"/>
                </a:solidFill>
                <a:latin typeface="Segoe UI"/>
              </a:rPr>
              <a:t>Aumentamos réplicas -&gt; mais capacidade em segundos.</a:t>
            </a:r>
          </a:p>
          <a:p>
            <a:pPr>
              <a:lnSpc>
                <a:spcPct val="104000"/>
              </a:lnSpc>
              <a:spcBef>
                <a:spcPts val="0"/>
              </a:spcBef>
              <a:spcAft>
                <a:spcPts val="400"/>
              </a:spcAft>
            </a:pPr>
            <a:r>
              <a:rPr sz="1200" b="0">
                <a:solidFill>
                  <a:srgbClr val="22C3A6"/>
                </a:solidFill>
                <a:latin typeface="Segoe UI"/>
              </a:rPr>
              <a:t>— </a:t>
            </a:r>
            <a:r>
              <a:rPr sz="1200">
                <a:solidFill>
                  <a:srgbClr val="FFFFFF"/>
                </a:solidFill>
                <a:latin typeface="Segoe UI"/>
              </a:rPr>
              <a:t>Rolling update: nova versão sem downtime.</a:t>
            </a:r>
          </a:p>
        </p:txBody>
      </p:sp>
      <p:sp>
        <p:nvSpPr>
          <p:cNvPr id="14" name="Rounded Rectangle 13"/>
          <p:cNvSpPr/>
          <p:nvPr/>
        </p:nvSpPr>
        <p:spPr>
          <a:xfrm>
            <a:off x="457200" y="3886200"/>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57200" y="3886200"/>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 y="3886200"/>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F5B301"/>
                </a:solidFill>
                <a:latin typeface="Segoe UI"/>
              </a:rPr>
              <a:t>⚖  TRADE-OFFS &amp; DECISÃO</a:t>
            </a:r>
          </a:p>
        </p:txBody>
      </p:sp>
      <p:sp>
        <p:nvSpPr>
          <p:cNvPr id="17" name="TextBox 16"/>
          <p:cNvSpPr txBox="1"/>
          <p:nvPr/>
        </p:nvSpPr>
        <p:spPr>
          <a:xfrm>
            <a:off x="640080" y="4343400"/>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F5B301"/>
                </a:solidFill>
                <a:latin typeface="Segoe UI"/>
              </a:rPr>
              <a:t>— </a:t>
            </a:r>
            <a:r>
              <a:rPr sz="1200">
                <a:solidFill>
                  <a:srgbClr val="FFFFFF"/>
                </a:solidFill>
                <a:latin typeface="Segoe UI"/>
              </a:rPr>
              <a:t>Escala manual x automática (HPA): controle vs. elasticidade.</a:t>
            </a:r>
          </a:p>
          <a:p>
            <a:pPr>
              <a:lnSpc>
                <a:spcPct val="104000"/>
              </a:lnSpc>
              <a:spcBef>
                <a:spcPts val="0"/>
              </a:spcBef>
              <a:spcAft>
                <a:spcPts val="400"/>
              </a:spcAft>
            </a:pPr>
            <a:r>
              <a:rPr sz="1200" b="0">
                <a:solidFill>
                  <a:srgbClr val="F5B301"/>
                </a:solidFill>
                <a:latin typeface="Segoe UI"/>
              </a:rPr>
              <a:t>— </a:t>
            </a:r>
            <a:r>
              <a:rPr sz="1200">
                <a:solidFill>
                  <a:srgbClr val="FFFFFF"/>
                </a:solidFill>
                <a:latin typeface="Segoe UI"/>
              </a:rPr>
              <a:t>Mais réplicas x custo: disponibilidade tem preço.</a:t>
            </a:r>
          </a:p>
          <a:p>
            <a:pPr>
              <a:lnSpc>
                <a:spcPct val="104000"/>
              </a:lnSpc>
              <a:spcBef>
                <a:spcPts val="0"/>
              </a:spcBef>
              <a:spcAft>
                <a:spcPts val="400"/>
              </a:spcAft>
            </a:pPr>
            <a:r>
              <a:rPr sz="1200" b="0">
                <a:solidFill>
                  <a:srgbClr val="F5B301"/>
                </a:solidFill>
                <a:latin typeface="Segoe UI"/>
              </a:rPr>
              <a:t>— </a:t>
            </a:r>
            <a:r>
              <a:rPr sz="1200">
                <a:solidFill>
                  <a:srgbClr val="FFFFFF"/>
                </a:solidFill>
                <a:latin typeface="Segoe UI"/>
              </a:rPr>
              <a:t>Decisão: dimensionar por SLA e padrão de tráfego, não por 'achismo'.</a:t>
            </a:r>
          </a:p>
        </p:txBody>
      </p:sp>
      <p:sp>
        <p:nvSpPr>
          <p:cNvPr id="18" name="Rounded Rectangle 17"/>
          <p:cNvSpPr/>
          <p:nvPr/>
        </p:nvSpPr>
        <p:spPr>
          <a:xfrm>
            <a:off x="6217920" y="3886200"/>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217920" y="3886200"/>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82512" y="3886200"/>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3DD68C"/>
                </a:solidFill>
                <a:latin typeface="Segoe UI"/>
              </a:rPr>
              <a:t>✓  BOAS PRÁTICAS DE ARQUITETURA</a:t>
            </a:r>
          </a:p>
        </p:txBody>
      </p:sp>
      <p:sp>
        <p:nvSpPr>
          <p:cNvPr id="21" name="TextBox 20"/>
          <p:cNvSpPr txBox="1"/>
          <p:nvPr/>
        </p:nvSpPr>
        <p:spPr>
          <a:xfrm>
            <a:off x="6400800" y="4343400"/>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3DD68C"/>
                </a:solidFill>
                <a:latin typeface="Segoe UI"/>
              </a:rPr>
              <a:t>— </a:t>
            </a:r>
            <a:r>
              <a:rPr sz="1200">
                <a:solidFill>
                  <a:srgbClr val="FFFFFF"/>
                </a:solidFill>
                <a:latin typeface="Segoe UI"/>
              </a:rPr>
              <a:t>Defina probes (liveness/readiness) corretas.</a:t>
            </a:r>
          </a:p>
          <a:p>
            <a:pPr>
              <a:lnSpc>
                <a:spcPct val="104000"/>
              </a:lnSpc>
              <a:spcBef>
                <a:spcPts val="0"/>
              </a:spcBef>
              <a:spcAft>
                <a:spcPts val="400"/>
              </a:spcAft>
            </a:pPr>
            <a:r>
              <a:rPr sz="1200" b="0">
                <a:solidFill>
                  <a:srgbClr val="3DD68C"/>
                </a:solidFill>
                <a:latin typeface="Segoe UI"/>
              </a:rPr>
              <a:t>— </a:t>
            </a:r>
            <a:r>
              <a:rPr sz="1200">
                <a:solidFill>
                  <a:srgbClr val="FFFFFF"/>
                </a:solidFill>
                <a:latin typeface="Segoe UI"/>
              </a:rPr>
              <a:t>Use HPA para picos previsíveis.</a:t>
            </a:r>
          </a:p>
          <a:p>
            <a:pPr>
              <a:lnSpc>
                <a:spcPct val="104000"/>
              </a:lnSpc>
              <a:spcBef>
                <a:spcPts val="0"/>
              </a:spcBef>
              <a:spcAft>
                <a:spcPts val="400"/>
              </a:spcAft>
            </a:pPr>
            <a:r>
              <a:rPr sz="1200" b="0">
                <a:solidFill>
                  <a:srgbClr val="3DD68C"/>
                </a:solidFill>
                <a:latin typeface="Segoe UI"/>
              </a:rPr>
              <a:t>— </a:t>
            </a:r>
            <a:r>
              <a:rPr sz="1200">
                <a:solidFill>
                  <a:srgbClr val="FFFFFF"/>
                </a:solidFill>
                <a:latin typeface="Segoe UI"/>
              </a:rPr>
              <a:t>Teste caos: mate Pods de propósito.</a:t>
            </a:r>
          </a:p>
        </p:txBody>
      </p:sp>
      <p:sp>
        <p:nvSpPr>
          <p:cNvPr id="22" name="Rounded Rectangle 21"/>
          <p:cNvSpPr/>
          <p:nvPr/>
        </p:nvSpPr>
        <p:spPr>
          <a:xfrm>
            <a:off x="457200" y="6080759"/>
            <a:ext cx="11274552" cy="457200"/>
          </a:xfrm>
          <a:prstGeom prst="roundRect">
            <a:avLst>
              <a:gd name="adj" fmla="val 6000"/>
            </a:avLst>
          </a:prstGeom>
          <a:solidFill>
            <a:srgbClr val="1D2A4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6080759"/>
            <a:ext cx="2011680" cy="457200"/>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150" b="1" i="0">
                <a:solidFill>
                  <a:srgbClr val="F5B301"/>
                </a:solidFill>
                <a:latin typeface="Segoe UI"/>
              </a:rPr>
              <a:t>💲 CUSTO (leve)</a:t>
            </a:r>
          </a:p>
        </p:txBody>
      </p:sp>
      <p:sp>
        <p:nvSpPr>
          <p:cNvPr id="24" name="TextBox 23"/>
          <p:cNvSpPr txBox="1"/>
          <p:nvPr/>
        </p:nvSpPr>
        <p:spPr>
          <a:xfrm>
            <a:off x="2468880" y="6080759"/>
            <a:ext cx="9144000" cy="457200"/>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150" b="0" i="0">
                <a:solidFill>
                  <a:srgbClr val="9AA7BD"/>
                </a:solidFill>
                <a:latin typeface="Segoe UI"/>
              </a:rPr>
              <a:t>Custo escala com o número de nodes/réplicas. Elasticidade bem configurada paga só pelo que usa.</a:t>
            </a:r>
          </a:p>
        </p:txBody>
      </p:sp>
      <p:sp>
        <p:nvSpPr>
          <p:cNvPr id="25" name="Rectangle 24"/>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
        <p:nvSpPr>
          <p:cNvPr id="27" name="TextBox 26"/>
          <p:cNvSpPr txBox="1"/>
          <p:nvPr/>
        </p:nvSpPr>
        <p:spPr>
          <a:xfrm>
            <a:off x="11155680" y="6565392"/>
            <a:ext cx="822960" cy="292608"/>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900" b="0" i="0">
                <a:solidFill>
                  <a:srgbClr val="9AA7BD"/>
                </a:solidFill>
                <a:latin typeface="Segoe UI"/>
              </a:rPr>
              <a:t>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182A"/>
        </a:solidFill>
        <a:effectLst/>
      </p:bgPr>
    </p:bg>
    <p:spTree>
      <p:nvGrpSpPr>
        <p:cNvPr id="1" name=""/>
        <p:cNvGrpSpPr/>
        <p:nvPr/>
      </p:nvGrpSpPr>
      <p:grpSpPr>
        <a:xfrm>
          <a:off x="0" y="0"/>
          <a:ext cx="0" cy="0"/>
          <a:chOff x="0" y="0"/>
          <a:chExt cx="0" cy="0"/>
        </a:xfrm>
      </p:grpSpPr>
      <p:sp>
        <p:nvSpPr>
          <p:cNvPr id="2" name="TextBox 1"/>
          <p:cNvSpPr txBox="1"/>
          <p:nvPr/>
        </p:nvSpPr>
        <p:spPr>
          <a:xfrm>
            <a:off x="914400" y="1920240"/>
            <a:ext cx="10332720" cy="45720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500" b="1" i="0">
                <a:solidFill>
                  <a:srgbClr val="F5B301"/>
                </a:solidFill>
                <a:latin typeface="Segoe UI"/>
              </a:rPr>
              <a:t>A PERGUNTA QUE JUSTIFICA O AKS</a:t>
            </a:r>
          </a:p>
        </p:txBody>
      </p:sp>
      <p:sp>
        <p:nvSpPr>
          <p:cNvPr id="3" name="TextBox 2"/>
          <p:cNvSpPr txBox="1"/>
          <p:nvPr/>
        </p:nvSpPr>
        <p:spPr>
          <a:xfrm>
            <a:off x="914400" y="2377440"/>
            <a:ext cx="10332720" cy="1277016"/>
          </a:xfrm>
          <a:prstGeom prst="rect">
            <a:avLst/>
          </a:prstGeom>
          <a:noFill/>
        </p:spPr>
        <p:txBody>
          <a:bodyPr wrap="square" lIns="25400" tIns="25400" rIns="25400" bIns="25400" anchor="t">
            <a:spAutoFit/>
          </a:bodyPr>
          <a:lstStyle/>
          <a:p>
            <a:pPr algn="l">
              <a:lnSpc>
                <a:spcPct val="103000"/>
              </a:lnSpc>
              <a:spcBef>
                <a:spcPts val="0"/>
              </a:spcBef>
              <a:spcAft>
                <a:spcPts val="0"/>
              </a:spcAft>
            </a:pPr>
            <a:r>
              <a:rPr sz="4000" b="1" i="0" dirty="0">
                <a:solidFill>
                  <a:srgbClr val="FFFFFF"/>
                </a:solidFill>
                <a:latin typeface="Segoe UI"/>
              </a:rPr>
              <a:t>E se, </a:t>
            </a:r>
            <a:r>
              <a:rPr sz="4000" b="1" i="0" dirty="0" err="1">
                <a:solidFill>
                  <a:srgbClr val="FFFFFF"/>
                </a:solidFill>
                <a:latin typeface="Segoe UI"/>
              </a:rPr>
              <a:t>amanhã</a:t>
            </a:r>
            <a:r>
              <a:rPr sz="4000" b="1" i="0" dirty="0">
                <a:solidFill>
                  <a:srgbClr val="FFFFFF"/>
                </a:solidFill>
                <a:latin typeface="Segoe UI"/>
              </a:rPr>
              <a:t>, a </a:t>
            </a:r>
            <a:r>
              <a:rPr lang="pt-BR" sz="4000" b="1" i="0" dirty="0">
                <a:solidFill>
                  <a:srgbClr val="FFFFFF"/>
                </a:solidFill>
                <a:latin typeface="Segoe UI"/>
              </a:rPr>
              <a:t>Azure Shop</a:t>
            </a:r>
            <a:r>
              <a:rPr sz="4000" b="1" i="0" dirty="0">
                <a:solidFill>
                  <a:srgbClr val="FFFFFF"/>
                </a:solidFill>
                <a:latin typeface="Segoe UI"/>
              </a:rPr>
              <a:t> Store </a:t>
            </a:r>
            <a:r>
              <a:rPr sz="4000" b="1" i="0" dirty="0" err="1">
                <a:solidFill>
                  <a:srgbClr val="FFFFFF"/>
                </a:solidFill>
                <a:latin typeface="Segoe UI"/>
              </a:rPr>
              <a:t>receber</a:t>
            </a:r>
            <a:r>
              <a:rPr sz="4000" b="1" i="0" dirty="0">
                <a:solidFill>
                  <a:srgbClr val="FFFFFF"/>
                </a:solidFill>
                <a:latin typeface="Segoe UI"/>
              </a:rPr>
              <a:t> 10x </a:t>
            </a:r>
            <a:r>
              <a:rPr sz="4000" b="1" i="0" dirty="0" err="1">
                <a:solidFill>
                  <a:srgbClr val="FFFFFF"/>
                </a:solidFill>
                <a:latin typeface="Segoe UI"/>
              </a:rPr>
              <a:t>mais</a:t>
            </a:r>
            <a:r>
              <a:rPr sz="4000" b="1" i="0" dirty="0">
                <a:solidFill>
                  <a:srgbClr val="FFFFFF"/>
                </a:solidFill>
                <a:latin typeface="Segoe UI"/>
              </a:rPr>
              <a:t> </a:t>
            </a:r>
            <a:r>
              <a:rPr sz="4000" b="1" i="0" dirty="0" err="1">
                <a:solidFill>
                  <a:srgbClr val="FFFFFF"/>
                </a:solidFill>
                <a:latin typeface="Segoe UI"/>
              </a:rPr>
              <a:t>usuários</a:t>
            </a:r>
            <a:r>
              <a:rPr sz="4000" b="1" i="0" dirty="0">
                <a:solidFill>
                  <a:srgbClr val="FFFFFF"/>
                </a:solidFill>
                <a:latin typeface="Segoe UI"/>
              </a:rPr>
              <a:t>?</a:t>
            </a:r>
          </a:p>
        </p:txBody>
      </p:sp>
      <p:sp>
        <p:nvSpPr>
          <p:cNvPr id="4" name="TextBox 3"/>
          <p:cNvSpPr txBox="1"/>
          <p:nvPr/>
        </p:nvSpPr>
        <p:spPr>
          <a:xfrm>
            <a:off x="932688" y="4754880"/>
            <a:ext cx="10332720" cy="109728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700" b="0" i="0">
                <a:solidFill>
                  <a:srgbClr val="9AA7BD"/>
                </a:solidFill>
                <a:latin typeface="Segoe UI"/>
              </a:rPr>
              <a:t>Com AKS, a resposta é configuração — não pânico. Escala, resiliência e deploy sem downtime.</a:t>
            </a:r>
          </a:p>
        </p:txBody>
      </p:sp>
      <p:sp>
        <p:nvSpPr>
          <p:cNvPr id="5" name="Rectangle 4"/>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182A"/>
        </a:solidFill>
        <a:effectLst/>
      </p:bgPr>
    </p:bg>
    <p:spTree>
      <p:nvGrpSpPr>
        <p:cNvPr id="1" name=""/>
        <p:cNvGrpSpPr/>
        <p:nvPr/>
      </p:nvGrpSpPr>
      <p:grpSpPr>
        <a:xfrm>
          <a:off x="0" y="0"/>
          <a:ext cx="0" cy="0"/>
          <a:chOff x="0" y="0"/>
          <a:chExt cx="0" cy="0"/>
        </a:xfrm>
      </p:grpSpPr>
      <p:sp>
        <p:nvSpPr>
          <p:cNvPr id="2" name="Rounded Rectangle 1"/>
          <p:cNvSpPr/>
          <p:nvPr/>
        </p:nvSpPr>
        <p:spPr>
          <a:xfrm>
            <a:off x="822960" y="2011680"/>
            <a:ext cx="2011680" cy="2011680"/>
          </a:xfrm>
          <a:prstGeom prst="roundRect">
            <a:avLst>
              <a:gd name="adj" fmla="val 6000"/>
            </a:avLst>
          </a:prstGeom>
          <a:noFill/>
          <a:ln w="25400">
            <a:solidFill>
              <a:srgbClr val="9B8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431750"/>
            <a:ext cx="2011680" cy="1171539"/>
          </a:xfrm>
          <a:prstGeom prst="rect">
            <a:avLst/>
          </a:prstGeom>
          <a:noFill/>
        </p:spPr>
        <p:txBody>
          <a:bodyPr wrap="square" lIns="25400" tIns="25400" rIns="25400" bIns="25400" anchor="ctr">
            <a:spAutoFit/>
          </a:bodyPr>
          <a:lstStyle/>
          <a:p>
            <a:pPr algn="ctr">
              <a:lnSpc>
                <a:spcPct val="106000"/>
              </a:lnSpc>
              <a:spcBef>
                <a:spcPts val="0"/>
              </a:spcBef>
              <a:spcAft>
                <a:spcPts val="0"/>
              </a:spcAft>
            </a:pPr>
            <a:r>
              <a:rPr lang="pt-BR" sz="7400" b="1" dirty="0">
                <a:solidFill>
                  <a:srgbClr val="9B8CFF"/>
                </a:solidFill>
                <a:latin typeface="Segoe UI"/>
              </a:rPr>
              <a:t>10</a:t>
            </a:r>
            <a:endParaRPr sz="7400" b="1" i="0" dirty="0">
              <a:solidFill>
                <a:srgbClr val="9B8CFF"/>
              </a:solidFill>
              <a:latin typeface="Segoe UI"/>
            </a:endParaRPr>
          </a:p>
        </p:txBody>
      </p:sp>
      <p:sp>
        <p:nvSpPr>
          <p:cNvPr id="4" name="TextBox 3"/>
          <p:cNvSpPr txBox="1"/>
          <p:nvPr/>
        </p:nvSpPr>
        <p:spPr>
          <a:xfrm>
            <a:off x="3200400" y="2286000"/>
            <a:ext cx="8229600" cy="1280160"/>
          </a:xfrm>
          <a:prstGeom prst="rect">
            <a:avLst/>
          </a:prstGeom>
          <a:noFill/>
        </p:spPr>
        <p:txBody>
          <a:bodyPr wrap="square" lIns="25400" tIns="25400" rIns="25400" bIns="25400" anchor="t">
            <a:spAutoFit/>
          </a:bodyPr>
          <a:lstStyle/>
          <a:p>
            <a:pPr algn="l">
              <a:lnSpc>
                <a:spcPct val="100000"/>
              </a:lnSpc>
              <a:spcBef>
                <a:spcPts val="0"/>
              </a:spcBef>
              <a:spcAft>
                <a:spcPts val="0"/>
              </a:spcAft>
            </a:pPr>
            <a:r>
              <a:rPr sz="3800" b="1" i="0">
                <a:solidFill>
                  <a:srgbClr val="FFFFFF"/>
                </a:solidFill>
                <a:latin typeface="Segoe UI"/>
              </a:rPr>
              <a:t>DevOps com GitHub</a:t>
            </a:r>
          </a:p>
        </p:txBody>
      </p:sp>
      <p:sp>
        <p:nvSpPr>
          <p:cNvPr id="5" name="Rectangle 4"/>
          <p:cNvSpPr/>
          <p:nvPr/>
        </p:nvSpPr>
        <p:spPr>
          <a:xfrm>
            <a:off x="3246120" y="3611880"/>
            <a:ext cx="2743200" cy="45720"/>
          </a:xfrm>
          <a:prstGeom prst="rect">
            <a:avLst/>
          </a:prstGeom>
          <a:solidFill>
            <a:srgbClr val="9B8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46120" y="3794760"/>
            <a:ext cx="8138160" cy="308674"/>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700" b="0" i="0" dirty="0">
                <a:solidFill>
                  <a:srgbClr val="9AA7BD"/>
                </a:solidFill>
                <a:latin typeface="Segoe UI"/>
              </a:rPr>
              <a:t>Do </a:t>
            </a:r>
            <a:r>
              <a:rPr lang="pt-BR" sz="1700" b="0" i="0" dirty="0">
                <a:solidFill>
                  <a:srgbClr val="9AA7BD"/>
                </a:solidFill>
                <a:latin typeface="Segoe UI"/>
              </a:rPr>
              <a:t>C</a:t>
            </a:r>
            <a:r>
              <a:rPr sz="1700" b="0" i="0" dirty="0" err="1">
                <a:solidFill>
                  <a:srgbClr val="9AA7BD"/>
                </a:solidFill>
                <a:latin typeface="Segoe UI"/>
              </a:rPr>
              <a:t>ommit</a:t>
            </a:r>
            <a:r>
              <a:rPr sz="1700" b="0" i="0" dirty="0">
                <a:solidFill>
                  <a:srgbClr val="9AA7BD"/>
                </a:solidFill>
                <a:latin typeface="Segoe UI"/>
              </a:rPr>
              <a:t> </a:t>
            </a:r>
            <a:r>
              <a:rPr sz="1700" b="0" i="0" dirty="0" err="1">
                <a:solidFill>
                  <a:srgbClr val="9AA7BD"/>
                </a:solidFill>
                <a:latin typeface="Segoe UI"/>
              </a:rPr>
              <a:t>ao</a:t>
            </a:r>
            <a:r>
              <a:rPr sz="1700" b="0" i="0" dirty="0">
                <a:solidFill>
                  <a:srgbClr val="9AA7BD"/>
                </a:solidFill>
                <a:latin typeface="Segoe UI"/>
              </a:rPr>
              <a:t> cluster: a </a:t>
            </a:r>
            <a:r>
              <a:rPr sz="1700" b="0" i="0" dirty="0" err="1">
                <a:solidFill>
                  <a:srgbClr val="9AA7BD"/>
                </a:solidFill>
                <a:latin typeface="Segoe UI"/>
              </a:rPr>
              <a:t>ponte</a:t>
            </a:r>
            <a:r>
              <a:rPr sz="1700" b="0" i="0" dirty="0">
                <a:solidFill>
                  <a:srgbClr val="9AA7BD"/>
                </a:solidFill>
                <a:latin typeface="Segoe UI"/>
              </a:rPr>
              <a:t> Developer -&gt; GitHub -&gt; Build -&gt; ACR -&gt; AKS.</a:t>
            </a:r>
          </a:p>
        </p:txBody>
      </p:sp>
      <p:sp>
        <p:nvSpPr>
          <p:cNvPr id="7" name="Rectangle 6"/>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457200" y="457200"/>
            <a:ext cx="109728" cy="640080"/>
          </a:xfrm>
          <a:prstGeom prst="rect">
            <a:avLst/>
          </a:prstGeom>
          <a:solidFill>
            <a:srgbClr val="9B8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02336"/>
            <a:ext cx="10789920" cy="27432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200" b="1" i="0">
                <a:solidFill>
                  <a:srgbClr val="9B8CFF"/>
                </a:solidFill>
                <a:latin typeface="Segoe UI"/>
              </a:rPr>
              <a:t>LAB 09 · DEVOPS</a:t>
            </a:r>
          </a:p>
        </p:txBody>
      </p:sp>
      <p:sp>
        <p:nvSpPr>
          <p:cNvPr id="4" name="TextBox 3"/>
          <p:cNvSpPr txBox="1"/>
          <p:nvPr/>
        </p:nvSpPr>
        <p:spPr>
          <a:xfrm>
            <a:off x="658368" y="658368"/>
            <a:ext cx="8229600" cy="54864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2600" b="1" i="0">
                <a:solidFill>
                  <a:srgbClr val="FFFFFF"/>
                </a:solidFill>
                <a:latin typeface="Segoe UI"/>
              </a:rPr>
              <a:t>GitHub + GitHub Actions (CI/CD)</a:t>
            </a:r>
          </a:p>
        </p:txBody>
      </p:sp>
      <p:sp>
        <p:nvSpPr>
          <p:cNvPr id="5" name="TextBox 4"/>
          <p:cNvSpPr txBox="1"/>
          <p:nvPr/>
        </p:nvSpPr>
        <p:spPr>
          <a:xfrm>
            <a:off x="676656" y="1170432"/>
            <a:ext cx="10881360" cy="32004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350" b="0" i="1">
                <a:solidFill>
                  <a:srgbClr val="9AA7BD"/>
                </a:solidFill>
                <a:latin typeface="Segoe UI"/>
              </a:rPr>
              <a:t>Automatizar build, imagem e deploy</a:t>
            </a:r>
          </a:p>
        </p:txBody>
      </p:sp>
      <p:sp>
        <p:nvSpPr>
          <p:cNvPr id="6" name="Rounded Rectangle 5"/>
          <p:cNvSpPr/>
          <p:nvPr/>
        </p:nvSpPr>
        <p:spPr>
          <a:xfrm>
            <a:off x="457200" y="1572768"/>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1572768"/>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572768"/>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2E8BFF"/>
                </a:solidFill>
                <a:latin typeface="Segoe UI"/>
              </a:rPr>
              <a:t>■  O QUE É</a:t>
            </a:r>
          </a:p>
        </p:txBody>
      </p:sp>
      <p:sp>
        <p:nvSpPr>
          <p:cNvPr id="9" name="TextBox 8"/>
          <p:cNvSpPr txBox="1"/>
          <p:nvPr/>
        </p:nvSpPr>
        <p:spPr>
          <a:xfrm>
            <a:off x="640080" y="2029967"/>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2E8BFF"/>
                </a:solidFill>
                <a:latin typeface="Segoe UI"/>
              </a:rPr>
              <a:t>— </a:t>
            </a:r>
            <a:r>
              <a:rPr sz="1200">
                <a:solidFill>
                  <a:srgbClr val="FFFFFF"/>
                </a:solidFill>
                <a:latin typeface="Segoe UI"/>
              </a:rPr>
              <a:t>GitHub: versionamento e colaboração no código.</a:t>
            </a:r>
          </a:p>
          <a:p>
            <a:pPr>
              <a:lnSpc>
                <a:spcPct val="104000"/>
              </a:lnSpc>
              <a:spcBef>
                <a:spcPts val="0"/>
              </a:spcBef>
              <a:spcAft>
                <a:spcPts val="400"/>
              </a:spcAft>
            </a:pPr>
            <a:r>
              <a:rPr sz="1200" b="0">
                <a:solidFill>
                  <a:srgbClr val="2E8BFF"/>
                </a:solidFill>
                <a:latin typeface="Segoe UI"/>
              </a:rPr>
              <a:t>— </a:t>
            </a:r>
            <a:r>
              <a:rPr sz="1200">
                <a:solidFill>
                  <a:srgbClr val="FFFFFF"/>
                </a:solidFill>
                <a:latin typeface="Segoe UI"/>
              </a:rPr>
              <a:t>GitHub Actions: pipelines de CI/CD acionados por eventos (push/PR).</a:t>
            </a:r>
          </a:p>
          <a:p>
            <a:pPr>
              <a:lnSpc>
                <a:spcPct val="104000"/>
              </a:lnSpc>
              <a:spcBef>
                <a:spcPts val="0"/>
              </a:spcBef>
              <a:spcAft>
                <a:spcPts val="400"/>
              </a:spcAft>
            </a:pPr>
            <a:r>
              <a:rPr sz="1200" b="0">
                <a:solidFill>
                  <a:srgbClr val="2E8BFF"/>
                </a:solidFill>
                <a:latin typeface="Segoe UI"/>
              </a:rPr>
              <a:t>— </a:t>
            </a:r>
            <a:r>
              <a:rPr sz="1200">
                <a:solidFill>
                  <a:srgbClr val="FFFFFF"/>
                </a:solidFill>
                <a:latin typeface="Segoe UI"/>
              </a:rPr>
              <a:t>Fluxo: Developer -&gt; GitHub -&gt; Build -&gt; ACR -&gt; AKS.</a:t>
            </a:r>
          </a:p>
        </p:txBody>
      </p:sp>
      <p:sp>
        <p:nvSpPr>
          <p:cNvPr id="10" name="Rounded Rectangle 9"/>
          <p:cNvSpPr/>
          <p:nvPr/>
        </p:nvSpPr>
        <p:spPr>
          <a:xfrm>
            <a:off x="6217920" y="1572768"/>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217920" y="1572768"/>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82512" y="1572768"/>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22C3A6"/>
                </a:solidFill>
                <a:latin typeface="Segoe UI"/>
              </a:rPr>
              <a:t>⚙  COMO FUNCIONA</a:t>
            </a:r>
          </a:p>
        </p:txBody>
      </p:sp>
      <p:sp>
        <p:nvSpPr>
          <p:cNvPr id="13" name="TextBox 12"/>
          <p:cNvSpPr txBox="1"/>
          <p:nvPr/>
        </p:nvSpPr>
        <p:spPr>
          <a:xfrm>
            <a:off x="6400800" y="2029967"/>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22C3A6"/>
                </a:solidFill>
                <a:latin typeface="Segoe UI"/>
              </a:rPr>
              <a:t>— </a:t>
            </a:r>
            <a:r>
              <a:rPr sz="1200">
                <a:solidFill>
                  <a:srgbClr val="FFFFFF"/>
                </a:solidFill>
                <a:latin typeface="Segoe UI"/>
              </a:rPr>
              <a:t>Push dispara o workflow: testa, builda a imagem e faz push no ACR.</a:t>
            </a:r>
          </a:p>
          <a:p>
            <a:pPr>
              <a:lnSpc>
                <a:spcPct val="104000"/>
              </a:lnSpc>
              <a:spcBef>
                <a:spcPts val="0"/>
              </a:spcBef>
              <a:spcAft>
                <a:spcPts val="400"/>
              </a:spcAft>
            </a:pPr>
            <a:r>
              <a:rPr sz="1200" b="0">
                <a:solidFill>
                  <a:srgbClr val="22C3A6"/>
                </a:solidFill>
                <a:latin typeface="Segoe UI"/>
              </a:rPr>
              <a:t>— </a:t>
            </a:r>
            <a:r>
              <a:rPr sz="1200">
                <a:solidFill>
                  <a:srgbClr val="FFFFFF"/>
                </a:solidFill>
                <a:latin typeface="Segoe UI"/>
              </a:rPr>
              <a:t>Deploy aplica os manifestos no AKS automaticamente.</a:t>
            </a:r>
          </a:p>
          <a:p>
            <a:pPr>
              <a:lnSpc>
                <a:spcPct val="104000"/>
              </a:lnSpc>
              <a:spcBef>
                <a:spcPts val="0"/>
              </a:spcBef>
              <a:spcAft>
                <a:spcPts val="400"/>
              </a:spcAft>
            </a:pPr>
            <a:r>
              <a:rPr sz="1200" b="0">
                <a:solidFill>
                  <a:srgbClr val="22C3A6"/>
                </a:solidFill>
                <a:latin typeface="Segoe UI"/>
              </a:rPr>
              <a:t>— </a:t>
            </a:r>
            <a:r>
              <a:rPr sz="1200">
                <a:solidFill>
                  <a:srgbClr val="FFFFFF"/>
                </a:solidFill>
                <a:latin typeface="Segoe UI"/>
              </a:rPr>
              <a:t>Rastreabilidade: cada versão ligada a um commit.</a:t>
            </a:r>
          </a:p>
        </p:txBody>
      </p:sp>
      <p:sp>
        <p:nvSpPr>
          <p:cNvPr id="14" name="Rounded Rectangle 13"/>
          <p:cNvSpPr/>
          <p:nvPr/>
        </p:nvSpPr>
        <p:spPr>
          <a:xfrm>
            <a:off x="457200" y="3886200"/>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57200" y="3886200"/>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 y="3886200"/>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F5B301"/>
                </a:solidFill>
                <a:latin typeface="Segoe UI"/>
              </a:rPr>
              <a:t>⚖  TRADE-OFFS &amp; DECISÃO</a:t>
            </a:r>
          </a:p>
        </p:txBody>
      </p:sp>
      <p:sp>
        <p:nvSpPr>
          <p:cNvPr id="17" name="TextBox 16"/>
          <p:cNvSpPr txBox="1"/>
          <p:nvPr/>
        </p:nvSpPr>
        <p:spPr>
          <a:xfrm>
            <a:off x="640080" y="4343400"/>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F5B301"/>
                </a:solidFill>
                <a:latin typeface="Segoe UI"/>
              </a:rPr>
              <a:t>— </a:t>
            </a:r>
            <a:r>
              <a:rPr sz="1200">
                <a:solidFill>
                  <a:srgbClr val="FFFFFF"/>
                </a:solidFill>
                <a:latin typeface="Segoe UI"/>
              </a:rPr>
              <a:t>Deploy manual x automatizado: controle vs. velocidade e consistência.</a:t>
            </a:r>
          </a:p>
          <a:p>
            <a:pPr>
              <a:lnSpc>
                <a:spcPct val="104000"/>
              </a:lnSpc>
              <a:spcBef>
                <a:spcPts val="0"/>
              </a:spcBef>
              <a:spcAft>
                <a:spcPts val="400"/>
              </a:spcAft>
            </a:pPr>
            <a:r>
              <a:rPr sz="1200" b="0">
                <a:solidFill>
                  <a:srgbClr val="F5B301"/>
                </a:solidFill>
                <a:latin typeface="Segoe UI"/>
              </a:rPr>
              <a:t>— </a:t>
            </a:r>
            <a:r>
              <a:rPr sz="1200">
                <a:solidFill>
                  <a:srgbClr val="FFFFFF"/>
                </a:solidFill>
                <a:latin typeface="Segoe UI"/>
              </a:rPr>
              <a:t>Trunk-based x GitFlow: simplicidade vs. governança de branches.</a:t>
            </a:r>
          </a:p>
          <a:p>
            <a:pPr>
              <a:lnSpc>
                <a:spcPct val="104000"/>
              </a:lnSpc>
              <a:spcBef>
                <a:spcPts val="0"/>
              </a:spcBef>
              <a:spcAft>
                <a:spcPts val="400"/>
              </a:spcAft>
            </a:pPr>
            <a:r>
              <a:rPr sz="1200" b="0">
                <a:solidFill>
                  <a:srgbClr val="F5B301"/>
                </a:solidFill>
                <a:latin typeface="Segoe UI"/>
              </a:rPr>
              <a:t>— </a:t>
            </a:r>
            <a:r>
              <a:rPr sz="1200">
                <a:solidFill>
                  <a:srgbClr val="FFFFFF"/>
                </a:solidFill>
                <a:latin typeface="Segoe UI"/>
              </a:rPr>
              <a:t>Decisão: pipeline como única porta de entrada para produção.</a:t>
            </a:r>
          </a:p>
        </p:txBody>
      </p:sp>
      <p:sp>
        <p:nvSpPr>
          <p:cNvPr id="18" name="Rounded Rectangle 17"/>
          <p:cNvSpPr/>
          <p:nvPr/>
        </p:nvSpPr>
        <p:spPr>
          <a:xfrm>
            <a:off x="6217920" y="3886200"/>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217920" y="3886200"/>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82512" y="3886200"/>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3DD68C"/>
                </a:solidFill>
                <a:latin typeface="Segoe UI"/>
              </a:rPr>
              <a:t>✓  BOAS PRÁTICAS DE ARQUITETURA</a:t>
            </a:r>
          </a:p>
        </p:txBody>
      </p:sp>
      <p:sp>
        <p:nvSpPr>
          <p:cNvPr id="21" name="TextBox 20"/>
          <p:cNvSpPr txBox="1"/>
          <p:nvPr/>
        </p:nvSpPr>
        <p:spPr>
          <a:xfrm>
            <a:off x="6400800" y="4343400"/>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3DD68C"/>
                </a:solidFill>
                <a:latin typeface="Segoe UI"/>
              </a:rPr>
              <a:t>— </a:t>
            </a:r>
            <a:r>
              <a:rPr sz="1200">
                <a:solidFill>
                  <a:srgbClr val="FFFFFF"/>
                </a:solidFill>
                <a:latin typeface="Segoe UI"/>
              </a:rPr>
              <a:t>Segredos no GitHub/Key Vault, nunca no repo.</a:t>
            </a:r>
          </a:p>
          <a:p>
            <a:pPr>
              <a:lnSpc>
                <a:spcPct val="104000"/>
              </a:lnSpc>
              <a:spcBef>
                <a:spcPts val="0"/>
              </a:spcBef>
              <a:spcAft>
                <a:spcPts val="400"/>
              </a:spcAft>
            </a:pPr>
            <a:r>
              <a:rPr sz="1200" b="0">
                <a:solidFill>
                  <a:srgbClr val="3DD68C"/>
                </a:solidFill>
                <a:latin typeface="Segoe UI"/>
              </a:rPr>
              <a:t>— </a:t>
            </a:r>
            <a:r>
              <a:rPr sz="1200">
                <a:solidFill>
                  <a:srgbClr val="FFFFFF"/>
                </a:solidFill>
                <a:latin typeface="Segoe UI"/>
              </a:rPr>
              <a:t>Ambientes com aprovação para produção.</a:t>
            </a:r>
          </a:p>
          <a:p>
            <a:pPr>
              <a:lnSpc>
                <a:spcPct val="104000"/>
              </a:lnSpc>
              <a:spcBef>
                <a:spcPts val="0"/>
              </a:spcBef>
              <a:spcAft>
                <a:spcPts val="400"/>
              </a:spcAft>
            </a:pPr>
            <a:r>
              <a:rPr sz="1200" b="0">
                <a:solidFill>
                  <a:srgbClr val="3DD68C"/>
                </a:solidFill>
                <a:latin typeface="Segoe UI"/>
              </a:rPr>
              <a:t>— </a:t>
            </a:r>
            <a:r>
              <a:rPr sz="1200">
                <a:solidFill>
                  <a:srgbClr val="FFFFFF"/>
                </a:solidFill>
                <a:latin typeface="Segoe UI"/>
              </a:rPr>
              <a:t>Build reproduzível e imutável (tag por commit).</a:t>
            </a:r>
          </a:p>
        </p:txBody>
      </p:sp>
      <p:sp>
        <p:nvSpPr>
          <p:cNvPr id="22" name="Rounded Rectangle 21"/>
          <p:cNvSpPr/>
          <p:nvPr/>
        </p:nvSpPr>
        <p:spPr>
          <a:xfrm>
            <a:off x="457200" y="6080759"/>
            <a:ext cx="11274552" cy="457200"/>
          </a:xfrm>
          <a:prstGeom prst="roundRect">
            <a:avLst>
              <a:gd name="adj" fmla="val 6000"/>
            </a:avLst>
          </a:prstGeom>
          <a:solidFill>
            <a:srgbClr val="1D2A4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6080759"/>
            <a:ext cx="2011680" cy="457200"/>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150" b="1" i="0">
                <a:solidFill>
                  <a:srgbClr val="F5B301"/>
                </a:solidFill>
                <a:latin typeface="Segoe UI"/>
              </a:rPr>
              <a:t>💲 CUSTO (leve)</a:t>
            </a:r>
          </a:p>
        </p:txBody>
      </p:sp>
      <p:sp>
        <p:nvSpPr>
          <p:cNvPr id="24" name="TextBox 23"/>
          <p:cNvSpPr txBox="1"/>
          <p:nvPr/>
        </p:nvSpPr>
        <p:spPr>
          <a:xfrm>
            <a:off x="2468880" y="6080759"/>
            <a:ext cx="9144000" cy="457200"/>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150" b="0" i="0">
                <a:solidFill>
                  <a:srgbClr val="9AA7BD"/>
                </a:solidFill>
                <a:latin typeface="Segoe UI"/>
              </a:rPr>
              <a:t>GitHub Actions tem minutos gratuitos generosos; custo aparece em uso intensivo de runners. ROI alto em confiabilidade.</a:t>
            </a:r>
          </a:p>
        </p:txBody>
      </p:sp>
      <p:sp>
        <p:nvSpPr>
          <p:cNvPr id="25" name="Rectangle 24"/>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
        <p:nvSpPr>
          <p:cNvPr id="27" name="TextBox 26"/>
          <p:cNvSpPr txBox="1"/>
          <p:nvPr/>
        </p:nvSpPr>
        <p:spPr>
          <a:xfrm>
            <a:off x="11155680" y="6565392"/>
            <a:ext cx="822960" cy="292608"/>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900" b="0" i="0">
                <a:solidFill>
                  <a:srgbClr val="9AA7BD"/>
                </a:solidFill>
                <a:latin typeface="Segoe UI"/>
              </a:rPr>
              <a:t>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0182A"/>
        </a:solidFill>
        <a:effectLst/>
      </p:bgPr>
    </p:bg>
    <p:spTree>
      <p:nvGrpSpPr>
        <p:cNvPr id="1" name=""/>
        <p:cNvGrpSpPr/>
        <p:nvPr/>
      </p:nvGrpSpPr>
      <p:grpSpPr>
        <a:xfrm>
          <a:off x="0" y="0"/>
          <a:ext cx="0" cy="0"/>
          <a:chOff x="0" y="0"/>
          <a:chExt cx="0" cy="0"/>
        </a:xfrm>
      </p:grpSpPr>
      <p:sp>
        <p:nvSpPr>
          <p:cNvPr id="2" name="TextBox 1"/>
          <p:cNvSpPr txBox="1"/>
          <p:nvPr/>
        </p:nvSpPr>
        <p:spPr>
          <a:xfrm>
            <a:off x="914400" y="1920240"/>
            <a:ext cx="10332720" cy="45720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500" b="1" i="0">
                <a:solidFill>
                  <a:srgbClr val="22C3A6"/>
                </a:solidFill>
                <a:latin typeface="Segoe UI"/>
              </a:rPr>
              <a:t>DEPOIS DO ALMOÇO</a:t>
            </a:r>
          </a:p>
        </p:txBody>
      </p:sp>
      <p:sp>
        <p:nvSpPr>
          <p:cNvPr id="3" name="TextBox 2"/>
          <p:cNvSpPr txBox="1"/>
          <p:nvPr/>
        </p:nvSpPr>
        <p:spPr>
          <a:xfrm>
            <a:off x="914400" y="2377440"/>
            <a:ext cx="10332720" cy="2377440"/>
          </a:xfrm>
          <a:prstGeom prst="rect">
            <a:avLst/>
          </a:prstGeom>
          <a:noFill/>
        </p:spPr>
        <p:txBody>
          <a:bodyPr wrap="square" lIns="25400" tIns="25400" rIns="25400" bIns="25400" anchor="t">
            <a:spAutoFit/>
          </a:bodyPr>
          <a:lstStyle/>
          <a:p>
            <a:pPr algn="l">
              <a:lnSpc>
                <a:spcPct val="103000"/>
              </a:lnSpc>
              <a:spcBef>
                <a:spcPts val="0"/>
              </a:spcBef>
              <a:spcAft>
                <a:spcPts val="0"/>
              </a:spcAft>
            </a:pPr>
            <a:r>
              <a:rPr sz="4000" b="1" i="0">
                <a:solidFill>
                  <a:srgbClr val="FFFFFF"/>
                </a:solidFill>
                <a:latin typeface="Segoe UI"/>
              </a:rPr>
              <a:t>14h — agora entra Inteligência Artificial.</a:t>
            </a:r>
          </a:p>
        </p:txBody>
      </p:sp>
      <p:sp>
        <p:nvSpPr>
          <p:cNvPr id="4" name="TextBox 3"/>
          <p:cNvSpPr txBox="1"/>
          <p:nvPr/>
        </p:nvSpPr>
        <p:spPr>
          <a:xfrm>
            <a:off x="932688" y="4754880"/>
            <a:ext cx="10332720" cy="109728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700" b="0" i="0">
                <a:solidFill>
                  <a:srgbClr val="9AA7BD"/>
                </a:solidFill>
                <a:latin typeface="Segoe UI"/>
              </a:rPr>
              <a:t>Até aqui construímos a aplicação. Agora teremos um engenheiro de IA ajudando a evoluir.</a:t>
            </a:r>
          </a:p>
        </p:txBody>
      </p:sp>
      <p:sp>
        <p:nvSpPr>
          <p:cNvPr id="5" name="Rectangle 4"/>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0182A"/>
        </a:solidFill>
        <a:effectLst/>
      </p:bgPr>
    </p:bg>
    <p:spTree>
      <p:nvGrpSpPr>
        <p:cNvPr id="1" name=""/>
        <p:cNvGrpSpPr/>
        <p:nvPr/>
      </p:nvGrpSpPr>
      <p:grpSpPr>
        <a:xfrm>
          <a:off x="0" y="0"/>
          <a:ext cx="0" cy="0"/>
          <a:chOff x="0" y="0"/>
          <a:chExt cx="0" cy="0"/>
        </a:xfrm>
      </p:grpSpPr>
      <p:sp>
        <p:nvSpPr>
          <p:cNvPr id="2" name="Rounded Rectangle 1"/>
          <p:cNvSpPr/>
          <p:nvPr/>
        </p:nvSpPr>
        <p:spPr>
          <a:xfrm>
            <a:off x="822960" y="2011680"/>
            <a:ext cx="2011680" cy="2011680"/>
          </a:xfrm>
          <a:prstGeom prst="roundRect">
            <a:avLst>
              <a:gd name="adj" fmla="val 6000"/>
            </a:avLst>
          </a:prstGeom>
          <a:noFill/>
          <a:ln w="25400">
            <a:solidFill>
              <a:srgbClr val="2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431750"/>
            <a:ext cx="2011680" cy="1171539"/>
          </a:xfrm>
          <a:prstGeom prst="rect">
            <a:avLst/>
          </a:prstGeom>
          <a:noFill/>
        </p:spPr>
        <p:txBody>
          <a:bodyPr wrap="square" lIns="25400" tIns="25400" rIns="25400" bIns="25400" anchor="ctr">
            <a:spAutoFit/>
          </a:bodyPr>
          <a:lstStyle/>
          <a:p>
            <a:pPr algn="ctr">
              <a:lnSpc>
                <a:spcPct val="106000"/>
              </a:lnSpc>
              <a:spcBef>
                <a:spcPts val="0"/>
              </a:spcBef>
              <a:spcAft>
                <a:spcPts val="0"/>
              </a:spcAft>
            </a:pPr>
            <a:r>
              <a:rPr sz="7400" b="1" i="0" dirty="0">
                <a:solidFill>
                  <a:srgbClr val="2E8BFF"/>
                </a:solidFill>
                <a:latin typeface="Segoe UI"/>
              </a:rPr>
              <a:t>1</a:t>
            </a:r>
            <a:r>
              <a:rPr lang="pt-BR" sz="7400" b="1" dirty="0">
                <a:solidFill>
                  <a:srgbClr val="2E8BFF"/>
                </a:solidFill>
                <a:latin typeface="Segoe UI"/>
              </a:rPr>
              <a:t>2</a:t>
            </a:r>
            <a:endParaRPr sz="7400" b="1" i="0" dirty="0">
              <a:solidFill>
                <a:srgbClr val="2E8BFF"/>
              </a:solidFill>
              <a:latin typeface="Segoe UI"/>
            </a:endParaRPr>
          </a:p>
        </p:txBody>
      </p:sp>
      <p:sp>
        <p:nvSpPr>
          <p:cNvPr id="4" name="TextBox 3"/>
          <p:cNvSpPr txBox="1"/>
          <p:nvPr/>
        </p:nvSpPr>
        <p:spPr>
          <a:xfrm>
            <a:off x="3200400" y="2286000"/>
            <a:ext cx="8229600" cy="1280160"/>
          </a:xfrm>
          <a:prstGeom prst="rect">
            <a:avLst/>
          </a:prstGeom>
          <a:noFill/>
        </p:spPr>
        <p:txBody>
          <a:bodyPr wrap="square" lIns="25400" tIns="25400" rIns="25400" bIns="25400" anchor="t">
            <a:spAutoFit/>
          </a:bodyPr>
          <a:lstStyle/>
          <a:p>
            <a:pPr algn="l">
              <a:lnSpc>
                <a:spcPct val="100000"/>
              </a:lnSpc>
              <a:spcBef>
                <a:spcPts val="0"/>
              </a:spcBef>
              <a:spcAft>
                <a:spcPts val="0"/>
              </a:spcAft>
            </a:pPr>
            <a:r>
              <a:rPr sz="3800" b="1" i="0">
                <a:solidFill>
                  <a:srgbClr val="FFFFFF"/>
                </a:solidFill>
                <a:latin typeface="Segoe UI"/>
              </a:rPr>
              <a:t>GitHub Copilot</a:t>
            </a:r>
          </a:p>
        </p:txBody>
      </p:sp>
      <p:sp>
        <p:nvSpPr>
          <p:cNvPr id="5" name="Rectangle 4"/>
          <p:cNvSpPr/>
          <p:nvPr/>
        </p:nvSpPr>
        <p:spPr>
          <a:xfrm>
            <a:off x="3246120" y="3611880"/>
            <a:ext cx="2743200" cy="45720"/>
          </a:xfrm>
          <a:prstGeom prst="rect">
            <a:avLst/>
          </a:prstGeom>
          <a:solidFill>
            <a:srgbClr val="2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46120" y="3794760"/>
            <a:ext cx="8138160" cy="585994"/>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700" b="0" i="0" dirty="0">
                <a:solidFill>
                  <a:srgbClr val="9AA7BD"/>
                </a:solidFill>
                <a:latin typeface="Segoe UI"/>
              </a:rPr>
              <a:t>Um par de </a:t>
            </a:r>
            <a:r>
              <a:rPr sz="1700" b="0" i="0" dirty="0" err="1">
                <a:solidFill>
                  <a:srgbClr val="9AA7BD"/>
                </a:solidFill>
                <a:latin typeface="Segoe UI"/>
              </a:rPr>
              <a:t>programação</a:t>
            </a:r>
            <a:r>
              <a:rPr sz="1700" b="0" i="0" dirty="0">
                <a:solidFill>
                  <a:srgbClr val="9AA7BD"/>
                </a:solidFill>
                <a:latin typeface="Segoe UI"/>
              </a:rPr>
              <a:t> com IA: </a:t>
            </a:r>
            <a:r>
              <a:rPr sz="1700" b="0" i="0" dirty="0" err="1">
                <a:solidFill>
                  <a:srgbClr val="9AA7BD"/>
                </a:solidFill>
                <a:latin typeface="Segoe UI"/>
              </a:rPr>
              <a:t>entende</a:t>
            </a:r>
            <a:r>
              <a:rPr sz="1700" b="0" i="0" dirty="0">
                <a:solidFill>
                  <a:srgbClr val="9AA7BD"/>
                </a:solidFill>
                <a:latin typeface="Segoe UI"/>
              </a:rPr>
              <a:t> o </a:t>
            </a:r>
            <a:r>
              <a:rPr sz="1700" b="0" i="0" dirty="0" err="1">
                <a:solidFill>
                  <a:srgbClr val="9AA7BD"/>
                </a:solidFill>
                <a:latin typeface="Segoe UI"/>
              </a:rPr>
              <a:t>código</a:t>
            </a:r>
            <a:r>
              <a:rPr sz="1700" b="0" i="0" dirty="0">
                <a:solidFill>
                  <a:srgbClr val="9AA7BD"/>
                </a:solidFill>
                <a:latin typeface="Segoe UI"/>
              </a:rPr>
              <a:t>, </a:t>
            </a:r>
            <a:r>
              <a:rPr sz="1700" b="0" i="0" dirty="0" err="1">
                <a:solidFill>
                  <a:srgbClr val="9AA7BD"/>
                </a:solidFill>
                <a:latin typeface="Segoe UI"/>
              </a:rPr>
              <a:t>gera</a:t>
            </a:r>
            <a:r>
              <a:rPr sz="1700" b="0" i="0" dirty="0">
                <a:solidFill>
                  <a:srgbClr val="9AA7BD"/>
                </a:solidFill>
                <a:latin typeface="Segoe UI"/>
              </a:rPr>
              <a:t> </a:t>
            </a:r>
            <a:r>
              <a:rPr lang="pt-BR" sz="1700" b="0" i="0" dirty="0">
                <a:solidFill>
                  <a:srgbClr val="9AA7BD"/>
                </a:solidFill>
                <a:latin typeface="Segoe UI"/>
              </a:rPr>
              <a:t>F</a:t>
            </a:r>
            <a:r>
              <a:rPr sz="1700" b="0" i="0" dirty="0" err="1">
                <a:solidFill>
                  <a:srgbClr val="9AA7BD"/>
                </a:solidFill>
                <a:latin typeface="Segoe UI"/>
              </a:rPr>
              <a:t>eatures</a:t>
            </a:r>
            <a:r>
              <a:rPr sz="1700" b="0" i="0" dirty="0">
                <a:solidFill>
                  <a:srgbClr val="9AA7BD"/>
                </a:solidFill>
                <a:latin typeface="Segoe UI"/>
              </a:rPr>
              <a:t> e </a:t>
            </a:r>
            <a:r>
              <a:rPr sz="1700" b="0" i="0" dirty="0" err="1">
                <a:solidFill>
                  <a:srgbClr val="9AA7BD"/>
                </a:solidFill>
                <a:latin typeface="Segoe UI"/>
              </a:rPr>
              <a:t>acelera</a:t>
            </a:r>
            <a:r>
              <a:rPr sz="1700" b="0" i="0" dirty="0">
                <a:solidFill>
                  <a:srgbClr val="9AA7BD"/>
                </a:solidFill>
                <a:latin typeface="Segoe UI"/>
              </a:rPr>
              <a:t> o </a:t>
            </a:r>
            <a:r>
              <a:rPr lang="pt-BR" sz="1700" dirty="0">
                <a:solidFill>
                  <a:srgbClr val="9AA7BD"/>
                </a:solidFill>
                <a:latin typeface="Segoe UI"/>
              </a:rPr>
              <a:t>A</a:t>
            </a:r>
            <a:r>
              <a:rPr sz="1700" b="0" i="0" dirty="0" err="1">
                <a:solidFill>
                  <a:srgbClr val="9AA7BD"/>
                </a:solidFill>
                <a:latin typeface="Segoe UI"/>
              </a:rPr>
              <a:t>rquiteto</a:t>
            </a:r>
            <a:r>
              <a:rPr sz="1700" b="0" i="0" dirty="0">
                <a:solidFill>
                  <a:srgbClr val="9AA7BD"/>
                </a:solidFill>
                <a:latin typeface="Segoe UI"/>
              </a:rPr>
              <a:t>.</a:t>
            </a:r>
          </a:p>
        </p:txBody>
      </p:sp>
      <p:sp>
        <p:nvSpPr>
          <p:cNvPr id="7" name="Rectangle 6"/>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457200" y="457200"/>
            <a:ext cx="109728" cy="640080"/>
          </a:xfrm>
          <a:prstGeom prst="rect">
            <a:avLst/>
          </a:prstGeom>
          <a:solidFill>
            <a:srgbClr val="2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02336"/>
            <a:ext cx="10789920" cy="27432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200" b="1" i="0">
                <a:solidFill>
                  <a:srgbClr val="2E8BFF"/>
                </a:solidFill>
                <a:latin typeface="Segoe UI"/>
              </a:rPr>
              <a:t>LAB 10 · IA NO DEV</a:t>
            </a:r>
          </a:p>
        </p:txBody>
      </p:sp>
      <p:sp>
        <p:nvSpPr>
          <p:cNvPr id="4" name="TextBox 3"/>
          <p:cNvSpPr txBox="1"/>
          <p:nvPr/>
        </p:nvSpPr>
        <p:spPr>
          <a:xfrm>
            <a:off x="658368" y="658368"/>
            <a:ext cx="8229600" cy="54864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2600" b="1" i="0">
                <a:solidFill>
                  <a:srgbClr val="FFFFFF"/>
                </a:solidFill>
                <a:latin typeface="Segoe UI"/>
              </a:rPr>
              <a:t>GitHub Copilot</a:t>
            </a:r>
          </a:p>
        </p:txBody>
      </p:sp>
      <p:sp>
        <p:nvSpPr>
          <p:cNvPr id="5" name="TextBox 4"/>
          <p:cNvSpPr txBox="1"/>
          <p:nvPr/>
        </p:nvSpPr>
        <p:spPr>
          <a:xfrm>
            <a:off x="676656" y="1170432"/>
            <a:ext cx="10881360" cy="255711"/>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350" b="0" i="1" dirty="0">
                <a:solidFill>
                  <a:srgbClr val="9AA7BD"/>
                </a:solidFill>
                <a:latin typeface="Segoe UI"/>
              </a:rPr>
              <a:t>IA </a:t>
            </a:r>
            <a:r>
              <a:rPr sz="1350" b="0" i="1" dirty="0" err="1">
                <a:solidFill>
                  <a:srgbClr val="9AA7BD"/>
                </a:solidFill>
                <a:latin typeface="Segoe UI"/>
              </a:rPr>
              <a:t>aplicada</a:t>
            </a:r>
            <a:r>
              <a:rPr sz="1350" b="0" i="1" dirty="0">
                <a:solidFill>
                  <a:srgbClr val="9AA7BD"/>
                </a:solidFill>
                <a:latin typeface="Segoe UI"/>
              </a:rPr>
              <a:t> </a:t>
            </a:r>
            <a:r>
              <a:rPr sz="1350" b="0" i="1" dirty="0" err="1">
                <a:solidFill>
                  <a:srgbClr val="9AA7BD"/>
                </a:solidFill>
                <a:latin typeface="Segoe UI"/>
              </a:rPr>
              <a:t>ao</a:t>
            </a:r>
            <a:r>
              <a:rPr sz="1350" b="0" i="1" dirty="0">
                <a:solidFill>
                  <a:srgbClr val="9AA7BD"/>
                </a:solidFill>
                <a:latin typeface="Segoe UI"/>
              </a:rPr>
              <a:t> </a:t>
            </a:r>
            <a:r>
              <a:rPr sz="1350" b="0" i="1" dirty="0" err="1">
                <a:solidFill>
                  <a:srgbClr val="9AA7BD"/>
                </a:solidFill>
                <a:latin typeface="Segoe UI"/>
              </a:rPr>
              <a:t>desenvolvimento</a:t>
            </a:r>
            <a:r>
              <a:rPr sz="1350" b="0" i="1" dirty="0">
                <a:solidFill>
                  <a:srgbClr val="9AA7BD"/>
                </a:solidFill>
                <a:latin typeface="Segoe UI"/>
              </a:rPr>
              <a:t> e à </a:t>
            </a:r>
            <a:r>
              <a:rPr lang="pt-BR" sz="1350" i="1" dirty="0">
                <a:solidFill>
                  <a:srgbClr val="9AA7BD"/>
                </a:solidFill>
                <a:latin typeface="Segoe UI"/>
              </a:rPr>
              <a:t>A</a:t>
            </a:r>
            <a:r>
              <a:rPr sz="1350" b="0" i="1" dirty="0" err="1">
                <a:solidFill>
                  <a:srgbClr val="9AA7BD"/>
                </a:solidFill>
                <a:latin typeface="Segoe UI"/>
              </a:rPr>
              <a:t>rquitetura</a:t>
            </a:r>
            <a:endParaRPr sz="1350" b="0" i="1" dirty="0">
              <a:solidFill>
                <a:srgbClr val="9AA7BD"/>
              </a:solidFill>
              <a:latin typeface="Segoe UI"/>
            </a:endParaRPr>
          </a:p>
        </p:txBody>
      </p:sp>
      <p:sp>
        <p:nvSpPr>
          <p:cNvPr id="6" name="Rounded Rectangle 5"/>
          <p:cNvSpPr/>
          <p:nvPr/>
        </p:nvSpPr>
        <p:spPr>
          <a:xfrm>
            <a:off x="457200" y="1572768"/>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1572768"/>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572768"/>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2E8BFF"/>
                </a:solidFill>
                <a:latin typeface="Segoe UI"/>
              </a:rPr>
              <a:t>■  O QUE É</a:t>
            </a:r>
          </a:p>
        </p:txBody>
      </p:sp>
      <p:sp>
        <p:nvSpPr>
          <p:cNvPr id="9" name="TextBox 8"/>
          <p:cNvSpPr txBox="1"/>
          <p:nvPr/>
        </p:nvSpPr>
        <p:spPr>
          <a:xfrm>
            <a:off x="640080" y="2029967"/>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2E8BFF"/>
                </a:solidFill>
                <a:latin typeface="Segoe UI"/>
              </a:rPr>
              <a:t>— </a:t>
            </a:r>
            <a:r>
              <a:rPr sz="1200">
                <a:solidFill>
                  <a:srgbClr val="FFFFFF"/>
                </a:solidFill>
                <a:latin typeface="Segoe UI"/>
              </a:rPr>
              <a:t>Assistente de IA integrado ao editor e ao fluxo de trabalho.</a:t>
            </a:r>
          </a:p>
          <a:p>
            <a:pPr>
              <a:lnSpc>
                <a:spcPct val="104000"/>
              </a:lnSpc>
              <a:spcBef>
                <a:spcPts val="0"/>
              </a:spcBef>
              <a:spcAft>
                <a:spcPts val="400"/>
              </a:spcAft>
            </a:pPr>
            <a:r>
              <a:rPr sz="1200" b="0">
                <a:solidFill>
                  <a:srgbClr val="2E8BFF"/>
                </a:solidFill>
                <a:latin typeface="Segoe UI"/>
              </a:rPr>
              <a:t>— </a:t>
            </a:r>
            <a:r>
              <a:rPr sz="1200">
                <a:solidFill>
                  <a:srgbClr val="FFFFFF"/>
                </a:solidFill>
                <a:latin typeface="Segoe UI"/>
              </a:rPr>
              <a:t>Compreende contexto do código e do projeto.</a:t>
            </a:r>
          </a:p>
          <a:p>
            <a:pPr>
              <a:lnSpc>
                <a:spcPct val="104000"/>
              </a:lnSpc>
              <a:spcBef>
                <a:spcPts val="0"/>
              </a:spcBef>
              <a:spcAft>
                <a:spcPts val="400"/>
              </a:spcAft>
            </a:pPr>
            <a:r>
              <a:rPr sz="1200" b="0">
                <a:solidFill>
                  <a:srgbClr val="2E8BFF"/>
                </a:solidFill>
                <a:latin typeface="Segoe UI"/>
              </a:rPr>
              <a:t>— </a:t>
            </a:r>
            <a:r>
              <a:rPr sz="1200">
                <a:solidFill>
                  <a:srgbClr val="FFFFFF"/>
                </a:solidFill>
                <a:latin typeface="Segoe UI"/>
              </a:rPr>
              <a:t>Gera código, testes, YAML, Dockerfile e documentação.</a:t>
            </a:r>
          </a:p>
        </p:txBody>
      </p:sp>
      <p:sp>
        <p:nvSpPr>
          <p:cNvPr id="10" name="Rounded Rectangle 9"/>
          <p:cNvSpPr/>
          <p:nvPr/>
        </p:nvSpPr>
        <p:spPr>
          <a:xfrm>
            <a:off x="6217920" y="1572768"/>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217920" y="1572768"/>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82512" y="1572768"/>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22C3A6"/>
                </a:solidFill>
                <a:latin typeface="Segoe UI"/>
              </a:rPr>
              <a:t>⚙  COMO FUNCIONA</a:t>
            </a:r>
          </a:p>
        </p:txBody>
      </p:sp>
      <p:sp>
        <p:nvSpPr>
          <p:cNvPr id="13" name="TextBox 12"/>
          <p:cNvSpPr txBox="1"/>
          <p:nvPr/>
        </p:nvSpPr>
        <p:spPr>
          <a:xfrm>
            <a:off x="6400800" y="2029967"/>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22C3A6"/>
                </a:solidFill>
                <a:latin typeface="Segoe UI"/>
              </a:rPr>
              <a:t>— </a:t>
            </a:r>
            <a:r>
              <a:rPr sz="1200">
                <a:solidFill>
                  <a:srgbClr val="FFFFFF"/>
                </a:solidFill>
                <a:latin typeface="Segoe UI"/>
              </a:rPr>
              <a:t>Sugere e completa código em tempo real.</a:t>
            </a:r>
          </a:p>
          <a:p>
            <a:pPr>
              <a:lnSpc>
                <a:spcPct val="104000"/>
              </a:lnSpc>
              <a:spcBef>
                <a:spcPts val="0"/>
              </a:spcBef>
              <a:spcAft>
                <a:spcPts val="400"/>
              </a:spcAft>
            </a:pPr>
            <a:r>
              <a:rPr sz="1200" b="0">
                <a:solidFill>
                  <a:srgbClr val="22C3A6"/>
                </a:solidFill>
                <a:latin typeface="Segoe UI"/>
              </a:rPr>
              <a:t>— </a:t>
            </a:r>
            <a:r>
              <a:rPr sz="1200">
                <a:solidFill>
                  <a:srgbClr val="FFFFFF"/>
                </a:solidFill>
                <a:latin typeface="Segoe UI"/>
              </a:rPr>
              <a:t>Explica, refatora e corrige erros.</a:t>
            </a:r>
          </a:p>
          <a:p>
            <a:pPr>
              <a:lnSpc>
                <a:spcPct val="104000"/>
              </a:lnSpc>
              <a:spcBef>
                <a:spcPts val="0"/>
              </a:spcBef>
              <a:spcAft>
                <a:spcPts val="400"/>
              </a:spcAft>
            </a:pPr>
            <a:r>
              <a:rPr sz="1200" b="0">
                <a:solidFill>
                  <a:srgbClr val="22C3A6"/>
                </a:solidFill>
                <a:latin typeface="Segoe UI"/>
              </a:rPr>
              <a:t>— </a:t>
            </a:r>
            <a:r>
              <a:rPr sz="1200">
                <a:solidFill>
                  <a:srgbClr val="FFFFFF"/>
                </a:solidFill>
                <a:latin typeface="Segoe UI"/>
              </a:rPr>
              <a:t>Ajuda a desenhar e revisar decisões de arquitetura.</a:t>
            </a:r>
          </a:p>
        </p:txBody>
      </p:sp>
      <p:sp>
        <p:nvSpPr>
          <p:cNvPr id="14" name="Rounded Rectangle 13"/>
          <p:cNvSpPr/>
          <p:nvPr/>
        </p:nvSpPr>
        <p:spPr>
          <a:xfrm>
            <a:off x="457200" y="3886200"/>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57200" y="3886200"/>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 y="3886200"/>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F5B301"/>
                </a:solidFill>
                <a:latin typeface="Segoe UI"/>
              </a:rPr>
              <a:t>⚖  TRADE-OFFS &amp; DECISÃO</a:t>
            </a:r>
          </a:p>
        </p:txBody>
      </p:sp>
      <p:sp>
        <p:nvSpPr>
          <p:cNvPr id="17" name="TextBox 16"/>
          <p:cNvSpPr txBox="1"/>
          <p:nvPr/>
        </p:nvSpPr>
        <p:spPr>
          <a:xfrm>
            <a:off x="640080" y="4343400"/>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F5B301"/>
                </a:solidFill>
                <a:latin typeface="Segoe UI"/>
              </a:rPr>
              <a:t>— </a:t>
            </a:r>
            <a:r>
              <a:rPr sz="1200">
                <a:solidFill>
                  <a:srgbClr val="FFFFFF"/>
                </a:solidFill>
                <a:latin typeface="Segoe UI"/>
              </a:rPr>
              <a:t>Produtividade x revisão humana: acelera, mas exige critério do arquiteto.</a:t>
            </a:r>
          </a:p>
          <a:p>
            <a:pPr>
              <a:lnSpc>
                <a:spcPct val="104000"/>
              </a:lnSpc>
              <a:spcBef>
                <a:spcPts val="0"/>
              </a:spcBef>
              <a:spcAft>
                <a:spcPts val="400"/>
              </a:spcAft>
            </a:pPr>
            <a:r>
              <a:rPr sz="1200" b="0">
                <a:solidFill>
                  <a:srgbClr val="F5B301"/>
                </a:solidFill>
                <a:latin typeface="Segoe UI"/>
              </a:rPr>
              <a:t>— </a:t>
            </a:r>
            <a:r>
              <a:rPr sz="1200">
                <a:solidFill>
                  <a:srgbClr val="FFFFFF"/>
                </a:solidFill>
                <a:latin typeface="Segoe UI"/>
              </a:rPr>
              <a:t>Confiar cegamente x validar: IA propõe, humano decide.</a:t>
            </a:r>
          </a:p>
          <a:p>
            <a:pPr>
              <a:lnSpc>
                <a:spcPct val="104000"/>
              </a:lnSpc>
              <a:spcBef>
                <a:spcPts val="0"/>
              </a:spcBef>
              <a:spcAft>
                <a:spcPts val="400"/>
              </a:spcAft>
            </a:pPr>
            <a:r>
              <a:rPr sz="1200" b="0">
                <a:solidFill>
                  <a:srgbClr val="F5B301"/>
                </a:solidFill>
                <a:latin typeface="Segoe UI"/>
              </a:rPr>
              <a:t>— </a:t>
            </a:r>
            <a:r>
              <a:rPr sz="1200">
                <a:solidFill>
                  <a:srgbClr val="FFFFFF"/>
                </a:solidFill>
                <a:latin typeface="Segoe UI"/>
              </a:rPr>
              <a:t>Decisão: IA como acelerador — a responsabilidade de arquitetura é sua.</a:t>
            </a:r>
          </a:p>
        </p:txBody>
      </p:sp>
      <p:sp>
        <p:nvSpPr>
          <p:cNvPr id="18" name="Rounded Rectangle 17"/>
          <p:cNvSpPr/>
          <p:nvPr/>
        </p:nvSpPr>
        <p:spPr>
          <a:xfrm>
            <a:off x="6217920" y="3886200"/>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217920" y="3886200"/>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82512" y="3886200"/>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3DD68C"/>
                </a:solidFill>
                <a:latin typeface="Segoe UI"/>
              </a:rPr>
              <a:t>✓  BOAS PRÁTICAS DE ARQUITETURA</a:t>
            </a:r>
          </a:p>
        </p:txBody>
      </p:sp>
      <p:sp>
        <p:nvSpPr>
          <p:cNvPr id="21" name="TextBox 20"/>
          <p:cNvSpPr txBox="1"/>
          <p:nvPr/>
        </p:nvSpPr>
        <p:spPr>
          <a:xfrm>
            <a:off x="6400800" y="4343400"/>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3DD68C"/>
                </a:solidFill>
                <a:latin typeface="Segoe UI"/>
              </a:rPr>
              <a:t>— </a:t>
            </a:r>
            <a:r>
              <a:rPr sz="1200">
                <a:solidFill>
                  <a:srgbClr val="FFFFFF"/>
                </a:solidFill>
                <a:latin typeface="Segoe UI"/>
              </a:rPr>
              <a:t>Revise tudo que a IA gera.</a:t>
            </a:r>
          </a:p>
          <a:p>
            <a:pPr>
              <a:lnSpc>
                <a:spcPct val="104000"/>
              </a:lnSpc>
              <a:spcBef>
                <a:spcPts val="0"/>
              </a:spcBef>
              <a:spcAft>
                <a:spcPts val="400"/>
              </a:spcAft>
            </a:pPr>
            <a:r>
              <a:rPr sz="1200" b="0">
                <a:solidFill>
                  <a:srgbClr val="3DD68C"/>
                </a:solidFill>
                <a:latin typeface="Segoe UI"/>
              </a:rPr>
              <a:t>— </a:t>
            </a:r>
            <a:r>
              <a:rPr sz="1200">
                <a:solidFill>
                  <a:srgbClr val="FFFFFF"/>
                </a:solidFill>
                <a:latin typeface="Segoe UI"/>
              </a:rPr>
              <a:t>Descreva intenção e restrições com clareza.</a:t>
            </a:r>
          </a:p>
          <a:p>
            <a:pPr>
              <a:lnSpc>
                <a:spcPct val="104000"/>
              </a:lnSpc>
              <a:spcBef>
                <a:spcPts val="0"/>
              </a:spcBef>
              <a:spcAft>
                <a:spcPts val="400"/>
              </a:spcAft>
            </a:pPr>
            <a:r>
              <a:rPr sz="1200" b="0">
                <a:solidFill>
                  <a:srgbClr val="3DD68C"/>
                </a:solidFill>
                <a:latin typeface="Segoe UI"/>
              </a:rPr>
              <a:t>— </a:t>
            </a:r>
            <a:r>
              <a:rPr sz="1200">
                <a:solidFill>
                  <a:srgbClr val="FFFFFF"/>
                </a:solidFill>
                <a:latin typeface="Segoe UI"/>
              </a:rPr>
              <a:t>Combine com testes automatizados.</a:t>
            </a:r>
          </a:p>
        </p:txBody>
      </p:sp>
      <p:sp>
        <p:nvSpPr>
          <p:cNvPr id="22" name="Rounded Rectangle 21"/>
          <p:cNvSpPr/>
          <p:nvPr/>
        </p:nvSpPr>
        <p:spPr>
          <a:xfrm>
            <a:off x="457200" y="6080759"/>
            <a:ext cx="11274552" cy="457200"/>
          </a:xfrm>
          <a:prstGeom prst="roundRect">
            <a:avLst>
              <a:gd name="adj" fmla="val 6000"/>
            </a:avLst>
          </a:prstGeom>
          <a:solidFill>
            <a:srgbClr val="1D2A4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6080759"/>
            <a:ext cx="2011680" cy="457200"/>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150" b="1" i="0">
                <a:solidFill>
                  <a:srgbClr val="F5B301"/>
                </a:solidFill>
                <a:latin typeface="Segoe UI"/>
              </a:rPr>
              <a:t>💲 CUSTO (leve)</a:t>
            </a:r>
          </a:p>
        </p:txBody>
      </p:sp>
      <p:sp>
        <p:nvSpPr>
          <p:cNvPr id="24" name="TextBox 23"/>
          <p:cNvSpPr txBox="1"/>
          <p:nvPr/>
        </p:nvSpPr>
        <p:spPr>
          <a:xfrm>
            <a:off x="2468880" y="6080759"/>
            <a:ext cx="9144000" cy="457200"/>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150" b="0" i="0">
                <a:solidFill>
                  <a:srgbClr val="9AA7BD"/>
                </a:solidFill>
                <a:latin typeface="Segoe UI"/>
              </a:rPr>
              <a:t>Copilot é por assinatura (licença por usuário). O ganho de produtividade costuma pagar a licença rapidamente.</a:t>
            </a:r>
          </a:p>
        </p:txBody>
      </p:sp>
      <p:sp>
        <p:nvSpPr>
          <p:cNvPr id="25" name="Rectangle 24"/>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
        <p:nvSpPr>
          <p:cNvPr id="27" name="TextBox 26"/>
          <p:cNvSpPr txBox="1"/>
          <p:nvPr/>
        </p:nvSpPr>
        <p:spPr>
          <a:xfrm>
            <a:off x="11155680" y="6565392"/>
            <a:ext cx="822960" cy="292608"/>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900" b="0" i="0">
                <a:solidFill>
                  <a:srgbClr val="9AA7BD"/>
                </a:solidFill>
                <a:latin typeface="Segoe UI"/>
              </a:rPr>
              <a:t>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457200" y="457200"/>
            <a:ext cx="109728" cy="640080"/>
          </a:xfrm>
          <a:prstGeom prst="rect">
            <a:avLst/>
          </a:prstGeom>
          <a:solidFill>
            <a:srgbClr val="2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02336"/>
            <a:ext cx="10789920" cy="27432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200" b="1" i="0">
                <a:solidFill>
                  <a:srgbClr val="2E8BFF"/>
                </a:solidFill>
                <a:latin typeface="Segoe UI"/>
              </a:rPr>
              <a:t>LAB 10 · IA NO DEV</a:t>
            </a:r>
          </a:p>
        </p:txBody>
      </p:sp>
      <p:sp>
        <p:nvSpPr>
          <p:cNvPr id="4" name="TextBox 3"/>
          <p:cNvSpPr txBox="1"/>
          <p:nvPr/>
        </p:nvSpPr>
        <p:spPr>
          <a:xfrm>
            <a:off x="658368" y="658368"/>
            <a:ext cx="8229600" cy="54864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2600" b="1" i="0">
                <a:solidFill>
                  <a:srgbClr val="FFFFFF"/>
                </a:solidFill>
                <a:latin typeface="Segoe UI"/>
              </a:rPr>
              <a:t>MCP — Model Context Protocol</a:t>
            </a:r>
          </a:p>
        </p:txBody>
      </p:sp>
      <p:sp>
        <p:nvSpPr>
          <p:cNvPr id="5" name="TextBox 4"/>
          <p:cNvSpPr txBox="1"/>
          <p:nvPr/>
        </p:nvSpPr>
        <p:spPr>
          <a:xfrm>
            <a:off x="676656" y="1170432"/>
            <a:ext cx="10881360" cy="32004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350" b="0" i="1">
                <a:solidFill>
                  <a:srgbClr val="9AA7BD"/>
                </a:solidFill>
                <a:latin typeface="Segoe UI"/>
              </a:rPr>
              <a:t>Dar contexto e ferramentas reais para a IA</a:t>
            </a:r>
          </a:p>
        </p:txBody>
      </p:sp>
      <p:sp>
        <p:nvSpPr>
          <p:cNvPr id="6" name="Rounded Rectangle 5"/>
          <p:cNvSpPr/>
          <p:nvPr/>
        </p:nvSpPr>
        <p:spPr>
          <a:xfrm>
            <a:off x="457200" y="1572768"/>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1572768"/>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572768"/>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2E8BFF"/>
                </a:solidFill>
                <a:latin typeface="Segoe UI"/>
              </a:rPr>
              <a:t>■  O QUE É</a:t>
            </a:r>
          </a:p>
        </p:txBody>
      </p:sp>
      <p:sp>
        <p:nvSpPr>
          <p:cNvPr id="9" name="TextBox 8"/>
          <p:cNvSpPr txBox="1"/>
          <p:nvPr/>
        </p:nvSpPr>
        <p:spPr>
          <a:xfrm>
            <a:off x="640080" y="2029967"/>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2E8BFF"/>
                </a:solidFill>
                <a:latin typeface="Segoe UI"/>
              </a:rPr>
              <a:t>— </a:t>
            </a:r>
            <a:r>
              <a:rPr sz="1200">
                <a:solidFill>
                  <a:srgbClr val="FFFFFF"/>
                </a:solidFill>
                <a:latin typeface="Segoe UI"/>
              </a:rPr>
              <a:t>Padrão que conecta a IA a ferramentas, dados e serviços.</a:t>
            </a:r>
          </a:p>
          <a:p>
            <a:pPr>
              <a:lnSpc>
                <a:spcPct val="104000"/>
              </a:lnSpc>
              <a:spcBef>
                <a:spcPts val="0"/>
              </a:spcBef>
              <a:spcAft>
                <a:spcPts val="400"/>
              </a:spcAft>
            </a:pPr>
            <a:r>
              <a:rPr sz="1200" b="0">
                <a:solidFill>
                  <a:srgbClr val="2E8BFF"/>
                </a:solidFill>
                <a:latin typeface="Segoe UI"/>
              </a:rPr>
              <a:t>— </a:t>
            </a:r>
            <a:r>
              <a:rPr sz="1200">
                <a:solidFill>
                  <a:srgbClr val="FFFFFF"/>
                </a:solidFill>
                <a:latin typeface="Segoe UI"/>
              </a:rPr>
              <a:t>Fluxo: Copilot -&gt; MCP -&gt; Tools / Azure / documentação / contexto.</a:t>
            </a:r>
          </a:p>
          <a:p>
            <a:pPr>
              <a:lnSpc>
                <a:spcPct val="104000"/>
              </a:lnSpc>
              <a:spcBef>
                <a:spcPts val="0"/>
              </a:spcBef>
              <a:spcAft>
                <a:spcPts val="400"/>
              </a:spcAft>
            </a:pPr>
            <a:r>
              <a:rPr sz="1200" b="0">
                <a:solidFill>
                  <a:srgbClr val="2E8BFF"/>
                </a:solidFill>
                <a:latin typeface="Segoe UI"/>
              </a:rPr>
              <a:t>— </a:t>
            </a:r>
            <a:r>
              <a:rPr sz="1200">
                <a:solidFill>
                  <a:srgbClr val="FFFFFF"/>
                </a:solidFill>
                <a:latin typeface="Segoe UI"/>
              </a:rPr>
              <a:t>A IA deixa de 'achar' e passa a consultar fontes reais.</a:t>
            </a:r>
          </a:p>
        </p:txBody>
      </p:sp>
      <p:sp>
        <p:nvSpPr>
          <p:cNvPr id="10" name="Rounded Rectangle 9"/>
          <p:cNvSpPr/>
          <p:nvPr/>
        </p:nvSpPr>
        <p:spPr>
          <a:xfrm>
            <a:off x="6217920" y="1572768"/>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217920" y="1572768"/>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82512" y="1572768"/>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22C3A6"/>
                </a:solidFill>
                <a:latin typeface="Segoe UI"/>
              </a:rPr>
              <a:t>⚙  COMO FUNCIONA</a:t>
            </a:r>
          </a:p>
        </p:txBody>
      </p:sp>
      <p:sp>
        <p:nvSpPr>
          <p:cNvPr id="13" name="TextBox 12"/>
          <p:cNvSpPr txBox="1"/>
          <p:nvPr/>
        </p:nvSpPr>
        <p:spPr>
          <a:xfrm>
            <a:off x="6400800" y="2029967"/>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22C3A6"/>
                </a:solidFill>
                <a:latin typeface="Segoe UI"/>
              </a:rPr>
              <a:t>— </a:t>
            </a:r>
            <a:r>
              <a:rPr sz="1200">
                <a:solidFill>
                  <a:srgbClr val="FFFFFF"/>
                </a:solidFill>
                <a:latin typeface="Segoe UI"/>
              </a:rPr>
              <a:t>Servidores MCP expõem ações (ex.: consultar Azure, docs, banco).</a:t>
            </a:r>
          </a:p>
          <a:p>
            <a:pPr>
              <a:lnSpc>
                <a:spcPct val="104000"/>
              </a:lnSpc>
              <a:spcBef>
                <a:spcPts val="0"/>
              </a:spcBef>
              <a:spcAft>
                <a:spcPts val="400"/>
              </a:spcAft>
            </a:pPr>
            <a:r>
              <a:rPr sz="1200" b="0">
                <a:solidFill>
                  <a:srgbClr val="22C3A6"/>
                </a:solidFill>
                <a:latin typeface="Segoe UI"/>
              </a:rPr>
              <a:t>— </a:t>
            </a:r>
            <a:r>
              <a:rPr sz="1200">
                <a:solidFill>
                  <a:srgbClr val="FFFFFF"/>
                </a:solidFill>
                <a:latin typeface="Segoe UI"/>
              </a:rPr>
              <a:t>A IA usa essas ferramentas para agir com contexto atualizado.</a:t>
            </a:r>
          </a:p>
          <a:p>
            <a:pPr>
              <a:lnSpc>
                <a:spcPct val="104000"/>
              </a:lnSpc>
              <a:spcBef>
                <a:spcPts val="0"/>
              </a:spcBef>
              <a:spcAft>
                <a:spcPts val="400"/>
              </a:spcAft>
            </a:pPr>
            <a:r>
              <a:rPr sz="1200" b="0">
                <a:solidFill>
                  <a:srgbClr val="22C3A6"/>
                </a:solidFill>
                <a:latin typeface="Segoe UI"/>
              </a:rPr>
              <a:t>— </a:t>
            </a:r>
            <a:r>
              <a:rPr sz="1200">
                <a:solidFill>
                  <a:srgbClr val="FFFFFF"/>
                </a:solidFill>
                <a:latin typeface="Segoe UI"/>
              </a:rPr>
              <a:t>Respostas ancoradas em dados reais do seu ambiente.</a:t>
            </a:r>
          </a:p>
        </p:txBody>
      </p:sp>
      <p:sp>
        <p:nvSpPr>
          <p:cNvPr id="14" name="Rounded Rectangle 13"/>
          <p:cNvSpPr/>
          <p:nvPr/>
        </p:nvSpPr>
        <p:spPr>
          <a:xfrm>
            <a:off x="457200" y="3886200"/>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57200" y="3886200"/>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 y="3886200"/>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F5B301"/>
                </a:solidFill>
                <a:latin typeface="Segoe UI"/>
              </a:rPr>
              <a:t>⚖  TRADE-OFFS &amp; DECISÃO</a:t>
            </a:r>
          </a:p>
        </p:txBody>
      </p:sp>
      <p:sp>
        <p:nvSpPr>
          <p:cNvPr id="17" name="TextBox 16"/>
          <p:cNvSpPr txBox="1"/>
          <p:nvPr/>
        </p:nvSpPr>
        <p:spPr>
          <a:xfrm>
            <a:off x="640080" y="4343400"/>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F5B301"/>
                </a:solidFill>
                <a:latin typeface="Segoe UI"/>
              </a:rPr>
              <a:t>— </a:t>
            </a:r>
            <a:r>
              <a:rPr sz="1200">
                <a:solidFill>
                  <a:srgbClr val="FFFFFF"/>
                </a:solidFill>
                <a:latin typeface="Segoe UI"/>
              </a:rPr>
              <a:t>Mais capacidade x mais superfície: poder vs. governança/segurança.</a:t>
            </a:r>
          </a:p>
          <a:p>
            <a:pPr>
              <a:lnSpc>
                <a:spcPct val="104000"/>
              </a:lnSpc>
              <a:spcBef>
                <a:spcPts val="0"/>
              </a:spcBef>
              <a:spcAft>
                <a:spcPts val="400"/>
              </a:spcAft>
            </a:pPr>
            <a:r>
              <a:rPr sz="1200" b="0">
                <a:solidFill>
                  <a:srgbClr val="F5B301"/>
                </a:solidFill>
                <a:latin typeface="Segoe UI"/>
              </a:rPr>
              <a:t>— </a:t>
            </a:r>
            <a:r>
              <a:rPr sz="1200">
                <a:solidFill>
                  <a:srgbClr val="FFFFFF"/>
                </a:solidFill>
                <a:latin typeface="Segoe UI"/>
              </a:rPr>
              <a:t>Ferramentas locais x remotas: controle vs. alcance.</a:t>
            </a:r>
          </a:p>
          <a:p>
            <a:pPr>
              <a:lnSpc>
                <a:spcPct val="104000"/>
              </a:lnSpc>
              <a:spcBef>
                <a:spcPts val="0"/>
              </a:spcBef>
              <a:spcAft>
                <a:spcPts val="400"/>
              </a:spcAft>
            </a:pPr>
            <a:r>
              <a:rPr sz="1200" b="0">
                <a:solidFill>
                  <a:srgbClr val="F5B301"/>
                </a:solidFill>
                <a:latin typeface="Segoe UI"/>
              </a:rPr>
              <a:t>— </a:t>
            </a:r>
            <a:r>
              <a:rPr sz="1200">
                <a:solidFill>
                  <a:srgbClr val="FFFFFF"/>
                </a:solidFill>
                <a:latin typeface="Segoe UI"/>
              </a:rPr>
              <a:t>Decisão: exponha apenas ferramentas necessárias, com permissão mínima.</a:t>
            </a:r>
          </a:p>
        </p:txBody>
      </p:sp>
      <p:sp>
        <p:nvSpPr>
          <p:cNvPr id="18" name="Rounded Rectangle 17"/>
          <p:cNvSpPr/>
          <p:nvPr/>
        </p:nvSpPr>
        <p:spPr>
          <a:xfrm>
            <a:off x="6217920" y="3886200"/>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217920" y="3886200"/>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82512" y="3886200"/>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3DD68C"/>
                </a:solidFill>
                <a:latin typeface="Segoe UI"/>
              </a:rPr>
              <a:t>✓  BOAS PRÁTICAS DE ARQUITETURA</a:t>
            </a:r>
          </a:p>
        </p:txBody>
      </p:sp>
      <p:sp>
        <p:nvSpPr>
          <p:cNvPr id="21" name="TextBox 20"/>
          <p:cNvSpPr txBox="1"/>
          <p:nvPr/>
        </p:nvSpPr>
        <p:spPr>
          <a:xfrm>
            <a:off x="6400800" y="4343400"/>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3DD68C"/>
                </a:solidFill>
                <a:latin typeface="Segoe UI"/>
              </a:rPr>
              <a:t>— </a:t>
            </a:r>
            <a:r>
              <a:rPr sz="1200">
                <a:solidFill>
                  <a:srgbClr val="FFFFFF"/>
                </a:solidFill>
                <a:latin typeface="Segoe UI"/>
              </a:rPr>
              <a:t>Trate MCP como integração sensível (menor privilégio).</a:t>
            </a:r>
          </a:p>
          <a:p>
            <a:pPr>
              <a:lnSpc>
                <a:spcPct val="104000"/>
              </a:lnSpc>
              <a:spcBef>
                <a:spcPts val="0"/>
              </a:spcBef>
              <a:spcAft>
                <a:spcPts val="400"/>
              </a:spcAft>
            </a:pPr>
            <a:r>
              <a:rPr sz="1200" b="0">
                <a:solidFill>
                  <a:srgbClr val="3DD68C"/>
                </a:solidFill>
                <a:latin typeface="Segoe UI"/>
              </a:rPr>
              <a:t>— </a:t>
            </a:r>
            <a:r>
              <a:rPr sz="1200">
                <a:solidFill>
                  <a:srgbClr val="FFFFFF"/>
                </a:solidFill>
                <a:latin typeface="Segoe UI"/>
              </a:rPr>
              <a:t>Audite as ferramentas expostas.</a:t>
            </a:r>
          </a:p>
          <a:p>
            <a:pPr>
              <a:lnSpc>
                <a:spcPct val="104000"/>
              </a:lnSpc>
              <a:spcBef>
                <a:spcPts val="0"/>
              </a:spcBef>
              <a:spcAft>
                <a:spcPts val="400"/>
              </a:spcAft>
            </a:pPr>
            <a:r>
              <a:rPr sz="1200" b="0">
                <a:solidFill>
                  <a:srgbClr val="3DD68C"/>
                </a:solidFill>
                <a:latin typeface="Segoe UI"/>
              </a:rPr>
              <a:t>— </a:t>
            </a:r>
            <a:r>
              <a:rPr sz="1200">
                <a:solidFill>
                  <a:srgbClr val="FFFFFF"/>
                </a:solidFill>
                <a:latin typeface="Segoe UI"/>
              </a:rPr>
              <a:t>Contexto de qualidade = respostas de qualidade.</a:t>
            </a:r>
          </a:p>
        </p:txBody>
      </p:sp>
      <p:sp>
        <p:nvSpPr>
          <p:cNvPr id="22" name="Rounded Rectangle 21"/>
          <p:cNvSpPr/>
          <p:nvPr/>
        </p:nvSpPr>
        <p:spPr>
          <a:xfrm>
            <a:off x="457200" y="6080759"/>
            <a:ext cx="11274552" cy="457200"/>
          </a:xfrm>
          <a:prstGeom prst="roundRect">
            <a:avLst>
              <a:gd name="adj" fmla="val 6000"/>
            </a:avLst>
          </a:prstGeom>
          <a:solidFill>
            <a:srgbClr val="1D2A4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6080759"/>
            <a:ext cx="2011680" cy="457200"/>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150" b="1" i="0">
                <a:solidFill>
                  <a:srgbClr val="F5B301"/>
                </a:solidFill>
                <a:latin typeface="Segoe UI"/>
              </a:rPr>
              <a:t>💲 CUSTO (leve)</a:t>
            </a:r>
          </a:p>
        </p:txBody>
      </p:sp>
      <p:sp>
        <p:nvSpPr>
          <p:cNvPr id="24" name="TextBox 23"/>
          <p:cNvSpPr txBox="1"/>
          <p:nvPr/>
        </p:nvSpPr>
        <p:spPr>
          <a:xfrm>
            <a:off x="2468880" y="6080759"/>
            <a:ext cx="9144000" cy="457200"/>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150" b="0" i="0">
                <a:solidFill>
                  <a:srgbClr val="9AA7BD"/>
                </a:solidFill>
                <a:latin typeface="Segoe UI"/>
              </a:rPr>
              <a:t>MCP em si não cobra; custo vem dos serviços que ele consome (ex.: chamadas de modelo/APIs). Diferencial forte da Imersão.</a:t>
            </a:r>
          </a:p>
        </p:txBody>
      </p:sp>
      <p:sp>
        <p:nvSpPr>
          <p:cNvPr id="25" name="Rectangle 24"/>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
        <p:nvSpPr>
          <p:cNvPr id="27" name="TextBox 26"/>
          <p:cNvSpPr txBox="1"/>
          <p:nvPr/>
        </p:nvSpPr>
        <p:spPr>
          <a:xfrm>
            <a:off x="11155680" y="6565392"/>
            <a:ext cx="822960" cy="292608"/>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900" b="0" i="0">
                <a:solidFill>
                  <a:srgbClr val="9AA7BD"/>
                </a:solidFill>
                <a:latin typeface="Segoe UI"/>
              </a:rPr>
              <a:t>8</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10182A"/>
        </a:solidFill>
        <a:effectLst/>
      </p:bgPr>
    </p:bg>
    <p:spTree>
      <p:nvGrpSpPr>
        <p:cNvPr id="1" name=""/>
        <p:cNvGrpSpPr/>
        <p:nvPr/>
      </p:nvGrpSpPr>
      <p:grpSpPr>
        <a:xfrm>
          <a:off x="0" y="0"/>
          <a:ext cx="0" cy="0"/>
          <a:chOff x="0" y="0"/>
          <a:chExt cx="0" cy="0"/>
        </a:xfrm>
      </p:grpSpPr>
      <p:sp>
        <p:nvSpPr>
          <p:cNvPr id="2" name="TextBox 1"/>
          <p:cNvSpPr txBox="1"/>
          <p:nvPr/>
        </p:nvSpPr>
        <p:spPr>
          <a:xfrm>
            <a:off x="822960" y="1097280"/>
            <a:ext cx="2743200" cy="109728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2000" b="1" i="0">
                <a:solidFill>
                  <a:srgbClr val="F5B301"/>
                </a:solidFill>
                <a:latin typeface="Segoe UI"/>
              </a:rPr>
              <a:t>“</a:t>
            </a:r>
          </a:p>
        </p:txBody>
      </p:sp>
      <p:sp>
        <p:nvSpPr>
          <p:cNvPr id="3" name="TextBox 2"/>
          <p:cNvSpPr txBox="1"/>
          <p:nvPr/>
        </p:nvSpPr>
        <p:spPr>
          <a:xfrm>
            <a:off x="1463040" y="2011680"/>
            <a:ext cx="9418320" cy="2560320"/>
          </a:xfrm>
          <a:prstGeom prst="rect">
            <a:avLst/>
          </a:prstGeom>
          <a:noFill/>
        </p:spPr>
        <p:txBody>
          <a:bodyPr wrap="square" lIns="25400" tIns="25400" rIns="25400" bIns="25400" anchor="t">
            <a:spAutoFit/>
          </a:bodyPr>
          <a:lstStyle/>
          <a:p>
            <a:pPr algn="l">
              <a:lnSpc>
                <a:spcPct val="112000"/>
              </a:lnSpc>
              <a:spcBef>
                <a:spcPts val="0"/>
              </a:spcBef>
              <a:spcAft>
                <a:spcPts val="0"/>
              </a:spcAft>
            </a:pPr>
            <a:r>
              <a:rPr sz="2600" b="0" i="1">
                <a:solidFill>
                  <a:srgbClr val="FFFFFF"/>
                </a:solidFill>
                <a:latin typeface="Segoe UI"/>
              </a:rPr>
              <a:t>Eu estava estagnado e inseguro. Estruturei meu aprendizado, virei Arquiteto Azure e hoje trabalho em projetos maiores, com salário muito melhor.</a:t>
            </a:r>
          </a:p>
        </p:txBody>
      </p:sp>
      <p:sp>
        <p:nvSpPr>
          <p:cNvPr id="4" name="Rectangle 3"/>
          <p:cNvSpPr/>
          <p:nvPr/>
        </p:nvSpPr>
        <p:spPr>
          <a:xfrm>
            <a:off x="1481328" y="5029200"/>
            <a:ext cx="2194560" cy="45720"/>
          </a:xfrm>
          <a:prstGeom prst="rect">
            <a:avLst/>
          </a:prstGeom>
          <a:solidFill>
            <a:srgbClr val="F5B3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81328" y="5166360"/>
            <a:ext cx="9144000" cy="45720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500" b="1" i="0">
                <a:solidFill>
                  <a:srgbClr val="FFFFFF"/>
                </a:solidFill>
                <a:latin typeface="Segoe UI"/>
              </a:rPr>
              <a:t>Aluno High Expert  </a:t>
            </a:r>
            <a:r>
              <a:rPr sz="1400" b="0" i="1">
                <a:solidFill>
                  <a:srgbClr val="9AA7BD"/>
                </a:solidFill>
                <a:latin typeface="Segoe UI"/>
              </a:rPr>
              <a:t>de estagnado a Arquiteto — transformação real de carreira</a:t>
            </a:r>
          </a:p>
        </p:txBody>
      </p:sp>
      <p:sp>
        <p:nvSpPr>
          <p:cNvPr id="6" name="TextBox 5"/>
          <p:cNvSpPr txBox="1"/>
          <p:nvPr/>
        </p:nvSpPr>
        <p:spPr>
          <a:xfrm>
            <a:off x="1481328" y="5669280"/>
            <a:ext cx="9144000" cy="36576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200" b="0" i="1">
                <a:solidFill>
                  <a:srgbClr val="9AA7BD"/>
                </a:solidFill>
                <a:latin typeface="Segoe UI"/>
              </a:rPr>
              <a:t>Depoimento — prova real de transformação de carreira</a:t>
            </a:r>
          </a:p>
        </p:txBody>
      </p:sp>
      <p:sp>
        <p:nvSpPr>
          <p:cNvPr id="7" name="Rectangle 6"/>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
        <p:nvSpPr>
          <p:cNvPr id="9" name="TextBox 8"/>
          <p:cNvSpPr txBox="1"/>
          <p:nvPr/>
        </p:nvSpPr>
        <p:spPr>
          <a:xfrm>
            <a:off x="11155680" y="6565392"/>
            <a:ext cx="822960" cy="292608"/>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900" b="0" i="0">
                <a:solidFill>
                  <a:srgbClr val="9AA7BD"/>
                </a:solidFill>
                <a:latin typeface="Segoe UI"/>
              </a:rPr>
              <a:t>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182A"/>
        </a:solidFill>
        <a:effectLst/>
      </p:bgPr>
    </p:bg>
    <p:spTree>
      <p:nvGrpSpPr>
        <p:cNvPr id="1" name=""/>
        <p:cNvGrpSpPr/>
        <p:nvPr/>
      </p:nvGrpSpPr>
      <p:grpSpPr>
        <a:xfrm>
          <a:off x="0" y="0"/>
          <a:ext cx="0" cy="0"/>
          <a:chOff x="0" y="0"/>
          <a:chExt cx="0" cy="0"/>
        </a:xfrm>
      </p:grpSpPr>
      <p:sp>
        <p:nvSpPr>
          <p:cNvPr id="2" name="TextBox 1"/>
          <p:cNvSpPr txBox="1"/>
          <p:nvPr/>
        </p:nvSpPr>
        <p:spPr>
          <a:xfrm>
            <a:off x="914400" y="1188720"/>
            <a:ext cx="10332720" cy="263277"/>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400" b="1" i="0" dirty="0">
                <a:solidFill>
                  <a:srgbClr val="F5B301"/>
                </a:solidFill>
                <a:latin typeface="Segoe UI"/>
              </a:rPr>
              <a:t>REFLEXÃO</a:t>
            </a:r>
          </a:p>
        </p:txBody>
      </p:sp>
      <p:sp>
        <p:nvSpPr>
          <p:cNvPr id="3" name="TextBox 2"/>
          <p:cNvSpPr txBox="1"/>
          <p:nvPr/>
        </p:nvSpPr>
        <p:spPr>
          <a:xfrm>
            <a:off x="914400" y="1737360"/>
            <a:ext cx="10332720" cy="893193"/>
          </a:xfrm>
          <a:prstGeom prst="rect">
            <a:avLst/>
          </a:prstGeom>
          <a:noFill/>
        </p:spPr>
        <p:txBody>
          <a:bodyPr wrap="square" lIns="25400" tIns="25400" rIns="25400" bIns="25400" anchor="t">
            <a:spAutoFit/>
          </a:bodyPr>
          <a:lstStyle/>
          <a:p>
            <a:pPr algn="l">
              <a:lnSpc>
                <a:spcPct val="105000"/>
              </a:lnSpc>
              <a:spcBef>
                <a:spcPts val="0"/>
              </a:spcBef>
              <a:spcAft>
                <a:spcPts val="0"/>
              </a:spcAft>
            </a:pPr>
            <a:r>
              <a:rPr sz="2700" b="1" i="0" dirty="0">
                <a:solidFill>
                  <a:srgbClr val="FFFFFF"/>
                </a:solidFill>
                <a:latin typeface="Segoe UI"/>
              </a:rPr>
              <a:t>Onde </a:t>
            </a:r>
            <a:r>
              <a:rPr sz="2700" b="1" i="0" dirty="0" err="1">
                <a:solidFill>
                  <a:srgbClr val="FFFFFF"/>
                </a:solidFill>
                <a:latin typeface="Segoe UI"/>
              </a:rPr>
              <a:t>você</a:t>
            </a:r>
            <a:r>
              <a:rPr sz="2700" b="1" i="0" dirty="0">
                <a:solidFill>
                  <a:srgbClr val="FFFFFF"/>
                </a:solidFill>
                <a:latin typeface="Segoe UI"/>
              </a:rPr>
              <a:t> </a:t>
            </a:r>
            <a:r>
              <a:rPr sz="2700" b="1" i="0" dirty="0" err="1">
                <a:solidFill>
                  <a:srgbClr val="FFFFFF"/>
                </a:solidFill>
                <a:latin typeface="Segoe UI"/>
              </a:rPr>
              <a:t>estará</a:t>
            </a:r>
            <a:r>
              <a:rPr sz="2700" b="1" i="0" dirty="0">
                <a:solidFill>
                  <a:srgbClr val="FFFFFF"/>
                </a:solidFill>
                <a:latin typeface="Segoe UI"/>
              </a:rPr>
              <a:t> </a:t>
            </a:r>
            <a:r>
              <a:rPr lang="pt-BR" sz="2700" b="1" dirty="0">
                <a:solidFill>
                  <a:srgbClr val="FFFFFF"/>
                </a:solidFill>
                <a:latin typeface="Segoe UI"/>
              </a:rPr>
              <a:t>P</a:t>
            </a:r>
            <a:r>
              <a:rPr sz="2700" b="1" i="0" dirty="0" err="1">
                <a:solidFill>
                  <a:srgbClr val="FFFFFF"/>
                </a:solidFill>
                <a:latin typeface="Segoe UI"/>
              </a:rPr>
              <a:t>rofissionalmente</a:t>
            </a:r>
            <a:r>
              <a:rPr sz="2700" b="1" i="0" dirty="0">
                <a:solidFill>
                  <a:srgbClr val="FFFFFF"/>
                </a:solidFill>
                <a:latin typeface="Segoe UI"/>
              </a:rPr>
              <a:t> </a:t>
            </a:r>
            <a:r>
              <a:rPr sz="2700" b="1" i="0" dirty="0" err="1">
                <a:solidFill>
                  <a:srgbClr val="FFFFFF"/>
                </a:solidFill>
                <a:latin typeface="Segoe UI"/>
              </a:rPr>
              <a:t>daqui</a:t>
            </a:r>
            <a:r>
              <a:rPr sz="2700" b="1" i="0" dirty="0">
                <a:solidFill>
                  <a:srgbClr val="FFFFFF"/>
                </a:solidFill>
                <a:latin typeface="Segoe UI"/>
              </a:rPr>
              <a:t> a 12 meses </a:t>
            </a:r>
            <a:r>
              <a:rPr sz="2700" b="1" i="0" dirty="0" err="1">
                <a:solidFill>
                  <a:srgbClr val="FFFFFF"/>
                </a:solidFill>
                <a:latin typeface="Segoe UI"/>
              </a:rPr>
              <a:t>aprendendo</a:t>
            </a:r>
            <a:r>
              <a:rPr sz="2700" b="1" i="0" dirty="0">
                <a:solidFill>
                  <a:srgbClr val="FFFFFF"/>
                </a:solidFill>
                <a:latin typeface="Segoe UI"/>
              </a:rPr>
              <a:t> Azure de forma </a:t>
            </a:r>
            <a:r>
              <a:rPr sz="2700" b="1" i="0" dirty="0" err="1">
                <a:solidFill>
                  <a:srgbClr val="FFFFFF"/>
                </a:solidFill>
                <a:latin typeface="Segoe UI"/>
              </a:rPr>
              <a:t>fragmentada</a:t>
            </a:r>
            <a:r>
              <a:rPr sz="2700" b="1" i="0" dirty="0">
                <a:solidFill>
                  <a:srgbClr val="FFFFFF"/>
                </a:solidFill>
                <a:latin typeface="Segoe UI"/>
              </a:rPr>
              <a:t>?</a:t>
            </a:r>
          </a:p>
        </p:txBody>
      </p:sp>
      <p:sp>
        <p:nvSpPr>
          <p:cNvPr id="4" name="TextBox 3"/>
          <p:cNvSpPr txBox="1"/>
          <p:nvPr/>
        </p:nvSpPr>
        <p:spPr>
          <a:xfrm>
            <a:off x="914400" y="3840480"/>
            <a:ext cx="10332720" cy="1329467"/>
          </a:xfrm>
          <a:prstGeom prst="rect">
            <a:avLst/>
          </a:prstGeom>
          <a:noFill/>
        </p:spPr>
        <p:txBody>
          <a:bodyPr wrap="square" lIns="25400" tIns="25400" rIns="25400" bIns="25400" anchor="t">
            <a:spAutoFit/>
          </a:bodyPr>
          <a:lstStyle/>
          <a:p>
            <a:pPr algn="l">
              <a:lnSpc>
                <a:spcPct val="105000"/>
              </a:lnSpc>
              <a:spcBef>
                <a:spcPts val="0"/>
              </a:spcBef>
              <a:spcAft>
                <a:spcPts val="0"/>
              </a:spcAft>
            </a:pPr>
            <a:r>
              <a:rPr sz="2700" b="1" i="0" dirty="0">
                <a:solidFill>
                  <a:srgbClr val="22C3A6"/>
                </a:solidFill>
                <a:latin typeface="Segoe UI"/>
              </a:rPr>
              <a:t>E </a:t>
            </a:r>
            <a:r>
              <a:rPr sz="2700" b="1" i="0" dirty="0" err="1">
                <a:solidFill>
                  <a:srgbClr val="22C3A6"/>
                </a:solidFill>
                <a:latin typeface="Segoe UI"/>
              </a:rPr>
              <a:t>onde</a:t>
            </a:r>
            <a:r>
              <a:rPr sz="2700" b="1" i="0" dirty="0">
                <a:solidFill>
                  <a:srgbClr val="22C3A6"/>
                </a:solidFill>
                <a:latin typeface="Segoe UI"/>
              </a:rPr>
              <a:t> </a:t>
            </a:r>
            <a:r>
              <a:rPr sz="2700" b="1" i="0" dirty="0" err="1">
                <a:solidFill>
                  <a:srgbClr val="22C3A6"/>
                </a:solidFill>
                <a:latin typeface="Segoe UI"/>
              </a:rPr>
              <a:t>você</a:t>
            </a:r>
            <a:r>
              <a:rPr sz="2700" b="1" i="0" dirty="0">
                <a:solidFill>
                  <a:srgbClr val="22C3A6"/>
                </a:solidFill>
                <a:latin typeface="Segoe UI"/>
              </a:rPr>
              <a:t> </a:t>
            </a:r>
            <a:r>
              <a:rPr sz="2700" b="1" i="0" dirty="0" err="1">
                <a:solidFill>
                  <a:srgbClr val="22C3A6"/>
                </a:solidFill>
                <a:latin typeface="Segoe UI"/>
              </a:rPr>
              <a:t>pode</a:t>
            </a:r>
            <a:r>
              <a:rPr sz="2700" b="1" i="0" dirty="0">
                <a:solidFill>
                  <a:srgbClr val="22C3A6"/>
                </a:solidFill>
                <a:latin typeface="Segoe UI"/>
              </a:rPr>
              <a:t> </a:t>
            </a:r>
            <a:r>
              <a:rPr sz="2700" b="1" i="0" dirty="0" err="1">
                <a:solidFill>
                  <a:srgbClr val="22C3A6"/>
                </a:solidFill>
                <a:latin typeface="Segoe UI"/>
              </a:rPr>
              <a:t>estar</a:t>
            </a:r>
            <a:r>
              <a:rPr sz="2700" b="1" i="0" dirty="0">
                <a:solidFill>
                  <a:srgbClr val="22C3A6"/>
                </a:solidFill>
                <a:latin typeface="Segoe UI"/>
              </a:rPr>
              <a:t> com um </a:t>
            </a:r>
            <a:r>
              <a:rPr lang="pt-BR" sz="2700" b="1" i="0" dirty="0">
                <a:solidFill>
                  <a:srgbClr val="22C3A6"/>
                </a:solidFill>
                <a:latin typeface="Segoe UI"/>
              </a:rPr>
              <a:t>P</a:t>
            </a:r>
            <a:r>
              <a:rPr sz="2700" b="1" i="0" dirty="0" err="1">
                <a:solidFill>
                  <a:srgbClr val="22C3A6"/>
                </a:solidFill>
                <a:latin typeface="Segoe UI"/>
              </a:rPr>
              <a:t>lano</a:t>
            </a:r>
            <a:r>
              <a:rPr sz="2700" b="1" i="0" dirty="0">
                <a:solidFill>
                  <a:srgbClr val="22C3A6"/>
                </a:solidFill>
                <a:latin typeface="Segoe UI"/>
              </a:rPr>
              <a:t> </a:t>
            </a:r>
            <a:r>
              <a:rPr sz="2700" b="1" i="0" dirty="0" err="1">
                <a:solidFill>
                  <a:srgbClr val="22C3A6"/>
                </a:solidFill>
                <a:latin typeface="Segoe UI"/>
              </a:rPr>
              <a:t>estruturado</a:t>
            </a:r>
            <a:r>
              <a:rPr sz="2700" b="1" i="0" dirty="0">
                <a:solidFill>
                  <a:srgbClr val="22C3A6"/>
                </a:solidFill>
                <a:latin typeface="Segoe UI"/>
              </a:rPr>
              <a:t>, </a:t>
            </a:r>
            <a:r>
              <a:rPr sz="2700" b="1" i="0" dirty="0" err="1">
                <a:solidFill>
                  <a:srgbClr val="22C3A6"/>
                </a:solidFill>
                <a:latin typeface="Segoe UI"/>
              </a:rPr>
              <a:t>professores</a:t>
            </a:r>
            <a:r>
              <a:rPr lang="pt-BR" sz="2700" b="1" i="0" dirty="0">
                <a:solidFill>
                  <a:srgbClr val="22C3A6"/>
                </a:solidFill>
                <a:latin typeface="Segoe UI"/>
              </a:rPr>
              <a:t> MVP</a:t>
            </a:r>
            <a:r>
              <a:rPr lang="pt-BR" sz="2700" b="1" dirty="0">
                <a:solidFill>
                  <a:srgbClr val="22C3A6"/>
                </a:solidFill>
                <a:latin typeface="Segoe UI"/>
              </a:rPr>
              <a:t>, e</a:t>
            </a:r>
            <a:r>
              <a:rPr sz="2700" b="1" i="0" dirty="0" err="1">
                <a:solidFill>
                  <a:srgbClr val="22C3A6"/>
                </a:solidFill>
                <a:latin typeface="Segoe UI"/>
              </a:rPr>
              <a:t>specialistas</a:t>
            </a:r>
            <a:r>
              <a:rPr lang="pt-BR" sz="2700" b="1" i="0" dirty="0">
                <a:solidFill>
                  <a:srgbClr val="22C3A6"/>
                </a:solidFill>
                <a:latin typeface="Segoe UI"/>
              </a:rPr>
              <a:t> Microsoft</a:t>
            </a:r>
            <a:r>
              <a:rPr sz="2700" b="1" i="0" dirty="0">
                <a:solidFill>
                  <a:srgbClr val="22C3A6"/>
                </a:solidFill>
                <a:latin typeface="Segoe UI"/>
              </a:rPr>
              <a:t>, </a:t>
            </a:r>
            <a:r>
              <a:rPr sz="2700" b="1" i="0" dirty="0" err="1">
                <a:solidFill>
                  <a:srgbClr val="22C3A6"/>
                </a:solidFill>
                <a:latin typeface="Segoe UI"/>
              </a:rPr>
              <a:t>projetos</a:t>
            </a:r>
            <a:r>
              <a:rPr lang="pt-BR" sz="2700" b="1" i="0" dirty="0">
                <a:solidFill>
                  <a:srgbClr val="22C3A6"/>
                </a:solidFill>
                <a:latin typeface="Segoe UI"/>
              </a:rPr>
              <a:t> Hands-on</a:t>
            </a:r>
            <a:r>
              <a:rPr sz="2700" b="1" i="0" dirty="0">
                <a:solidFill>
                  <a:srgbClr val="22C3A6"/>
                </a:solidFill>
                <a:latin typeface="Segoe UI"/>
              </a:rPr>
              <a:t>, </a:t>
            </a:r>
            <a:r>
              <a:rPr sz="2700" b="1" i="0" dirty="0" err="1">
                <a:solidFill>
                  <a:srgbClr val="22C3A6"/>
                </a:solidFill>
                <a:latin typeface="Segoe UI"/>
              </a:rPr>
              <a:t>certificações</a:t>
            </a:r>
            <a:r>
              <a:rPr sz="2700" b="1" i="0" dirty="0">
                <a:solidFill>
                  <a:srgbClr val="22C3A6"/>
                </a:solidFill>
                <a:latin typeface="Segoe UI"/>
              </a:rPr>
              <a:t>, Cloud e AI?</a:t>
            </a:r>
          </a:p>
        </p:txBody>
      </p:sp>
      <p:sp>
        <p:nvSpPr>
          <p:cNvPr id="5" name="Rectangle 4"/>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
        <p:nvSpPr>
          <p:cNvPr id="7" name="TextBox 6"/>
          <p:cNvSpPr txBox="1"/>
          <p:nvPr/>
        </p:nvSpPr>
        <p:spPr>
          <a:xfrm>
            <a:off x="11155680" y="6565392"/>
            <a:ext cx="822960" cy="292608"/>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900" b="0" i="0">
                <a:solidFill>
                  <a:srgbClr val="9AA7BD"/>
                </a:solidFill>
                <a:latin typeface="Segoe UI"/>
              </a:rPr>
              <a:t>10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457200" y="475488"/>
            <a:ext cx="109728" cy="566928"/>
          </a:xfrm>
          <a:prstGeom prst="rect">
            <a:avLst/>
          </a:prstGeom>
          <a:solidFill>
            <a:srgbClr val="F5B3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20624"/>
            <a:ext cx="10789920" cy="292608"/>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200" b="1" i="0">
                <a:solidFill>
                  <a:srgbClr val="F5B301"/>
                </a:solidFill>
                <a:latin typeface="Segoe UI"/>
              </a:rPr>
              <a:t>PITCH RACIONAL</a:t>
            </a:r>
          </a:p>
        </p:txBody>
      </p:sp>
      <p:sp>
        <p:nvSpPr>
          <p:cNvPr id="4" name="TextBox 3"/>
          <p:cNvSpPr txBox="1"/>
          <p:nvPr/>
        </p:nvSpPr>
        <p:spPr>
          <a:xfrm>
            <a:off x="658368" y="676656"/>
            <a:ext cx="10881360" cy="566928"/>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2700" b="1" i="0">
                <a:solidFill>
                  <a:srgbClr val="FFFFFF"/>
                </a:solidFill>
                <a:latin typeface="Segoe UI"/>
              </a:rPr>
              <a:t>Imersão x Pós-Graduação — a continuação natural</a:t>
            </a:r>
          </a:p>
        </p:txBody>
      </p:sp>
      <p:sp>
        <p:nvSpPr>
          <p:cNvPr id="5" name="Rounded Rectangle 4"/>
          <p:cNvSpPr/>
          <p:nvPr/>
        </p:nvSpPr>
        <p:spPr>
          <a:xfrm>
            <a:off x="457200" y="1554480"/>
            <a:ext cx="5577840" cy="4389120"/>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7200" y="1554480"/>
            <a:ext cx="557784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21792" y="1554480"/>
            <a:ext cx="530352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2E8BFF"/>
                </a:solidFill>
                <a:latin typeface="Segoe UI"/>
              </a:rPr>
              <a:t>IMERSÃO</a:t>
            </a:r>
          </a:p>
        </p:txBody>
      </p:sp>
      <p:sp>
        <p:nvSpPr>
          <p:cNvPr id="8" name="TextBox 7"/>
          <p:cNvSpPr txBox="1"/>
          <p:nvPr/>
        </p:nvSpPr>
        <p:spPr>
          <a:xfrm>
            <a:off x="640080" y="2011680"/>
            <a:ext cx="5212079" cy="857607"/>
          </a:xfrm>
          <a:prstGeom prst="rect">
            <a:avLst/>
          </a:prstGeom>
          <a:noFill/>
        </p:spPr>
        <p:txBody>
          <a:bodyPr wrap="square" lIns="25400" tIns="25400" rIns="25400" bIns="25400">
            <a:spAutoFit/>
          </a:bodyPr>
          <a:lstStyle/>
          <a:p>
            <a:pPr>
              <a:lnSpc>
                <a:spcPct val="104000"/>
              </a:lnSpc>
              <a:spcBef>
                <a:spcPts val="0"/>
              </a:spcBef>
              <a:spcAft>
                <a:spcPts val="400"/>
              </a:spcAft>
            </a:pPr>
            <a:r>
              <a:rPr sz="1500" b="0" dirty="0">
                <a:solidFill>
                  <a:srgbClr val="2E8BFF"/>
                </a:solidFill>
                <a:latin typeface="Segoe UI"/>
              </a:rPr>
              <a:t>— </a:t>
            </a:r>
            <a:r>
              <a:rPr sz="1500" dirty="0">
                <a:solidFill>
                  <a:srgbClr val="FFFFFF"/>
                </a:solidFill>
                <a:latin typeface="Segoe UI"/>
              </a:rPr>
              <a:t>2 </a:t>
            </a:r>
            <a:r>
              <a:rPr sz="1500" dirty="0" err="1">
                <a:solidFill>
                  <a:srgbClr val="FFFFFF"/>
                </a:solidFill>
                <a:latin typeface="Segoe UI"/>
              </a:rPr>
              <a:t>dias</a:t>
            </a:r>
            <a:r>
              <a:rPr sz="1500" dirty="0">
                <a:solidFill>
                  <a:srgbClr val="FFFFFF"/>
                </a:solidFill>
                <a:latin typeface="Segoe UI"/>
              </a:rPr>
              <a:t> </a:t>
            </a:r>
            <a:r>
              <a:rPr sz="1500" dirty="0" err="1">
                <a:solidFill>
                  <a:srgbClr val="FFFFFF"/>
                </a:solidFill>
                <a:latin typeface="Segoe UI"/>
              </a:rPr>
              <a:t>intensivos</a:t>
            </a:r>
            <a:r>
              <a:rPr sz="1500" dirty="0">
                <a:solidFill>
                  <a:srgbClr val="FFFFFF"/>
                </a:solidFill>
                <a:latin typeface="Segoe UI"/>
              </a:rPr>
              <a:t>, </a:t>
            </a:r>
            <a:r>
              <a:rPr lang="pt-BR" sz="1500" dirty="0">
                <a:solidFill>
                  <a:srgbClr val="FFFFFF"/>
                </a:solidFill>
                <a:latin typeface="Segoe UI"/>
              </a:rPr>
              <a:t>H</a:t>
            </a:r>
            <a:r>
              <a:rPr sz="1500" dirty="0">
                <a:solidFill>
                  <a:srgbClr val="FFFFFF"/>
                </a:solidFill>
                <a:latin typeface="Segoe UI"/>
              </a:rPr>
              <a:t>ands-on</a:t>
            </a:r>
          </a:p>
          <a:p>
            <a:pPr>
              <a:lnSpc>
                <a:spcPct val="104000"/>
              </a:lnSpc>
              <a:spcBef>
                <a:spcPts val="0"/>
              </a:spcBef>
              <a:spcAft>
                <a:spcPts val="400"/>
              </a:spcAft>
            </a:pPr>
            <a:r>
              <a:rPr sz="1500" b="0" dirty="0">
                <a:solidFill>
                  <a:srgbClr val="2E8BFF"/>
                </a:solidFill>
                <a:latin typeface="Segoe UI"/>
              </a:rPr>
              <a:t>— </a:t>
            </a:r>
            <a:r>
              <a:rPr sz="1500" dirty="0" err="1">
                <a:solidFill>
                  <a:srgbClr val="FFFFFF"/>
                </a:solidFill>
                <a:latin typeface="Segoe UI"/>
              </a:rPr>
              <a:t>Primeira</a:t>
            </a:r>
            <a:r>
              <a:rPr sz="1500" dirty="0">
                <a:solidFill>
                  <a:srgbClr val="FFFFFF"/>
                </a:solidFill>
                <a:latin typeface="Segoe UI"/>
              </a:rPr>
              <a:t> </a:t>
            </a:r>
            <a:r>
              <a:rPr lang="pt-BR" sz="1500" dirty="0">
                <a:solidFill>
                  <a:srgbClr val="FFFFFF"/>
                </a:solidFill>
                <a:latin typeface="Segoe UI"/>
              </a:rPr>
              <a:t>A</a:t>
            </a:r>
            <a:r>
              <a:rPr sz="1500" dirty="0" err="1">
                <a:solidFill>
                  <a:srgbClr val="FFFFFF"/>
                </a:solidFill>
                <a:latin typeface="Segoe UI"/>
              </a:rPr>
              <a:t>rquitetura</a:t>
            </a:r>
            <a:r>
              <a:rPr sz="1500" dirty="0">
                <a:solidFill>
                  <a:srgbClr val="FFFFFF"/>
                </a:solidFill>
                <a:latin typeface="Segoe UI"/>
              </a:rPr>
              <a:t> Cloud &amp; AI </a:t>
            </a:r>
            <a:r>
              <a:rPr sz="1500" dirty="0" err="1">
                <a:solidFill>
                  <a:srgbClr val="FFFFFF"/>
                </a:solidFill>
                <a:latin typeface="Segoe UI"/>
              </a:rPr>
              <a:t>construída</a:t>
            </a:r>
            <a:endParaRPr sz="1500" dirty="0">
              <a:solidFill>
                <a:srgbClr val="FFFFFF"/>
              </a:solidFill>
              <a:latin typeface="Segoe UI"/>
            </a:endParaRPr>
          </a:p>
          <a:p>
            <a:pPr>
              <a:lnSpc>
                <a:spcPct val="104000"/>
              </a:lnSpc>
              <a:spcBef>
                <a:spcPts val="0"/>
              </a:spcBef>
              <a:spcAft>
                <a:spcPts val="400"/>
              </a:spcAft>
            </a:pPr>
            <a:r>
              <a:rPr sz="1500" b="0" dirty="0">
                <a:solidFill>
                  <a:srgbClr val="2E8BFF"/>
                </a:solidFill>
                <a:latin typeface="Segoe UI"/>
              </a:rPr>
              <a:t>— </a:t>
            </a:r>
            <a:r>
              <a:rPr sz="1500" dirty="0">
                <a:solidFill>
                  <a:srgbClr val="FFFFFF"/>
                </a:solidFill>
                <a:latin typeface="Segoe UI"/>
              </a:rPr>
              <a:t>Base para </a:t>
            </a:r>
            <a:r>
              <a:rPr sz="1500" dirty="0" err="1">
                <a:solidFill>
                  <a:srgbClr val="FFFFFF"/>
                </a:solidFill>
                <a:latin typeface="Segoe UI"/>
              </a:rPr>
              <a:t>pensar</a:t>
            </a:r>
            <a:r>
              <a:rPr sz="1500" dirty="0">
                <a:solidFill>
                  <a:srgbClr val="FFFFFF"/>
                </a:solidFill>
                <a:latin typeface="Segoe UI"/>
              </a:rPr>
              <a:t> </a:t>
            </a:r>
            <a:r>
              <a:rPr sz="1500" dirty="0" err="1">
                <a:solidFill>
                  <a:srgbClr val="FFFFFF"/>
                </a:solidFill>
                <a:latin typeface="Segoe UI"/>
              </a:rPr>
              <a:t>como</a:t>
            </a:r>
            <a:r>
              <a:rPr sz="1500" dirty="0">
                <a:solidFill>
                  <a:srgbClr val="FFFFFF"/>
                </a:solidFill>
                <a:latin typeface="Segoe UI"/>
              </a:rPr>
              <a:t> </a:t>
            </a:r>
            <a:r>
              <a:rPr sz="1500" dirty="0" err="1">
                <a:solidFill>
                  <a:srgbClr val="FFFFFF"/>
                </a:solidFill>
                <a:latin typeface="Segoe UI"/>
              </a:rPr>
              <a:t>Arquiteto</a:t>
            </a:r>
            <a:endParaRPr sz="1500" dirty="0">
              <a:solidFill>
                <a:srgbClr val="FFFFFF"/>
              </a:solidFill>
              <a:latin typeface="Segoe UI"/>
            </a:endParaRPr>
          </a:p>
        </p:txBody>
      </p:sp>
      <p:sp>
        <p:nvSpPr>
          <p:cNvPr id="9" name="Rounded Rectangle 8"/>
          <p:cNvSpPr/>
          <p:nvPr/>
        </p:nvSpPr>
        <p:spPr>
          <a:xfrm>
            <a:off x="6217920" y="1554480"/>
            <a:ext cx="5486400" cy="4389120"/>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217920" y="1554480"/>
            <a:ext cx="548640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82512" y="1554480"/>
            <a:ext cx="521208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F5B301"/>
                </a:solidFill>
                <a:latin typeface="Segoe UI"/>
              </a:rPr>
              <a:t>PÓS-GRADUAÇÃO — AZURE &amp; IA</a:t>
            </a:r>
          </a:p>
        </p:txBody>
      </p:sp>
      <p:sp>
        <p:nvSpPr>
          <p:cNvPr id="12" name="TextBox 11"/>
          <p:cNvSpPr txBox="1"/>
          <p:nvPr/>
        </p:nvSpPr>
        <p:spPr>
          <a:xfrm>
            <a:off x="6400800" y="2011680"/>
            <a:ext cx="5120640" cy="2084738"/>
          </a:xfrm>
          <a:prstGeom prst="rect">
            <a:avLst/>
          </a:prstGeom>
          <a:noFill/>
        </p:spPr>
        <p:txBody>
          <a:bodyPr wrap="square" lIns="25400" tIns="25400" rIns="25400" bIns="25400">
            <a:spAutoFit/>
          </a:bodyPr>
          <a:lstStyle/>
          <a:p>
            <a:pPr>
              <a:lnSpc>
                <a:spcPct val="104000"/>
              </a:lnSpc>
              <a:spcBef>
                <a:spcPts val="0"/>
              </a:spcBef>
              <a:spcAft>
                <a:spcPts val="400"/>
              </a:spcAft>
            </a:pPr>
            <a:r>
              <a:rPr sz="1400" b="0" dirty="0">
                <a:solidFill>
                  <a:srgbClr val="F5B301"/>
                </a:solidFill>
                <a:latin typeface="Segoe UI"/>
              </a:rPr>
              <a:t>— </a:t>
            </a:r>
            <a:r>
              <a:rPr sz="1400" dirty="0">
                <a:solidFill>
                  <a:srgbClr val="FFFFFF"/>
                </a:solidFill>
                <a:latin typeface="Segoe UI"/>
              </a:rPr>
              <a:t>12 meses de </a:t>
            </a:r>
            <a:r>
              <a:rPr sz="1400" dirty="0" err="1">
                <a:solidFill>
                  <a:srgbClr val="FFFFFF"/>
                </a:solidFill>
                <a:latin typeface="Segoe UI"/>
              </a:rPr>
              <a:t>transformação</a:t>
            </a:r>
            <a:r>
              <a:rPr sz="1400" dirty="0">
                <a:solidFill>
                  <a:srgbClr val="FFFFFF"/>
                </a:solidFill>
                <a:latin typeface="Segoe UI"/>
              </a:rPr>
              <a:t> </a:t>
            </a:r>
            <a:r>
              <a:rPr sz="1400" dirty="0" err="1">
                <a:solidFill>
                  <a:srgbClr val="FFFFFF"/>
                </a:solidFill>
                <a:latin typeface="Segoe UI"/>
              </a:rPr>
              <a:t>estruturada</a:t>
            </a:r>
            <a:endParaRPr sz="1400" dirty="0">
              <a:solidFill>
                <a:srgbClr val="FFFFFF"/>
              </a:solidFill>
              <a:latin typeface="Segoe UI"/>
            </a:endParaRPr>
          </a:p>
          <a:p>
            <a:pPr>
              <a:lnSpc>
                <a:spcPct val="104000"/>
              </a:lnSpc>
              <a:spcBef>
                <a:spcPts val="0"/>
              </a:spcBef>
              <a:spcAft>
                <a:spcPts val="400"/>
              </a:spcAft>
            </a:pPr>
            <a:r>
              <a:rPr sz="1400" b="0" dirty="0">
                <a:solidFill>
                  <a:srgbClr val="F5B301"/>
                </a:solidFill>
                <a:latin typeface="Segoe UI"/>
              </a:rPr>
              <a:t>— </a:t>
            </a:r>
            <a:r>
              <a:rPr sz="1400" dirty="0">
                <a:solidFill>
                  <a:srgbClr val="FFFFFF"/>
                </a:solidFill>
                <a:latin typeface="Segoe UI"/>
              </a:rPr>
              <a:t>10 </a:t>
            </a:r>
            <a:r>
              <a:rPr sz="1400" dirty="0" err="1">
                <a:solidFill>
                  <a:srgbClr val="FFFFFF"/>
                </a:solidFill>
                <a:latin typeface="Segoe UI"/>
              </a:rPr>
              <a:t>disciplinas</a:t>
            </a:r>
            <a:r>
              <a:rPr sz="1400" dirty="0">
                <a:solidFill>
                  <a:srgbClr val="FFFFFF"/>
                </a:solidFill>
                <a:latin typeface="Segoe UI"/>
              </a:rPr>
              <a:t> online</a:t>
            </a:r>
            <a:r>
              <a:rPr lang="pt-BR" sz="1400" dirty="0">
                <a:solidFill>
                  <a:srgbClr val="FFFFFF"/>
                </a:solidFill>
                <a:latin typeface="Segoe UI"/>
              </a:rPr>
              <a:t> (reconhecida pelo MEC)</a:t>
            </a:r>
            <a:r>
              <a:rPr sz="1400" dirty="0">
                <a:solidFill>
                  <a:srgbClr val="FFFFFF"/>
                </a:solidFill>
                <a:latin typeface="Segoe UI"/>
              </a:rPr>
              <a:t> + </a:t>
            </a:r>
            <a:r>
              <a:rPr lang="pt-BR" sz="1400" dirty="0">
                <a:solidFill>
                  <a:srgbClr val="FFFFFF"/>
                </a:solidFill>
                <a:latin typeface="Segoe UI"/>
              </a:rPr>
              <a:t>P</a:t>
            </a:r>
            <a:r>
              <a:rPr sz="1400" dirty="0" err="1">
                <a:solidFill>
                  <a:srgbClr val="FFFFFF"/>
                </a:solidFill>
                <a:latin typeface="Segoe UI"/>
              </a:rPr>
              <a:t>rofessores</a:t>
            </a:r>
            <a:r>
              <a:rPr sz="1400" dirty="0">
                <a:solidFill>
                  <a:srgbClr val="FFFFFF"/>
                </a:solidFill>
                <a:latin typeface="Segoe UI"/>
              </a:rPr>
              <a:t> </a:t>
            </a:r>
            <a:r>
              <a:rPr lang="pt-BR" sz="1400" dirty="0" err="1">
                <a:solidFill>
                  <a:srgbClr val="FFFFFF"/>
                </a:solidFill>
                <a:latin typeface="Segoe UI"/>
              </a:rPr>
              <a:t>MVPs</a:t>
            </a:r>
            <a:r>
              <a:rPr lang="pt-BR" sz="1400" dirty="0">
                <a:solidFill>
                  <a:srgbClr val="FFFFFF"/>
                </a:solidFill>
                <a:latin typeface="Segoe UI"/>
              </a:rPr>
              <a:t>, E</a:t>
            </a:r>
            <a:r>
              <a:rPr sz="1400" dirty="0" err="1">
                <a:solidFill>
                  <a:srgbClr val="FFFFFF"/>
                </a:solidFill>
                <a:latin typeface="Segoe UI"/>
              </a:rPr>
              <a:t>specialistas</a:t>
            </a:r>
            <a:r>
              <a:rPr lang="pt-BR" sz="1400" dirty="0">
                <a:solidFill>
                  <a:srgbClr val="FFFFFF"/>
                </a:solidFill>
                <a:latin typeface="Segoe UI"/>
              </a:rPr>
              <a:t> Microsoft e </a:t>
            </a:r>
            <a:r>
              <a:rPr sz="1400" dirty="0">
                <a:solidFill>
                  <a:srgbClr val="FFFFFF"/>
                </a:solidFill>
                <a:latin typeface="Segoe UI"/>
              </a:rPr>
              <a:t>Big Techs</a:t>
            </a:r>
          </a:p>
          <a:p>
            <a:pPr>
              <a:lnSpc>
                <a:spcPct val="104000"/>
              </a:lnSpc>
              <a:spcBef>
                <a:spcPts val="0"/>
              </a:spcBef>
              <a:spcAft>
                <a:spcPts val="400"/>
              </a:spcAft>
            </a:pPr>
            <a:r>
              <a:rPr sz="1400" b="0" dirty="0">
                <a:solidFill>
                  <a:srgbClr val="F5B301"/>
                </a:solidFill>
                <a:latin typeface="Segoe UI"/>
              </a:rPr>
              <a:t>— </a:t>
            </a:r>
            <a:r>
              <a:rPr sz="1400" dirty="0" err="1">
                <a:solidFill>
                  <a:srgbClr val="FFFFFF"/>
                </a:solidFill>
                <a:latin typeface="Segoe UI"/>
              </a:rPr>
              <a:t>Projetos</a:t>
            </a:r>
            <a:r>
              <a:rPr sz="1400" dirty="0">
                <a:solidFill>
                  <a:srgbClr val="FFFFFF"/>
                </a:solidFill>
                <a:latin typeface="Segoe UI"/>
              </a:rPr>
              <a:t> reais, </a:t>
            </a:r>
            <a:r>
              <a:rPr sz="1400" dirty="0" err="1">
                <a:solidFill>
                  <a:srgbClr val="FFFFFF"/>
                </a:solidFill>
                <a:latin typeface="Segoe UI"/>
              </a:rPr>
              <a:t>estudos</a:t>
            </a:r>
            <a:r>
              <a:rPr sz="1400" dirty="0">
                <a:solidFill>
                  <a:srgbClr val="FFFFFF"/>
                </a:solidFill>
                <a:latin typeface="Segoe UI"/>
              </a:rPr>
              <a:t> de </a:t>
            </a:r>
            <a:r>
              <a:rPr sz="1400" dirty="0" err="1">
                <a:solidFill>
                  <a:srgbClr val="FFFFFF"/>
                </a:solidFill>
                <a:latin typeface="Segoe UI"/>
              </a:rPr>
              <a:t>caso</a:t>
            </a:r>
            <a:r>
              <a:rPr sz="1400" dirty="0">
                <a:solidFill>
                  <a:srgbClr val="FFFFFF"/>
                </a:solidFill>
                <a:latin typeface="Segoe UI"/>
              </a:rPr>
              <a:t> e </a:t>
            </a:r>
            <a:r>
              <a:rPr sz="1400" dirty="0" err="1">
                <a:solidFill>
                  <a:srgbClr val="FFFFFF"/>
                </a:solidFill>
                <a:latin typeface="Segoe UI"/>
              </a:rPr>
              <a:t>certificações</a:t>
            </a:r>
            <a:endParaRPr sz="1400" dirty="0">
              <a:solidFill>
                <a:srgbClr val="FFFFFF"/>
              </a:solidFill>
              <a:latin typeface="Segoe UI"/>
            </a:endParaRPr>
          </a:p>
          <a:p>
            <a:pPr>
              <a:lnSpc>
                <a:spcPct val="104000"/>
              </a:lnSpc>
              <a:spcBef>
                <a:spcPts val="0"/>
              </a:spcBef>
              <a:spcAft>
                <a:spcPts val="400"/>
              </a:spcAft>
            </a:pPr>
            <a:r>
              <a:rPr lang="pt-BR" sz="1400" b="0" dirty="0">
                <a:solidFill>
                  <a:srgbClr val="F5B301"/>
                </a:solidFill>
                <a:latin typeface="Segoe UI"/>
              </a:rPr>
              <a:t>— </a:t>
            </a:r>
            <a:r>
              <a:rPr lang="pt-BR" sz="1400" b="0" dirty="0">
                <a:solidFill>
                  <a:srgbClr val="FFFFFF"/>
                </a:solidFill>
                <a:latin typeface="Segoe UI"/>
              </a:rPr>
              <a:t>M</a:t>
            </a:r>
            <a:r>
              <a:rPr lang="pt-BR" sz="1400" dirty="0">
                <a:solidFill>
                  <a:srgbClr val="FFFFFF"/>
                </a:solidFill>
                <a:latin typeface="Segoe UI"/>
              </a:rPr>
              <a:t>entoria de carreira com o MVP Guilherme Maia</a:t>
            </a:r>
          </a:p>
          <a:p>
            <a:pPr>
              <a:lnSpc>
                <a:spcPct val="104000"/>
              </a:lnSpc>
              <a:spcBef>
                <a:spcPts val="0"/>
              </a:spcBef>
              <a:spcAft>
                <a:spcPts val="400"/>
              </a:spcAft>
            </a:pPr>
            <a:r>
              <a:rPr sz="1400" b="0" dirty="0">
                <a:solidFill>
                  <a:srgbClr val="F5B301"/>
                </a:solidFill>
                <a:latin typeface="Segoe UI"/>
              </a:rPr>
              <a:t>— </a:t>
            </a:r>
            <a:r>
              <a:rPr sz="1400" dirty="0" err="1">
                <a:solidFill>
                  <a:srgbClr val="FFFFFF"/>
                </a:solidFill>
                <a:latin typeface="Segoe UI"/>
              </a:rPr>
              <a:t>Comunidade</a:t>
            </a:r>
            <a:r>
              <a:rPr sz="1400" dirty="0">
                <a:solidFill>
                  <a:srgbClr val="FFFFFF"/>
                </a:solidFill>
                <a:latin typeface="Segoe UI"/>
              </a:rPr>
              <a:t>, </a:t>
            </a:r>
            <a:r>
              <a:rPr sz="1400" dirty="0" err="1">
                <a:solidFill>
                  <a:srgbClr val="FFFFFF"/>
                </a:solidFill>
                <a:latin typeface="Segoe UI"/>
              </a:rPr>
              <a:t>encontros</a:t>
            </a:r>
            <a:r>
              <a:rPr lang="pt-BR" sz="1400" dirty="0">
                <a:solidFill>
                  <a:srgbClr val="FFFFFF"/>
                </a:solidFill>
                <a:latin typeface="Segoe UI"/>
              </a:rPr>
              <a:t> Ao vivo de Tutoria</a:t>
            </a:r>
            <a:r>
              <a:rPr sz="1400" dirty="0">
                <a:solidFill>
                  <a:srgbClr val="FFFFFF"/>
                </a:solidFill>
                <a:latin typeface="Segoe UI"/>
              </a:rPr>
              <a:t>, </a:t>
            </a:r>
            <a:r>
              <a:rPr sz="1400" dirty="0" err="1">
                <a:solidFill>
                  <a:srgbClr val="FFFFFF"/>
                </a:solidFill>
                <a:latin typeface="Segoe UI"/>
              </a:rPr>
              <a:t>bônus</a:t>
            </a:r>
            <a:r>
              <a:rPr lang="pt-BR" sz="1400" dirty="0">
                <a:solidFill>
                  <a:srgbClr val="FFFFFF"/>
                </a:solidFill>
                <a:latin typeface="Segoe UI"/>
              </a:rPr>
              <a:t> exclusivos</a:t>
            </a:r>
            <a:r>
              <a:rPr sz="1400" dirty="0">
                <a:solidFill>
                  <a:srgbClr val="FFFFFF"/>
                </a:solidFill>
                <a:latin typeface="Segoe UI"/>
              </a:rPr>
              <a:t> e </a:t>
            </a:r>
            <a:r>
              <a:rPr lang="pt-BR" sz="1400" dirty="0">
                <a:solidFill>
                  <a:srgbClr val="FFFFFF"/>
                </a:solidFill>
                <a:latin typeface="Segoe UI"/>
              </a:rPr>
              <a:t>certificado de Pós-graduação</a:t>
            </a:r>
            <a:endParaRPr sz="1400" dirty="0">
              <a:solidFill>
                <a:srgbClr val="FFFFFF"/>
              </a:solidFill>
              <a:latin typeface="Segoe UI"/>
            </a:endParaRPr>
          </a:p>
          <a:p>
            <a:pPr>
              <a:lnSpc>
                <a:spcPct val="104000"/>
              </a:lnSpc>
              <a:spcBef>
                <a:spcPts val="0"/>
              </a:spcBef>
              <a:spcAft>
                <a:spcPts val="400"/>
              </a:spcAft>
            </a:pPr>
            <a:r>
              <a:rPr sz="1400" b="0" dirty="0">
                <a:solidFill>
                  <a:srgbClr val="F5B301"/>
                </a:solidFill>
                <a:latin typeface="Segoe UI"/>
              </a:rPr>
              <a:t>— </a:t>
            </a:r>
            <a:r>
              <a:rPr sz="1400" dirty="0" err="1">
                <a:solidFill>
                  <a:srgbClr val="FFFFFF"/>
                </a:solidFill>
                <a:latin typeface="Segoe UI"/>
              </a:rPr>
              <a:t>Condição</a:t>
            </a:r>
            <a:r>
              <a:rPr sz="1400" dirty="0">
                <a:solidFill>
                  <a:srgbClr val="FFFFFF"/>
                </a:solidFill>
                <a:latin typeface="Segoe UI"/>
              </a:rPr>
              <a:t> </a:t>
            </a:r>
            <a:r>
              <a:rPr sz="1400" dirty="0" err="1">
                <a:solidFill>
                  <a:srgbClr val="FFFFFF"/>
                </a:solidFill>
                <a:latin typeface="Segoe UI"/>
              </a:rPr>
              <a:t>exclusiva</a:t>
            </a:r>
            <a:r>
              <a:rPr sz="1400" dirty="0">
                <a:solidFill>
                  <a:srgbClr val="FFFFFF"/>
                </a:solidFill>
                <a:latin typeface="Segoe UI"/>
              </a:rPr>
              <a:t> para quem </a:t>
            </a:r>
            <a:r>
              <a:rPr sz="1400" dirty="0" err="1">
                <a:solidFill>
                  <a:srgbClr val="FFFFFF"/>
                </a:solidFill>
                <a:latin typeface="Segoe UI"/>
              </a:rPr>
              <a:t>está</a:t>
            </a:r>
            <a:r>
              <a:rPr sz="1400" dirty="0">
                <a:solidFill>
                  <a:srgbClr val="FFFFFF"/>
                </a:solidFill>
                <a:latin typeface="Segoe UI"/>
              </a:rPr>
              <a:t> </a:t>
            </a:r>
            <a:r>
              <a:rPr lang="pt-BR" sz="1400" dirty="0">
                <a:solidFill>
                  <a:srgbClr val="FFFFFF"/>
                </a:solidFill>
                <a:latin typeface="Segoe UI"/>
              </a:rPr>
              <a:t>AO VIVO hoje.</a:t>
            </a:r>
            <a:endParaRPr sz="1400" dirty="0">
              <a:solidFill>
                <a:srgbClr val="FFFFFF"/>
              </a:solidFill>
              <a:latin typeface="Segoe UI"/>
            </a:endParaRPr>
          </a:p>
        </p:txBody>
      </p:sp>
      <p:sp>
        <p:nvSpPr>
          <p:cNvPr id="13" name="Rectangle 12"/>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
        <p:nvSpPr>
          <p:cNvPr id="15" name="TextBox 14"/>
          <p:cNvSpPr txBox="1"/>
          <p:nvPr/>
        </p:nvSpPr>
        <p:spPr>
          <a:xfrm>
            <a:off x="11155680" y="6565392"/>
            <a:ext cx="822960" cy="292608"/>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900" b="0" i="0">
                <a:solidFill>
                  <a:srgbClr val="9AA7BD"/>
                </a:solidFill>
                <a:latin typeface="Segoe UI"/>
              </a:rPr>
              <a:t>11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457200" y="475488"/>
            <a:ext cx="109728" cy="566928"/>
          </a:xfrm>
          <a:prstGeom prst="rect">
            <a:avLst/>
          </a:prstGeom>
          <a:solidFill>
            <a:srgbClr val="F5B3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20624"/>
            <a:ext cx="10789920" cy="292608"/>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200" b="1" i="0">
                <a:solidFill>
                  <a:srgbClr val="F5B301"/>
                </a:solidFill>
                <a:latin typeface="Segoe UI"/>
              </a:rPr>
              <a:t>OFERTA</a:t>
            </a:r>
          </a:p>
        </p:txBody>
      </p:sp>
      <p:sp>
        <p:nvSpPr>
          <p:cNvPr id="4" name="TextBox 3"/>
          <p:cNvSpPr txBox="1"/>
          <p:nvPr/>
        </p:nvSpPr>
        <p:spPr>
          <a:xfrm>
            <a:off x="658368" y="676656"/>
            <a:ext cx="10881360" cy="566928"/>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2700" b="1" i="0">
                <a:solidFill>
                  <a:srgbClr val="FFFFFF"/>
                </a:solidFill>
                <a:latin typeface="Segoe UI"/>
              </a:rPr>
              <a:t>Pós-Graduação em Arquitetura de Azure com IA</a:t>
            </a:r>
          </a:p>
        </p:txBody>
      </p:sp>
      <p:sp>
        <p:nvSpPr>
          <p:cNvPr id="5" name="Rounded Rectangle 4"/>
          <p:cNvSpPr/>
          <p:nvPr/>
        </p:nvSpPr>
        <p:spPr>
          <a:xfrm>
            <a:off x="457200" y="1554480"/>
            <a:ext cx="6766560" cy="4480560"/>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7200" y="1554480"/>
            <a:ext cx="676656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21792" y="1554480"/>
            <a:ext cx="649224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F5B301"/>
                </a:solidFill>
                <a:latin typeface="Segoe UI"/>
              </a:rPr>
              <a:t>O QUE VOCE RECEBE</a:t>
            </a:r>
          </a:p>
        </p:txBody>
      </p:sp>
      <p:sp>
        <p:nvSpPr>
          <p:cNvPr id="8" name="TextBox 7"/>
          <p:cNvSpPr txBox="1"/>
          <p:nvPr/>
        </p:nvSpPr>
        <p:spPr>
          <a:xfrm>
            <a:off x="640080" y="2011680"/>
            <a:ext cx="6400800" cy="1636666"/>
          </a:xfrm>
          <a:prstGeom prst="rect">
            <a:avLst/>
          </a:prstGeom>
          <a:noFill/>
        </p:spPr>
        <p:txBody>
          <a:bodyPr wrap="square" lIns="25400" tIns="25400" rIns="25400" bIns="25400">
            <a:spAutoFit/>
          </a:bodyPr>
          <a:lstStyle/>
          <a:p>
            <a:pPr>
              <a:lnSpc>
                <a:spcPct val="104000"/>
              </a:lnSpc>
              <a:spcBef>
                <a:spcPts val="0"/>
              </a:spcBef>
              <a:spcAft>
                <a:spcPts val="400"/>
              </a:spcAft>
            </a:pPr>
            <a:r>
              <a:rPr sz="1400" b="0" dirty="0">
                <a:solidFill>
                  <a:srgbClr val="F5B301"/>
                </a:solidFill>
                <a:latin typeface="Segoe UI"/>
              </a:rPr>
              <a:t>— </a:t>
            </a:r>
            <a:r>
              <a:rPr sz="1400" dirty="0">
                <a:solidFill>
                  <a:srgbClr val="FFFFFF"/>
                </a:solidFill>
                <a:latin typeface="Segoe UI"/>
              </a:rPr>
              <a:t>A 1ª Pós-Graduação </a:t>
            </a:r>
            <a:r>
              <a:rPr sz="1400" dirty="0" err="1">
                <a:solidFill>
                  <a:srgbClr val="FFFFFF"/>
                </a:solidFill>
                <a:latin typeface="Segoe UI"/>
              </a:rPr>
              <a:t>em</a:t>
            </a:r>
            <a:r>
              <a:rPr sz="1400" dirty="0">
                <a:solidFill>
                  <a:srgbClr val="FFFFFF"/>
                </a:solidFill>
                <a:latin typeface="Segoe UI"/>
              </a:rPr>
              <a:t> </a:t>
            </a:r>
            <a:r>
              <a:rPr sz="1400" dirty="0" err="1">
                <a:solidFill>
                  <a:srgbClr val="FFFFFF"/>
                </a:solidFill>
                <a:latin typeface="Segoe UI"/>
              </a:rPr>
              <a:t>Arquitetura</a:t>
            </a:r>
            <a:r>
              <a:rPr sz="1400" dirty="0">
                <a:solidFill>
                  <a:srgbClr val="FFFFFF"/>
                </a:solidFill>
                <a:latin typeface="Segoe UI"/>
              </a:rPr>
              <a:t> de Azure com IA do mercado</a:t>
            </a:r>
          </a:p>
          <a:p>
            <a:pPr>
              <a:lnSpc>
                <a:spcPct val="104000"/>
              </a:lnSpc>
              <a:spcBef>
                <a:spcPts val="0"/>
              </a:spcBef>
              <a:spcAft>
                <a:spcPts val="400"/>
              </a:spcAft>
            </a:pPr>
            <a:r>
              <a:rPr sz="1400" b="0" dirty="0">
                <a:solidFill>
                  <a:srgbClr val="F5B301"/>
                </a:solidFill>
                <a:latin typeface="Segoe UI"/>
              </a:rPr>
              <a:t>— </a:t>
            </a:r>
            <a:r>
              <a:rPr sz="1400" dirty="0">
                <a:solidFill>
                  <a:srgbClr val="FFFFFF"/>
                </a:solidFill>
                <a:latin typeface="Segoe UI"/>
              </a:rPr>
              <a:t>12 meses · 10 </a:t>
            </a:r>
            <a:r>
              <a:rPr sz="1400" dirty="0" err="1">
                <a:solidFill>
                  <a:srgbClr val="FFFFFF"/>
                </a:solidFill>
                <a:latin typeface="Segoe UI"/>
              </a:rPr>
              <a:t>disciplinas</a:t>
            </a:r>
            <a:r>
              <a:rPr sz="1400" dirty="0">
                <a:solidFill>
                  <a:srgbClr val="FFFFFF"/>
                </a:solidFill>
                <a:latin typeface="Segoe UI"/>
              </a:rPr>
              <a:t> online</a:t>
            </a:r>
          </a:p>
          <a:p>
            <a:pPr>
              <a:lnSpc>
                <a:spcPct val="104000"/>
              </a:lnSpc>
              <a:spcBef>
                <a:spcPts val="0"/>
              </a:spcBef>
              <a:spcAft>
                <a:spcPts val="400"/>
              </a:spcAft>
            </a:pPr>
            <a:r>
              <a:rPr sz="1400" b="0" dirty="0">
                <a:solidFill>
                  <a:srgbClr val="F5B301"/>
                </a:solidFill>
                <a:latin typeface="Segoe UI"/>
              </a:rPr>
              <a:t>— </a:t>
            </a:r>
            <a:r>
              <a:rPr sz="1400" dirty="0" err="1">
                <a:solidFill>
                  <a:srgbClr val="FFFFFF"/>
                </a:solidFill>
                <a:latin typeface="Segoe UI"/>
              </a:rPr>
              <a:t>Professores</a:t>
            </a:r>
            <a:r>
              <a:rPr sz="1400" dirty="0">
                <a:solidFill>
                  <a:srgbClr val="FFFFFF"/>
                </a:solidFill>
                <a:latin typeface="Segoe UI"/>
              </a:rPr>
              <a:t>: MVPs, </a:t>
            </a:r>
            <a:r>
              <a:rPr lang="pt-BR" sz="1400" dirty="0">
                <a:solidFill>
                  <a:srgbClr val="FFFFFF"/>
                </a:solidFill>
                <a:latin typeface="Segoe UI"/>
              </a:rPr>
              <a:t>Especialistas</a:t>
            </a:r>
            <a:r>
              <a:rPr sz="1400" dirty="0">
                <a:solidFill>
                  <a:srgbClr val="FFFFFF"/>
                </a:solidFill>
                <a:latin typeface="Segoe UI"/>
              </a:rPr>
              <a:t> da Microsoft e Big Techs</a:t>
            </a:r>
          </a:p>
          <a:p>
            <a:pPr>
              <a:lnSpc>
                <a:spcPct val="104000"/>
              </a:lnSpc>
              <a:spcBef>
                <a:spcPts val="0"/>
              </a:spcBef>
              <a:spcAft>
                <a:spcPts val="400"/>
              </a:spcAft>
            </a:pPr>
            <a:r>
              <a:rPr sz="1400" b="0" dirty="0">
                <a:solidFill>
                  <a:srgbClr val="F5B301"/>
                </a:solidFill>
                <a:latin typeface="Segoe UI"/>
              </a:rPr>
              <a:t>— </a:t>
            </a:r>
            <a:r>
              <a:rPr lang="pt-BR" sz="1400" b="0" dirty="0">
                <a:solidFill>
                  <a:srgbClr val="FFFFFF"/>
                </a:solidFill>
                <a:latin typeface="Segoe UI"/>
              </a:rPr>
              <a:t>3</a:t>
            </a:r>
            <a:r>
              <a:rPr sz="1400" dirty="0">
                <a:solidFill>
                  <a:srgbClr val="FFFFFF"/>
                </a:solidFill>
                <a:latin typeface="Segoe UI"/>
              </a:rPr>
              <a:t> meses de </a:t>
            </a:r>
            <a:r>
              <a:rPr lang="pt-BR" sz="1400" dirty="0">
                <a:solidFill>
                  <a:srgbClr val="FFFFFF"/>
                </a:solidFill>
                <a:latin typeface="Segoe UI"/>
              </a:rPr>
              <a:t>M</a:t>
            </a:r>
            <a:r>
              <a:rPr sz="1400" dirty="0" err="1">
                <a:solidFill>
                  <a:srgbClr val="FFFFFF"/>
                </a:solidFill>
                <a:latin typeface="Segoe UI"/>
              </a:rPr>
              <a:t>entoria</a:t>
            </a:r>
            <a:r>
              <a:rPr sz="1400" dirty="0">
                <a:solidFill>
                  <a:srgbClr val="FFFFFF"/>
                </a:solidFill>
                <a:latin typeface="Segoe UI"/>
              </a:rPr>
              <a:t> d</a:t>
            </a:r>
            <a:r>
              <a:rPr lang="pt-BR" sz="1400" dirty="0" err="1">
                <a:solidFill>
                  <a:srgbClr val="FFFFFF"/>
                </a:solidFill>
                <a:latin typeface="Segoe UI"/>
              </a:rPr>
              <a:t>iretamente</a:t>
            </a:r>
            <a:r>
              <a:rPr lang="pt-BR" sz="1400" dirty="0">
                <a:solidFill>
                  <a:srgbClr val="FFFFFF"/>
                </a:solidFill>
                <a:latin typeface="Segoe UI"/>
              </a:rPr>
              <a:t> </a:t>
            </a:r>
            <a:r>
              <a:rPr sz="1400" dirty="0">
                <a:solidFill>
                  <a:srgbClr val="FFFFFF"/>
                </a:solidFill>
                <a:latin typeface="Segoe UI"/>
              </a:rPr>
              <a:t>com o MVP Guilherme Maia</a:t>
            </a:r>
          </a:p>
          <a:p>
            <a:pPr>
              <a:lnSpc>
                <a:spcPct val="104000"/>
              </a:lnSpc>
              <a:spcBef>
                <a:spcPts val="0"/>
              </a:spcBef>
              <a:spcAft>
                <a:spcPts val="400"/>
              </a:spcAft>
            </a:pPr>
            <a:r>
              <a:rPr sz="1400" b="0" dirty="0">
                <a:solidFill>
                  <a:srgbClr val="F5B301"/>
                </a:solidFill>
                <a:latin typeface="Segoe UI"/>
              </a:rPr>
              <a:t>— </a:t>
            </a:r>
            <a:r>
              <a:rPr sz="1400" dirty="0" err="1">
                <a:solidFill>
                  <a:srgbClr val="FFFFFF"/>
                </a:solidFill>
                <a:latin typeface="Segoe UI"/>
              </a:rPr>
              <a:t>Projetos</a:t>
            </a:r>
            <a:r>
              <a:rPr sz="1400" dirty="0">
                <a:solidFill>
                  <a:srgbClr val="FFFFFF"/>
                </a:solidFill>
                <a:latin typeface="Segoe UI"/>
              </a:rPr>
              <a:t> reais + </a:t>
            </a:r>
            <a:r>
              <a:rPr lang="pt-BR" sz="1400" dirty="0">
                <a:solidFill>
                  <a:srgbClr val="FFFFFF"/>
                </a:solidFill>
                <a:latin typeface="Segoe UI"/>
              </a:rPr>
              <a:t>E</a:t>
            </a:r>
            <a:r>
              <a:rPr sz="1400" dirty="0" err="1">
                <a:solidFill>
                  <a:srgbClr val="FFFFFF"/>
                </a:solidFill>
                <a:latin typeface="Segoe UI"/>
              </a:rPr>
              <a:t>studos</a:t>
            </a:r>
            <a:r>
              <a:rPr sz="1400" dirty="0">
                <a:solidFill>
                  <a:srgbClr val="FFFFFF"/>
                </a:solidFill>
                <a:latin typeface="Segoe UI"/>
              </a:rPr>
              <a:t> de </a:t>
            </a:r>
            <a:r>
              <a:rPr sz="1400" dirty="0" err="1">
                <a:solidFill>
                  <a:srgbClr val="FFFFFF"/>
                </a:solidFill>
                <a:latin typeface="Segoe UI"/>
              </a:rPr>
              <a:t>caso</a:t>
            </a:r>
            <a:r>
              <a:rPr sz="1400" dirty="0">
                <a:solidFill>
                  <a:srgbClr val="FFFFFF"/>
                </a:solidFill>
                <a:latin typeface="Segoe UI"/>
              </a:rPr>
              <a:t> + </a:t>
            </a:r>
            <a:r>
              <a:rPr lang="pt-BR" sz="1400" dirty="0">
                <a:solidFill>
                  <a:srgbClr val="FFFFFF"/>
                </a:solidFill>
                <a:latin typeface="Segoe UI"/>
              </a:rPr>
              <a:t>Trilhas Preparatórias para </a:t>
            </a:r>
            <a:r>
              <a:rPr sz="1400" dirty="0" err="1">
                <a:solidFill>
                  <a:srgbClr val="FFFFFF"/>
                </a:solidFill>
                <a:latin typeface="Segoe UI"/>
              </a:rPr>
              <a:t>certificações</a:t>
            </a:r>
            <a:endParaRPr sz="1400" dirty="0">
              <a:solidFill>
                <a:srgbClr val="FFFFFF"/>
              </a:solidFill>
              <a:latin typeface="Segoe UI"/>
            </a:endParaRPr>
          </a:p>
          <a:p>
            <a:pPr>
              <a:lnSpc>
                <a:spcPct val="104000"/>
              </a:lnSpc>
              <a:spcBef>
                <a:spcPts val="0"/>
              </a:spcBef>
              <a:spcAft>
                <a:spcPts val="400"/>
              </a:spcAft>
            </a:pPr>
            <a:r>
              <a:rPr sz="1400" b="0" dirty="0">
                <a:solidFill>
                  <a:srgbClr val="F5B301"/>
                </a:solidFill>
                <a:latin typeface="Segoe UI"/>
              </a:rPr>
              <a:t>— </a:t>
            </a:r>
            <a:r>
              <a:rPr sz="1400" dirty="0" err="1">
                <a:solidFill>
                  <a:srgbClr val="FFFFFF"/>
                </a:solidFill>
                <a:latin typeface="Segoe UI"/>
              </a:rPr>
              <a:t>Comunidade</a:t>
            </a:r>
            <a:r>
              <a:rPr sz="1400" dirty="0">
                <a:solidFill>
                  <a:srgbClr val="FFFFFF"/>
                </a:solidFill>
                <a:latin typeface="Segoe UI"/>
              </a:rPr>
              <a:t> e </a:t>
            </a:r>
            <a:r>
              <a:rPr lang="pt-BR" sz="1400" dirty="0">
                <a:solidFill>
                  <a:srgbClr val="FFFFFF"/>
                </a:solidFill>
                <a:latin typeface="Segoe UI"/>
              </a:rPr>
              <a:t>certificado reconhecido pelo MEC de Pós.</a:t>
            </a:r>
            <a:endParaRPr sz="1400" dirty="0">
              <a:solidFill>
                <a:srgbClr val="FFFFFF"/>
              </a:solidFill>
              <a:latin typeface="Segoe UI"/>
            </a:endParaRPr>
          </a:p>
        </p:txBody>
      </p:sp>
      <p:sp>
        <p:nvSpPr>
          <p:cNvPr id="9" name="Rounded Rectangle 8"/>
          <p:cNvSpPr/>
          <p:nvPr/>
        </p:nvSpPr>
        <p:spPr>
          <a:xfrm>
            <a:off x="7498079" y="1554480"/>
            <a:ext cx="4206240" cy="4480560"/>
          </a:xfrm>
          <a:prstGeom prst="roundRect">
            <a:avLst>
              <a:gd name="adj" fmla="val 6000"/>
            </a:avLst>
          </a:prstGeom>
          <a:solidFill>
            <a:srgbClr val="1D2A45"/>
          </a:solidFill>
          <a:ln w="20320">
            <a:solidFill>
              <a:srgbClr val="F5B3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80960" y="1828800"/>
            <a:ext cx="3840480" cy="293542"/>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200" b="1" i="0" dirty="0">
                <a:solidFill>
                  <a:schemeClr val="bg1"/>
                </a:solidFill>
                <a:latin typeface="Segoe UI"/>
              </a:rPr>
              <a:t>Investimento normal:  </a:t>
            </a:r>
            <a:r>
              <a:rPr sz="1600" b="1" i="1" dirty="0">
                <a:solidFill>
                  <a:schemeClr val="bg1"/>
                </a:solidFill>
                <a:latin typeface="Segoe UI"/>
              </a:rPr>
              <a:t>R$ </a:t>
            </a:r>
            <a:r>
              <a:rPr lang="pt-BR" sz="1600" b="1" i="1" dirty="0">
                <a:solidFill>
                  <a:schemeClr val="bg1"/>
                </a:solidFill>
                <a:latin typeface="Segoe UI"/>
              </a:rPr>
              <a:t>7</a:t>
            </a:r>
            <a:r>
              <a:rPr sz="1600" b="1" i="1" dirty="0">
                <a:solidFill>
                  <a:schemeClr val="bg1"/>
                </a:solidFill>
                <a:latin typeface="Segoe UI"/>
              </a:rPr>
              <a:t>.000</a:t>
            </a:r>
          </a:p>
        </p:txBody>
      </p:sp>
      <p:sp>
        <p:nvSpPr>
          <p:cNvPr id="11" name="TextBox 10"/>
          <p:cNvSpPr txBox="1"/>
          <p:nvPr/>
        </p:nvSpPr>
        <p:spPr>
          <a:xfrm>
            <a:off x="7680960" y="2286000"/>
            <a:ext cx="3840480" cy="293542"/>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200" b="1" i="0" dirty="0" err="1">
                <a:solidFill>
                  <a:schemeClr val="bg1"/>
                </a:solidFill>
                <a:latin typeface="Segoe UI"/>
              </a:rPr>
              <a:t>Condição</a:t>
            </a:r>
            <a:r>
              <a:rPr sz="1200" b="1" i="0" dirty="0">
                <a:solidFill>
                  <a:schemeClr val="bg1"/>
                </a:solidFill>
                <a:latin typeface="Segoe UI"/>
              </a:rPr>
              <a:t> de </a:t>
            </a:r>
            <a:r>
              <a:rPr sz="1200" b="1" i="0" dirty="0" err="1">
                <a:solidFill>
                  <a:schemeClr val="bg1"/>
                </a:solidFill>
                <a:latin typeface="Segoe UI"/>
              </a:rPr>
              <a:t>lançamento</a:t>
            </a:r>
            <a:r>
              <a:rPr sz="1200" b="1" i="0" dirty="0">
                <a:solidFill>
                  <a:schemeClr val="bg1"/>
                </a:solidFill>
                <a:latin typeface="Segoe UI"/>
              </a:rPr>
              <a:t>:  </a:t>
            </a:r>
            <a:r>
              <a:rPr sz="1600" b="1" i="0" dirty="0">
                <a:solidFill>
                  <a:schemeClr val="bg1"/>
                </a:solidFill>
                <a:latin typeface="Segoe UI"/>
              </a:rPr>
              <a:t>[</a:t>
            </a:r>
            <a:r>
              <a:rPr lang="pt-BR" sz="1600" b="1" dirty="0">
                <a:solidFill>
                  <a:schemeClr val="bg1"/>
                </a:solidFill>
                <a:latin typeface="Segoe UI"/>
              </a:rPr>
              <a:t>R$ 4.000,00</a:t>
            </a:r>
            <a:r>
              <a:rPr sz="1600" b="1" i="0" dirty="0">
                <a:solidFill>
                  <a:schemeClr val="bg1"/>
                </a:solidFill>
                <a:latin typeface="Segoe UI"/>
              </a:rPr>
              <a:t>]</a:t>
            </a:r>
          </a:p>
        </p:txBody>
      </p:sp>
      <p:sp>
        <p:nvSpPr>
          <p:cNvPr id="12" name="TextBox 11"/>
          <p:cNvSpPr txBox="1"/>
          <p:nvPr/>
        </p:nvSpPr>
        <p:spPr>
          <a:xfrm>
            <a:off x="7680960" y="2743200"/>
            <a:ext cx="3840480" cy="232949"/>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200" b="0" i="0" dirty="0">
                <a:solidFill>
                  <a:srgbClr val="9AA7BD"/>
                </a:solidFill>
                <a:latin typeface="Segoe UI"/>
              </a:rPr>
              <a:t>CONDIÇÃO IMERSÃO (</a:t>
            </a:r>
            <a:r>
              <a:rPr lang="pt-BR" sz="1200" dirty="0">
                <a:solidFill>
                  <a:srgbClr val="9AA7BD"/>
                </a:solidFill>
                <a:latin typeface="Segoe UI"/>
              </a:rPr>
              <a:t>AO VIVO</a:t>
            </a:r>
            <a:r>
              <a:rPr sz="1200" b="0" i="0" dirty="0">
                <a:solidFill>
                  <a:srgbClr val="9AA7BD"/>
                </a:solidFill>
                <a:latin typeface="Segoe UI"/>
              </a:rPr>
              <a:t>)</a:t>
            </a:r>
            <a:endParaRPr sz="3000" b="1" i="0" dirty="0">
              <a:solidFill>
                <a:srgbClr val="F5B301"/>
              </a:solidFill>
              <a:latin typeface="Segoe UI"/>
            </a:endParaRPr>
          </a:p>
        </p:txBody>
      </p:sp>
      <p:sp>
        <p:nvSpPr>
          <p:cNvPr id="13" name="Rectangle 12"/>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
        <p:nvSpPr>
          <p:cNvPr id="15" name="TextBox 14"/>
          <p:cNvSpPr txBox="1"/>
          <p:nvPr/>
        </p:nvSpPr>
        <p:spPr>
          <a:xfrm>
            <a:off x="11155680" y="6565392"/>
            <a:ext cx="822960" cy="292608"/>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900" b="0" i="0">
                <a:solidFill>
                  <a:srgbClr val="9AA7BD"/>
                </a:solidFill>
                <a:latin typeface="Segoe UI"/>
              </a:rPr>
              <a:t>12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457200" y="475488"/>
            <a:ext cx="109728" cy="566928"/>
          </a:xfrm>
          <a:prstGeom prst="rect">
            <a:avLst/>
          </a:prstGeom>
          <a:solidFill>
            <a:srgbClr val="F5B3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20624"/>
            <a:ext cx="10789920" cy="292608"/>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200" b="1" i="0">
                <a:solidFill>
                  <a:srgbClr val="F5B301"/>
                </a:solidFill>
                <a:latin typeface="Segoe UI"/>
              </a:rPr>
              <a:t>TSUNAMI DE BÔNUS</a:t>
            </a:r>
          </a:p>
        </p:txBody>
      </p:sp>
      <p:sp>
        <p:nvSpPr>
          <p:cNvPr id="4" name="TextBox 3"/>
          <p:cNvSpPr txBox="1"/>
          <p:nvPr/>
        </p:nvSpPr>
        <p:spPr>
          <a:xfrm>
            <a:off x="658368" y="676656"/>
            <a:ext cx="10881360" cy="566928"/>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2700" b="1" i="0">
                <a:solidFill>
                  <a:srgbClr val="FFFFFF"/>
                </a:solidFill>
                <a:latin typeface="Segoe UI"/>
              </a:rPr>
              <a:t>Um benefício por vez (preencher com seus bônus reais)</a:t>
            </a:r>
          </a:p>
        </p:txBody>
      </p:sp>
      <p:sp>
        <p:nvSpPr>
          <p:cNvPr id="5" name="Rounded Rectangle 4"/>
          <p:cNvSpPr/>
          <p:nvPr/>
        </p:nvSpPr>
        <p:spPr>
          <a:xfrm>
            <a:off x="548640" y="1554480"/>
            <a:ext cx="11064240" cy="786384"/>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54480"/>
            <a:ext cx="822960" cy="786384"/>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2200" b="1" i="0">
                <a:solidFill>
                  <a:srgbClr val="F5B301"/>
                </a:solidFill>
                <a:latin typeface="Segoe UI"/>
              </a:rPr>
              <a:t>+1</a:t>
            </a:r>
          </a:p>
        </p:txBody>
      </p:sp>
      <p:sp>
        <p:nvSpPr>
          <p:cNvPr id="7" name="TextBox 6"/>
          <p:cNvSpPr txBox="1"/>
          <p:nvPr/>
        </p:nvSpPr>
        <p:spPr>
          <a:xfrm>
            <a:off x="1645920" y="1645920"/>
            <a:ext cx="7680960" cy="640080"/>
          </a:xfrm>
          <a:prstGeom prst="rect">
            <a:avLst/>
          </a:prstGeom>
          <a:noFill/>
        </p:spPr>
        <p:txBody>
          <a:bodyPr wrap="square" lIns="25400" tIns="25400" rIns="25400" bIns="25400" anchor="t">
            <a:spAutoFit/>
          </a:bodyPr>
          <a:lstStyle/>
          <a:p>
            <a:pPr algn="l">
              <a:lnSpc>
                <a:spcPct val="106000"/>
              </a:lnSpc>
              <a:spcBef>
                <a:spcPts val="0"/>
              </a:spcBef>
              <a:spcAft>
                <a:spcPts val="100"/>
              </a:spcAft>
            </a:pPr>
            <a:r>
              <a:rPr sz="1500" b="1" i="0">
                <a:solidFill>
                  <a:srgbClr val="FFFFFF"/>
                </a:solidFill>
                <a:latin typeface="Segoe UI"/>
              </a:rPr>
              <a:t>Bônus 01 — [nome do bônus]</a:t>
            </a:r>
          </a:p>
          <a:p>
            <a:pPr algn="l">
              <a:lnSpc>
                <a:spcPct val="106000"/>
              </a:lnSpc>
              <a:spcBef>
                <a:spcPts val="0"/>
              </a:spcBef>
              <a:spcAft>
                <a:spcPts val="100"/>
              </a:spcAft>
            </a:pPr>
            <a:r>
              <a:rPr sz="1100" b="0" i="0">
                <a:solidFill>
                  <a:srgbClr val="9AA7BD"/>
                </a:solidFill>
                <a:latin typeface="Segoe UI"/>
              </a:rPr>
              <a:t>Descreva o benefício e o resultado que ele entrega.</a:t>
            </a:r>
          </a:p>
        </p:txBody>
      </p:sp>
      <p:sp>
        <p:nvSpPr>
          <p:cNvPr id="8" name="TextBox 7"/>
          <p:cNvSpPr txBox="1"/>
          <p:nvPr/>
        </p:nvSpPr>
        <p:spPr>
          <a:xfrm>
            <a:off x="9418320" y="1554480"/>
            <a:ext cx="2103120" cy="786384"/>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1600" b="1" i="0">
                <a:solidFill>
                  <a:srgbClr val="3DD68C"/>
                </a:solidFill>
                <a:latin typeface="Segoe UI"/>
              </a:rPr>
              <a:t>[valor]</a:t>
            </a:r>
          </a:p>
        </p:txBody>
      </p:sp>
      <p:sp>
        <p:nvSpPr>
          <p:cNvPr id="9" name="Rounded Rectangle 8"/>
          <p:cNvSpPr/>
          <p:nvPr/>
        </p:nvSpPr>
        <p:spPr>
          <a:xfrm>
            <a:off x="548640" y="2432304"/>
            <a:ext cx="11064240" cy="786384"/>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432304"/>
            <a:ext cx="822960" cy="786384"/>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2200" b="1" i="0">
                <a:solidFill>
                  <a:srgbClr val="F5B301"/>
                </a:solidFill>
                <a:latin typeface="Segoe UI"/>
              </a:rPr>
              <a:t>+2</a:t>
            </a:r>
          </a:p>
        </p:txBody>
      </p:sp>
      <p:sp>
        <p:nvSpPr>
          <p:cNvPr id="11" name="TextBox 10"/>
          <p:cNvSpPr txBox="1"/>
          <p:nvPr/>
        </p:nvSpPr>
        <p:spPr>
          <a:xfrm>
            <a:off x="1645920" y="2523744"/>
            <a:ext cx="7680960" cy="640080"/>
          </a:xfrm>
          <a:prstGeom prst="rect">
            <a:avLst/>
          </a:prstGeom>
          <a:noFill/>
        </p:spPr>
        <p:txBody>
          <a:bodyPr wrap="square" lIns="25400" tIns="25400" rIns="25400" bIns="25400" anchor="t">
            <a:spAutoFit/>
          </a:bodyPr>
          <a:lstStyle/>
          <a:p>
            <a:pPr algn="l">
              <a:lnSpc>
                <a:spcPct val="106000"/>
              </a:lnSpc>
              <a:spcBef>
                <a:spcPts val="0"/>
              </a:spcBef>
              <a:spcAft>
                <a:spcPts val="100"/>
              </a:spcAft>
            </a:pPr>
            <a:r>
              <a:rPr sz="1500" b="1" i="0">
                <a:solidFill>
                  <a:srgbClr val="FFFFFF"/>
                </a:solidFill>
                <a:latin typeface="Segoe UI"/>
              </a:rPr>
              <a:t>Bônus 02 — [nome do bônus]</a:t>
            </a:r>
          </a:p>
          <a:p>
            <a:pPr algn="l">
              <a:lnSpc>
                <a:spcPct val="106000"/>
              </a:lnSpc>
              <a:spcBef>
                <a:spcPts val="0"/>
              </a:spcBef>
              <a:spcAft>
                <a:spcPts val="100"/>
              </a:spcAft>
            </a:pPr>
            <a:r>
              <a:rPr sz="1100" b="0" i="0">
                <a:solidFill>
                  <a:srgbClr val="9AA7BD"/>
                </a:solidFill>
                <a:latin typeface="Segoe UI"/>
              </a:rPr>
              <a:t>Descreva o benefício e o resultado que ele entrega.</a:t>
            </a:r>
          </a:p>
        </p:txBody>
      </p:sp>
      <p:sp>
        <p:nvSpPr>
          <p:cNvPr id="12" name="TextBox 11"/>
          <p:cNvSpPr txBox="1"/>
          <p:nvPr/>
        </p:nvSpPr>
        <p:spPr>
          <a:xfrm>
            <a:off x="9418320" y="2432304"/>
            <a:ext cx="2103120" cy="786384"/>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1600" b="1" i="0">
                <a:solidFill>
                  <a:srgbClr val="3DD68C"/>
                </a:solidFill>
                <a:latin typeface="Segoe UI"/>
              </a:rPr>
              <a:t>[valor]</a:t>
            </a:r>
          </a:p>
        </p:txBody>
      </p:sp>
      <p:sp>
        <p:nvSpPr>
          <p:cNvPr id="13" name="Rounded Rectangle 12"/>
          <p:cNvSpPr/>
          <p:nvPr/>
        </p:nvSpPr>
        <p:spPr>
          <a:xfrm>
            <a:off x="548640" y="3310128"/>
            <a:ext cx="11064240" cy="786384"/>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310128"/>
            <a:ext cx="822960" cy="786384"/>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2200" b="1" i="0">
                <a:solidFill>
                  <a:srgbClr val="F5B301"/>
                </a:solidFill>
                <a:latin typeface="Segoe UI"/>
              </a:rPr>
              <a:t>+3</a:t>
            </a:r>
          </a:p>
        </p:txBody>
      </p:sp>
      <p:sp>
        <p:nvSpPr>
          <p:cNvPr id="15" name="TextBox 14"/>
          <p:cNvSpPr txBox="1"/>
          <p:nvPr/>
        </p:nvSpPr>
        <p:spPr>
          <a:xfrm>
            <a:off x="1645920" y="3401568"/>
            <a:ext cx="7680960" cy="640080"/>
          </a:xfrm>
          <a:prstGeom prst="rect">
            <a:avLst/>
          </a:prstGeom>
          <a:noFill/>
        </p:spPr>
        <p:txBody>
          <a:bodyPr wrap="square" lIns="25400" tIns="25400" rIns="25400" bIns="25400" anchor="t">
            <a:spAutoFit/>
          </a:bodyPr>
          <a:lstStyle/>
          <a:p>
            <a:pPr algn="l">
              <a:lnSpc>
                <a:spcPct val="106000"/>
              </a:lnSpc>
              <a:spcBef>
                <a:spcPts val="0"/>
              </a:spcBef>
              <a:spcAft>
                <a:spcPts val="100"/>
              </a:spcAft>
            </a:pPr>
            <a:r>
              <a:rPr sz="1500" b="1" i="0">
                <a:solidFill>
                  <a:srgbClr val="FFFFFF"/>
                </a:solidFill>
                <a:latin typeface="Segoe UI"/>
              </a:rPr>
              <a:t>Bônus 03 — [nome do bônus]</a:t>
            </a:r>
          </a:p>
          <a:p>
            <a:pPr algn="l">
              <a:lnSpc>
                <a:spcPct val="106000"/>
              </a:lnSpc>
              <a:spcBef>
                <a:spcPts val="0"/>
              </a:spcBef>
              <a:spcAft>
                <a:spcPts val="100"/>
              </a:spcAft>
            </a:pPr>
            <a:r>
              <a:rPr sz="1100" b="0" i="0">
                <a:solidFill>
                  <a:srgbClr val="9AA7BD"/>
                </a:solidFill>
                <a:latin typeface="Segoe UI"/>
              </a:rPr>
              <a:t>Descreva o benefício e o resultado que ele entrega.</a:t>
            </a:r>
          </a:p>
        </p:txBody>
      </p:sp>
      <p:sp>
        <p:nvSpPr>
          <p:cNvPr id="16" name="TextBox 15"/>
          <p:cNvSpPr txBox="1"/>
          <p:nvPr/>
        </p:nvSpPr>
        <p:spPr>
          <a:xfrm>
            <a:off x="9418320" y="3310128"/>
            <a:ext cx="2103120" cy="786384"/>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1600" b="1" i="0">
                <a:solidFill>
                  <a:srgbClr val="3DD68C"/>
                </a:solidFill>
                <a:latin typeface="Segoe UI"/>
              </a:rPr>
              <a:t>[valor]</a:t>
            </a:r>
          </a:p>
        </p:txBody>
      </p:sp>
      <p:sp>
        <p:nvSpPr>
          <p:cNvPr id="17" name="Rounded Rectangle 16"/>
          <p:cNvSpPr/>
          <p:nvPr/>
        </p:nvSpPr>
        <p:spPr>
          <a:xfrm>
            <a:off x="548640" y="4187952"/>
            <a:ext cx="11064240" cy="786384"/>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4187952"/>
            <a:ext cx="822960" cy="786384"/>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2200" b="1" i="0">
                <a:solidFill>
                  <a:srgbClr val="F5B301"/>
                </a:solidFill>
                <a:latin typeface="Segoe UI"/>
              </a:rPr>
              <a:t>+4</a:t>
            </a:r>
          </a:p>
        </p:txBody>
      </p:sp>
      <p:sp>
        <p:nvSpPr>
          <p:cNvPr id="19" name="TextBox 18"/>
          <p:cNvSpPr txBox="1"/>
          <p:nvPr/>
        </p:nvSpPr>
        <p:spPr>
          <a:xfrm>
            <a:off x="1645920" y="4279392"/>
            <a:ext cx="7680960" cy="640080"/>
          </a:xfrm>
          <a:prstGeom prst="rect">
            <a:avLst/>
          </a:prstGeom>
          <a:noFill/>
        </p:spPr>
        <p:txBody>
          <a:bodyPr wrap="square" lIns="25400" tIns="25400" rIns="25400" bIns="25400" anchor="t">
            <a:spAutoFit/>
          </a:bodyPr>
          <a:lstStyle/>
          <a:p>
            <a:pPr algn="l">
              <a:lnSpc>
                <a:spcPct val="106000"/>
              </a:lnSpc>
              <a:spcBef>
                <a:spcPts val="0"/>
              </a:spcBef>
              <a:spcAft>
                <a:spcPts val="100"/>
              </a:spcAft>
            </a:pPr>
            <a:r>
              <a:rPr sz="1500" b="1" i="0">
                <a:solidFill>
                  <a:srgbClr val="FFFFFF"/>
                </a:solidFill>
                <a:latin typeface="Segoe UI"/>
              </a:rPr>
              <a:t>Bônus 04 — [nome do bônus]</a:t>
            </a:r>
          </a:p>
          <a:p>
            <a:pPr algn="l">
              <a:lnSpc>
                <a:spcPct val="106000"/>
              </a:lnSpc>
              <a:spcBef>
                <a:spcPts val="0"/>
              </a:spcBef>
              <a:spcAft>
                <a:spcPts val="100"/>
              </a:spcAft>
            </a:pPr>
            <a:r>
              <a:rPr sz="1100" b="0" i="0">
                <a:solidFill>
                  <a:srgbClr val="9AA7BD"/>
                </a:solidFill>
                <a:latin typeface="Segoe UI"/>
              </a:rPr>
              <a:t>Descreva o benefício e o resultado que ele entrega.</a:t>
            </a:r>
          </a:p>
        </p:txBody>
      </p:sp>
      <p:sp>
        <p:nvSpPr>
          <p:cNvPr id="20" name="TextBox 19"/>
          <p:cNvSpPr txBox="1"/>
          <p:nvPr/>
        </p:nvSpPr>
        <p:spPr>
          <a:xfrm>
            <a:off x="9418320" y="4187952"/>
            <a:ext cx="2103120" cy="786384"/>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1600" b="1" i="0">
                <a:solidFill>
                  <a:srgbClr val="3DD68C"/>
                </a:solidFill>
                <a:latin typeface="Segoe UI"/>
              </a:rPr>
              <a:t>[valor]</a:t>
            </a:r>
          </a:p>
        </p:txBody>
      </p:sp>
      <p:sp>
        <p:nvSpPr>
          <p:cNvPr id="21" name="Rounded Rectangle 20"/>
          <p:cNvSpPr/>
          <p:nvPr/>
        </p:nvSpPr>
        <p:spPr>
          <a:xfrm>
            <a:off x="548640" y="5111496"/>
            <a:ext cx="11064240" cy="566928"/>
          </a:xfrm>
          <a:prstGeom prst="roundRect">
            <a:avLst>
              <a:gd name="adj" fmla="val 6000"/>
            </a:avLst>
          </a:prstGeom>
          <a:solidFill>
            <a:srgbClr val="1D2A45"/>
          </a:solidFill>
          <a:ln w="19050">
            <a:solidFill>
              <a:srgbClr val="F5B3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5111496"/>
            <a:ext cx="7315200" cy="56692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400" b="1" i="0">
                <a:solidFill>
                  <a:srgbClr val="F5B301"/>
                </a:solidFill>
                <a:latin typeface="Segoe UI"/>
              </a:rPr>
              <a:t>VALOR TOTAL EM BONUS</a:t>
            </a:r>
          </a:p>
        </p:txBody>
      </p:sp>
      <p:sp>
        <p:nvSpPr>
          <p:cNvPr id="23" name="TextBox 22"/>
          <p:cNvSpPr txBox="1"/>
          <p:nvPr/>
        </p:nvSpPr>
        <p:spPr>
          <a:xfrm>
            <a:off x="9418320" y="5111496"/>
            <a:ext cx="2103120" cy="566928"/>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1800" b="1" i="0">
                <a:solidFill>
                  <a:srgbClr val="3DD68C"/>
                </a:solidFill>
                <a:latin typeface="Segoe UI"/>
              </a:rPr>
              <a:t>[soma dos bônus]</a:t>
            </a:r>
          </a:p>
        </p:txBody>
      </p:sp>
      <p:sp>
        <p:nvSpPr>
          <p:cNvPr id="24" name="Rectangle 23"/>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
        <p:nvSpPr>
          <p:cNvPr id="26" name="TextBox 25"/>
          <p:cNvSpPr txBox="1"/>
          <p:nvPr/>
        </p:nvSpPr>
        <p:spPr>
          <a:xfrm>
            <a:off x="11155680" y="6565392"/>
            <a:ext cx="822960" cy="292608"/>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900" b="0" i="0">
                <a:solidFill>
                  <a:srgbClr val="9AA7BD"/>
                </a:solidFill>
                <a:latin typeface="Segoe UI"/>
              </a:rPr>
              <a:t>13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457200" y="475488"/>
            <a:ext cx="109728" cy="566928"/>
          </a:xfrm>
          <a:prstGeom prst="rect">
            <a:avLst/>
          </a:prstGeom>
          <a:solidFill>
            <a:srgbClr val="F5B3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20624"/>
            <a:ext cx="10789920" cy="292608"/>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200" b="1" i="0">
                <a:solidFill>
                  <a:srgbClr val="F5B301"/>
                </a:solidFill>
                <a:latin typeface="Segoe UI"/>
              </a:rPr>
              <a:t>CHAMADA PARA AÇÃO</a:t>
            </a:r>
          </a:p>
        </p:txBody>
      </p:sp>
      <p:sp>
        <p:nvSpPr>
          <p:cNvPr id="4" name="TextBox 3"/>
          <p:cNvSpPr txBox="1"/>
          <p:nvPr/>
        </p:nvSpPr>
        <p:spPr>
          <a:xfrm>
            <a:off x="658368" y="676656"/>
            <a:ext cx="10881360" cy="460062"/>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2700" b="1" i="0" dirty="0" err="1">
                <a:solidFill>
                  <a:srgbClr val="FFFFFF"/>
                </a:solidFill>
                <a:latin typeface="Segoe UI"/>
              </a:rPr>
              <a:t>Condição</a:t>
            </a:r>
            <a:r>
              <a:rPr sz="2700" b="1" i="0" dirty="0">
                <a:solidFill>
                  <a:srgbClr val="FFFFFF"/>
                </a:solidFill>
                <a:latin typeface="Segoe UI"/>
              </a:rPr>
              <a:t> </a:t>
            </a:r>
            <a:r>
              <a:rPr sz="2700" b="1" i="0" dirty="0" err="1">
                <a:solidFill>
                  <a:srgbClr val="FFFFFF"/>
                </a:solidFill>
                <a:latin typeface="Segoe UI"/>
              </a:rPr>
              <a:t>exclusiva</a:t>
            </a:r>
            <a:r>
              <a:rPr sz="2700" b="1" i="0" dirty="0">
                <a:solidFill>
                  <a:srgbClr val="FFFFFF"/>
                </a:solidFill>
                <a:latin typeface="Segoe UI"/>
              </a:rPr>
              <a:t> da </a:t>
            </a:r>
            <a:r>
              <a:rPr sz="2700" b="1" i="0" dirty="0" err="1">
                <a:solidFill>
                  <a:srgbClr val="FFFFFF"/>
                </a:solidFill>
                <a:latin typeface="Segoe UI"/>
              </a:rPr>
              <a:t>Imersão</a:t>
            </a:r>
            <a:r>
              <a:rPr sz="2700" b="1" i="0" dirty="0">
                <a:solidFill>
                  <a:srgbClr val="FFFFFF"/>
                </a:solidFill>
                <a:latin typeface="Segoe UI"/>
              </a:rPr>
              <a:t> (</a:t>
            </a:r>
            <a:r>
              <a:rPr lang="pt-BR" sz="2700" b="1" dirty="0">
                <a:solidFill>
                  <a:srgbClr val="FFFFFF"/>
                </a:solidFill>
                <a:latin typeface="Segoe UI"/>
              </a:rPr>
              <a:t>AO</a:t>
            </a:r>
            <a:r>
              <a:rPr sz="2700" b="1" i="0" dirty="0">
                <a:solidFill>
                  <a:srgbClr val="FFFFFF"/>
                </a:solidFill>
                <a:latin typeface="Segoe UI"/>
              </a:rPr>
              <a:t> </a:t>
            </a:r>
            <a:r>
              <a:rPr lang="pt-BR" sz="2700" b="1" i="0" dirty="0">
                <a:solidFill>
                  <a:srgbClr val="FFFFFF"/>
                </a:solidFill>
                <a:latin typeface="Segoe UI"/>
              </a:rPr>
              <a:t>VIVO</a:t>
            </a:r>
            <a:r>
              <a:rPr sz="2700" b="1" i="0" dirty="0">
                <a:solidFill>
                  <a:srgbClr val="FFFFFF"/>
                </a:solidFill>
                <a:latin typeface="Segoe UI"/>
              </a:rPr>
              <a:t>)</a:t>
            </a:r>
            <a:r>
              <a:rPr lang="pt-BR" sz="2700" b="1" i="0" dirty="0">
                <a:solidFill>
                  <a:srgbClr val="FFFFFF"/>
                </a:solidFill>
                <a:latin typeface="Segoe UI"/>
              </a:rPr>
              <a:t> hoje</a:t>
            </a:r>
            <a:r>
              <a:rPr lang="en-US" sz="2700" b="1" i="0" dirty="0">
                <a:solidFill>
                  <a:srgbClr val="FFFFFF"/>
                </a:solidFill>
                <a:latin typeface="Segoe UI"/>
              </a:rPr>
              <a:t>:</a:t>
            </a:r>
            <a:endParaRPr sz="2700" b="1" i="0" dirty="0">
              <a:solidFill>
                <a:srgbClr val="FFFFFF"/>
              </a:solidFill>
              <a:latin typeface="Segoe UI"/>
            </a:endParaRPr>
          </a:p>
        </p:txBody>
      </p:sp>
      <p:sp>
        <p:nvSpPr>
          <p:cNvPr id="5" name="Rounded Rectangle 4"/>
          <p:cNvSpPr/>
          <p:nvPr/>
        </p:nvSpPr>
        <p:spPr>
          <a:xfrm>
            <a:off x="457200" y="1554480"/>
            <a:ext cx="6858000" cy="4389120"/>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57200" y="1554480"/>
            <a:ext cx="685800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21792" y="1554480"/>
            <a:ext cx="658368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F5B301"/>
                </a:solidFill>
                <a:latin typeface="Segoe UI"/>
              </a:rPr>
              <a:t>A OFERTA COMPLETA</a:t>
            </a:r>
          </a:p>
        </p:txBody>
      </p:sp>
      <p:sp>
        <p:nvSpPr>
          <p:cNvPr id="8" name="TextBox 7"/>
          <p:cNvSpPr txBox="1"/>
          <p:nvPr/>
        </p:nvSpPr>
        <p:spPr>
          <a:xfrm>
            <a:off x="640080" y="2011680"/>
            <a:ext cx="6492240" cy="1911998"/>
          </a:xfrm>
          <a:prstGeom prst="rect">
            <a:avLst/>
          </a:prstGeom>
          <a:noFill/>
        </p:spPr>
        <p:txBody>
          <a:bodyPr wrap="square" lIns="25400" tIns="25400" rIns="25400" bIns="25400">
            <a:spAutoFit/>
          </a:bodyPr>
          <a:lstStyle/>
          <a:p>
            <a:pPr>
              <a:lnSpc>
                <a:spcPct val="104000"/>
              </a:lnSpc>
              <a:spcBef>
                <a:spcPts val="0"/>
              </a:spcBef>
              <a:spcAft>
                <a:spcPts val="400"/>
              </a:spcAft>
            </a:pPr>
            <a:r>
              <a:rPr sz="1400" b="0" dirty="0">
                <a:solidFill>
                  <a:srgbClr val="F5B301"/>
                </a:solidFill>
                <a:latin typeface="Segoe UI"/>
              </a:rPr>
              <a:t>— </a:t>
            </a:r>
            <a:r>
              <a:rPr sz="1400" dirty="0">
                <a:solidFill>
                  <a:srgbClr val="FFFFFF"/>
                </a:solidFill>
                <a:latin typeface="Segoe UI"/>
              </a:rPr>
              <a:t>Investimento normal da Pós: R$ </a:t>
            </a:r>
            <a:r>
              <a:rPr lang="pt-BR" sz="1400" dirty="0">
                <a:solidFill>
                  <a:srgbClr val="FFFFFF"/>
                </a:solidFill>
                <a:latin typeface="Segoe UI"/>
              </a:rPr>
              <a:t>7</a:t>
            </a:r>
            <a:r>
              <a:rPr sz="1400" dirty="0">
                <a:solidFill>
                  <a:srgbClr val="FFFFFF"/>
                </a:solidFill>
                <a:latin typeface="Segoe UI"/>
              </a:rPr>
              <a:t>.000</a:t>
            </a:r>
          </a:p>
          <a:p>
            <a:pPr>
              <a:lnSpc>
                <a:spcPct val="104000"/>
              </a:lnSpc>
              <a:spcBef>
                <a:spcPts val="0"/>
              </a:spcBef>
              <a:spcAft>
                <a:spcPts val="400"/>
              </a:spcAft>
            </a:pPr>
            <a:r>
              <a:rPr sz="1400" b="0" dirty="0">
                <a:solidFill>
                  <a:srgbClr val="F5B301"/>
                </a:solidFill>
                <a:latin typeface="Segoe UI"/>
              </a:rPr>
              <a:t>— </a:t>
            </a:r>
            <a:r>
              <a:rPr sz="1400" dirty="0">
                <a:solidFill>
                  <a:srgbClr val="FFFFFF"/>
                </a:solidFill>
                <a:latin typeface="Segoe UI"/>
              </a:rPr>
              <a:t>-&gt; </a:t>
            </a:r>
            <a:r>
              <a:rPr sz="1400" dirty="0" err="1">
                <a:solidFill>
                  <a:srgbClr val="FFFFFF"/>
                </a:solidFill>
                <a:latin typeface="Segoe UI"/>
              </a:rPr>
              <a:t>Condição</a:t>
            </a:r>
            <a:r>
              <a:rPr sz="1400" dirty="0">
                <a:solidFill>
                  <a:srgbClr val="FFFFFF"/>
                </a:solidFill>
                <a:latin typeface="Segoe UI"/>
              </a:rPr>
              <a:t> de </a:t>
            </a:r>
            <a:r>
              <a:rPr sz="1400" dirty="0" err="1">
                <a:solidFill>
                  <a:srgbClr val="FFFFFF"/>
                </a:solidFill>
                <a:latin typeface="Segoe UI"/>
              </a:rPr>
              <a:t>lançamento</a:t>
            </a:r>
            <a:r>
              <a:rPr sz="1400" dirty="0">
                <a:solidFill>
                  <a:srgbClr val="FFFFFF"/>
                </a:solidFill>
                <a:latin typeface="Segoe UI"/>
              </a:rPr>
              <a:t>: </a:t>
            </a:r>
            <a:r>
              <a:rPr lang="pt-BR" sz="1400" dirty="0">
                <a:solidFill>
                  <a:srgbClr val="FFFFFF"/>
                </a:solidFill>
                <a:latin typeface="Segoe UI"/>
              </a:rPr>
              <a:t>R$ 4.000</a:t>
            </a:r>
            <a:endParaRPr sz="1400" dirty="0">
              <a:solidFill>
                <a:srgbClr val="FFFFFF"/>
              </a:solidFill>
              <a:latin typeface="Segoe UI"/>
            </a:endParaRPr>
          </a:p>
          <a:p>
            <a:pPr>
              <a:lnSpc>
                <a:spcPct val="104000"/>
              </a:lnSpc>
              <a:spcBef>
                <a:spcPts val="0"/>
              </a:spcBef>
              <a:spcAft>
                <a:spcPts val="400"/>
              </a:spcAft>
            </a:pPr>
            <a:r>
              <a:rPr sz="1400" b="0" dirty="0">
                <a:solidFill>
                  <a:srgbClr val="F5B301"/>
                </a:solidFill>
                <a:latin typeface="Segoe UI"/>
              </a:rPr>
              <a:t>— </a:t>
            </a:r>
            <a:r>
              <a:rPr sz="1400" dirty="0">
                <a:solidFill>
                  <a:srgbClr val="FFFFFF"/>
                </a:solidFill>
                <a:latin typeface="Segoe UI"/>
              </a:rPr>
              <a:t>-&gt; CONDIÇÃO IMERSÃO</a:t>
            </a:r>
            <a:r>
              <a:rPr lang="pt-BR" sz="1400" dirty="0">
                <a:solidFill>
                  <a:srgbClr val="FFFFFF"/>
                </a:solidFill>
                <a:latin typeface="Segoe UI"/>
              </a:rPr>
              <a:t> ALUNOS</a:t>
            </a:r>
            <a:r>
              <a:rPr sz="1400" dirty="0">
                <a:solidFill>
                  <a:srgbClr val="FFFFFF"/>
                </a:solidFill>
                <a:latin typeface="Segoe UI"/>
              </a:rPr>
              <a:t> (</a:t>
            </a:r>
            <a:r>
              <a:rPr sz="1400" dirty="0" err="1">
                <a:solidFill>
                  <a:srgbClr val="FFFFFF"/>
                </a:solidFill>
                <a:latin typeface="Segoe UI"/>
              </a:rPr>
              <a:t>só</a:t>
            </a:r>
            <a:r>
              <a:rPr sz="1400" dirty="0">
                <a:solidFill>
                  <a:srgbClr val="FFFFFF"/>
                </a:solidFill>
                <a:latin typeface="Segoe UI"/>
              </a:rPr>
              <a:t> </a:t>
            </a:r>
            <a:r>
              <a:rPr lang="pt-BR" sz="1400" dirty="0">
                <a:solidFill>
                  <a:srgbClr val="FFFFFF"/>
                </a:solidFill>
                <a:latin typeface="Segoe UI"/>
              </a:rPr>
              <a:t>AO</a:t>
            </a:r>
            <a:r>
              <a:rPr sz="1400" dirty="0">
                <a:solidFill>
                  <a:srgbClr val="FFFFFF"/>
                </a:solidFill>
                <a:latin typeface="Segoe UI"/>
              </a:rPr>
              <a:t> </a:t>
            </a:r>
            <a:r>
              <a:rPr lang="pt-BR" sz="1400" dirty="0">
                <a:solidFill>
                  <a:srgbClr val="FFFFFF"/>
                </a:solidFill>
                <a:latin typeface="Segoe UI"/>
              </a:rPr>
              <a:t>VIVO</a:t>
            </a:r>
            <a:r>
              <a:rPr sz="1400" dirty="0">
                <a:solidFill>
                  <a:srgbClr val="FFFFFF"/>
                </a:solidFill>
                <a:latin typeface="Segoe UI"/>
              </a:rPr>
              <a:t>): </a:t>
            </a:r>
            <a:r>
              <a:rPr lang="pt-BR" sz="1400" dirty="0">
                <a:solidFill>
                  <a:srgbClr val="FFFFFF"/>
                </a:solidFill>
                <a:latin typeface="Segoe UI"/>
              </a:rPr>
              <a:t>R$ 3500,00</a:t>
            </a:r>
            <a:endParaRPr sz="1400" dirty="0">
              <a:solidFill>
                <a:srgbClr val="FFFFFF"/>
              </a:solidFill>
              <a:latin typeface="Segoe UI"/>
            </a:endParaRPr>
          </a:p>
          <a:p>
            <a:pPr>
              <a:lnSpc>
                <a:spcPct val="104000"/>
              </a:lnSpc>
              <a:spcBef>
                <a:spcPts val="0"/>
              </a:spcBef>
              <a:spcAft>
                <a:spcPts val="400"/>
              </a:spcAft>
            </a:pPr>
            <a:r>
              <a:rPr sz="1400" b="0" dirty="0">
                <a:solidFill>
                  <a:srgbClr val="F5B301"/>
                </a:solidFill>
                <a:latin typeface="Segoe UI"/>
              </a:rPr>
              <a:t>— </a:t>
            </a:r>
            <a:r>
              <a:rPr sz="1400" dirty="0" err="1">
                <a:solidFill>
                  <a:srgbClr val="FFFFFF"/>
                </a:solidFill>
                <a:latin typeface="Segoe UI"/>
              </a:rPr>
              <a:t>Garantia</a:t>
            </a:r>
            <a:r>
              <a:rPr sz="1400" dirty="0">
                <a:solidFill>
                  <a:srgbClr val="FFFFFF"/>
                </a:solidFill>
                <a:latin typeface="Segoe UI"/>
              </a:rPr>
              <a:t>: </a:t>
            </a:r>
            <a:r>
              <a:rPr lang="en-US" sz="1400" dirty="0">
                <a:solidFill>
                  <a:srgbClr val="FFFFFF"/>
                </a:solidFill>
                <a:latin typeface="Segoe UI"/>
              </a:rPr>
              <a:t>[</a:t>
            </a:r>
            <a:r>
              <a:rPr lang="pt-BR" sz="1400" dirty="0">
                <a:solidFill>
                  <a:srgbClr val="FFFFFF"/>
                </a:solidFill>
                <a:latin typeface="Segoe UI"/>
              </a:rPr>
              <a:t>definir prazo/condições de garantia]</a:t>
            </a:r>
          </a:p>
          <a:p>
            <a:pPr>
              <a:lnSpc>
                <a:spcPct val="104000"/>
              </a:lnSpc>
              <a:spcBef>
                <a:spcPts val="0"/>
              </a:spcBef>
              <a:spcAft>
                <a:spcPts val="400"/>
              </a:spcAft>
            </a:pPr>
            <a:r>
              <a:rPr lang="pt-BR" sz="1400" b="0" dirty="0">
                <a:solidFill>
                  <a:srgbClr val="F5B301"/>
                </a:solidFill>
                <a:latin typeface="Segoe UI"/>
              </a:rPr>
              <a:t>— </a:t>
            </a:r>
            <a:r>
              <a:rPr lang="pt-BR" sz="1400" dirty="0">
                <a:solidFill>
                  <a:srgbClr val="FFFFFF"/>
                </a:solidFill>
                <a:latin typeface="Segoe UI"/>
              </a:rPr>
              <a:t>Vagas/prazo: [definir limite e data]</a:t>
            </a:r>
          </a:p>
          <a:p>
            <a:pPr>
              <a:lnSpc>
                <a:spcPct val="104000"/>
              </a:lnSpc>
              <a:spcBef>
                <a:spcPts val="0"/>
              </a:spcBef>
              <a:spcAft>
                <a:spcPts val="400"/>
              </a:spcAft>
            </a:pPr>
            <a:r>
              <a:rPr sz="1400" b="0" dirty="0">
                <a:solidFill>
                  <a:srgbClr val="F5B301"/>
                </a:solidFill>
                <a:latin typeface="Segoe UI"/>
              </a:rPr>
              <a:t>— </a:t>
            </a:r>
            <a:r>
              <a:rPr sz="1400" dirty="0">
                <a:solidFill>
                  <a:srgbClr val="FFFFFF"/>
                </a:solidFill>
                <a:latin typeface="Segoe UI"/>
              </a:rPr>
              <a:t>Formas de </a:t>
            </a:r>
            <a:r>
              <a:rPr sz="1400" dirty="0" err="1">
                <a:solidFill>
                  <a:srgbClr val="FFFFFF"/>
                </a:solidFill>
                <a:latin typeface="Segoe UI"/>
              </a:rPr>
              <a:t>pagamento</a:t>
            </a:r>
            <a:r>
              <a:rPr sz="1400" dirty="0">
                <a:solidFill>
                  <a:srgbClr val="FFFFFF"/>
                </a:solidFill>
                <a:latin typeface="Segoe UI"/>
              </a:rPr>
              <a:t>: </a:t>
            </a:r>
            <a:r>
              <a:rPr lang="en-US" sz="1400" dirty="0">
                <a:solidFill>
                  <a:srgbClr val="FFFFFF"/>
                </a:solidFill>
                <a:latin typeface="Segoe UI"/>
              </a:rPr>
              <a:t>PIX, cart</a:t>
            </a:r>
            <a:r>
              <a:rPr lang="pt-BR" sz="1400" dirty="0" err="1">
                <a:solidFill>
                  <a:srgbClr val="FFFFFF"/>
                </a:solidFill>
                <a:latin typeface="Segoe UI"/>
              </a:rPr>
              <a:t>ão</a:t>
            </a:r>
            <a:r>
              <a:rPr lang="pt-BR" sz="1400" dirty="0">
                <a:solidFill>
                  <a:srgbClr val="FFFFFF"/>
                </a:solidFill>
                <a:latin typeface="Segoe UI"/>
              </a:rPr>
              <a:t> de crédito, Paypal, boleto e </a:t>
            </a:r>
            <a:r>
              <a:rPr lang="pt-BR" sz="1400" dirty="0" err="1">
                <a:solidFill>
                  <a:srgbClr val="FFFFFF"/>
                </a:solidFill>
                <a:latin typeface="Segoe UI"/>
              </a:rPr>
              <a:t>etc</a:t>
            </a:r>
            <a:endParaRPr lang="pt-BR" sz="1400" dirty="0">
              <a:solidFill>
                <a:srgbClr val="FFFFFF"/>
              </a:solidFill>
              <a:latin typeface="Segoe UI"/>
            </a:endParaRPr>
          </a:p>
          <a:p>
            <a:pPr>
              <a:lnSpc>
                <a:spcPct val="104000"/>
              </a:lnSpc>
              <a:spcBef>
                <a:spcPts val="0"/>
              </a:spcBef>
              <a:spcAft>
                <a:spcPts val="400"/>
              </a:spcAft>
            </a:pPr>
            <a:r>
              <a:rPr lang="pt-BR" sz="1400" b="0" dirty="0">
                <a:solidFill>
                  <a:srgbClr val="F5B301"/>
                </a:solidFill>
                <a:latin typeface="Segoe UI"/>
              </a:rPr>
              <a:t>— </a:t>
            </a:r>
            <a:r>
              <a:rPr lang="pt-BR" sz="1400" dirty="0">
                <a:solidFill>
                  <a:srgbClr val="FFFFFF"/>
                </a:solidFill>
                <a:latin typeface="Segoe UI"/>
              </a:rPr>
              <a:t>Pacote premium (Pós + Mentoria): R$ 7.000</a:t>
            </a:r>
          </a:p>
        </p:txBody>
      </p:sp>
      <p:sp>
        <p:nvSpPr>
          <p:cNvPr id="9" name="Rounded Rectangle 8"/>
          <p:cNvSpPr/>
          <p:nvPr/>
        </p:nvSpPr>
        <p:spPr>
          <a:xfrm>
            <a:off x="7589520" y="1554480"/>
            <a:ext cx="4114800" cy="4389120"/>
          </a:xfrm>
          <a:prstGeom prst="roundRect">
            <a:avLst>
              <a:gd name="adj" fmla="val 6000"/>
            </a:avLst>
          </a:prstGeom>
          <a:solidFill>
            <a:srgbClr val="FFFFFF"/>
          </a:solidFill>
          <a:ln w="20320">
            <a:solidFill>
              <a:srgbClr val="F5B3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0" y="2011680"/>
            <a:ext cx="4114800" cy="457200"/>
          </a:xfrm>
          <a:prstGeom prst="rect">
            <a:avLst/>
          </a:prstGeom>
          <a:noFill/>
        </p:spPr>
        <p:txBody>
          <a:bodyPr wrap="square" lIns="25400" tIns="25400" rIns="25400" bIns="25400" anchor="t">
            <a:spAutoFit/>
          </a:bodyPr>
          <a:lstStyle/>
          <a:p>
            <a:pPr algn="ctr">
              <a:lnSpc>
                <a:spcPct val="106000"/>
              </a:lnSpc>
              <a:spcBef>
                <a:spcPts val="0"/>
              </a:spcBef>
              <a:spcAft>
                <a:spcPts val="0"/>
              </a:spcAft>
            </a:pPr>
            <a:r>
              <a:rPr sz="1500" b="1" i="0">
                <a:solidFill>
                  <a:srgbClr val="0B1220"/>
                </a:solidFill>
                <a:latin typeface="Segoe UI"/>
              </a:rPr>
              <a:t>MATRICULE-SE AGORA</a:t>
            </a:r>
          </a:p>
        </p:txBody>
      </p:sp>
      <p:sp>
        <p:nvSpPr>
          <p:cNvPr id="11" name="Rectangle 10"/>
          <p:cNvSpPr/>
          <p:nvPr/>
        </p:nvSpPr>
        <p:spPr>
          <a:xfrm>
            <a:off x="9052560" y="2651760"/>
            <a:ext cx="1188720" cy="1188720"/>
          </a:xfrm>
          <a:prstGeom prst="rect">
            <a:avLst/>
          </a:prstGeom>
          <a:solidFill>
            <a:srgbClr val="EEEEEE"/>
          </a:solidFill>
          <a:ln w="1524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052560" y="2651760"/>
            <a:ext cx="1188720" cy="1188720"/>
          </a:xfrm>
          <a:prstGeom prst="rect">
            <a:avLst/>
          </a:prstGeom>
          <a:noFill/>
        </p:spPr>
        <p:txBody>
          <a:bodyPr wrap="square" lIns="25400" tIns="25400" rIns="25400" bIns="25400" anchor="ctr">
            <a:spAutoFit/>
          </a:bodyPr>
          <a:lstStyle/>
          <a:p>
            <a:pPr algn="ctr">
              <a:lnSpc>
                <a:spcPct val="106000"/>
              </a:lnSpc>
              <a:spcBef>
                <a:spcPts val="0"/>
              </a:spcBef>
              <a:spcAft>
                <a:spcPts val="0"/>
              </a:spcAft>
            </a:pPr>
            <a:r>
              <a:rPr sz="2200" b="1" i="0">
                <a:solidFill>
                  <a:srgbClr val="555555"/>
                </a:solidFill>
                <a:latin typeface="Segoe UI"/>
              </a:rPr>
              <a:t>QR</a:t>
            </a:r>
          </a:p>
        </p:txBody>
      </p:sp>
      <p:sp>
        <p:nvSpPr>
          <p:cNvPr id="13" name="TextBox 12"/>
          <p:cNvSpPr txBox="1"/>
          <p:nvPr/>
        </p:nvSpPr>
        <p:spPr>
          <a:xfrm>
            <a:off x="7680960" y="3977639"/>
            <a:ext cx="3931920" cy="1645920"/>
          </a:xfrm>
          <a:prstGeom prst="rect">
            <a:avLst/>
          </a:prstGeom>
          <a:noFill/>
        </p:spPr>
        <p:txBody>
          <a:bodyPr wrap="square" lIns="25400" tIns="25400" rIns="25400" bIns="25400" anchor="t">
            <a:spAutoFit/>
          </a:bodyPr>
          <a:lstStyle/>
          <a:p>
            <a:pPr algn="ctr">
              <a:lnSpc>
                <a:spcPct val="106000"/>
              </a:lnSpc>
              <a:spcBef>
                <a:spcPts val="0"/>
              </a:spcBef>
              <a:spcAft>
                <a:spcPts val="400"/>
              </a:spcAft>
            </a:pPr>
            <a:r>
              <a:rPr sz="1200" b="0" i="1">
                <a:solidFill>
                  <a:srgbClr val="555555"/>
                </a:solidFill>
                <a:latin typeface="Segoe UI"/>
              </a:rPr>
              <a:t>[inserir QR Code do link de matrícula]</a:t>
            </a:r>
          </a:p>
          <a:p>
            <a:pPr algn="ctr">
              <a:lnSpc>
                <a:spcPct val="106000"/>
              </a:lnSpc>
              <a:spcBef>
                <a:spcPts val="0"/>
              </a:spcBef>
              <a:spcAft>
                <a:spcPts val="400"/>
              </a:spcAft>
            </a:pPr>
            <a:r>
              <a:rPr sz="1200" b="1" i="0">
                <a:solidFill>
                  <a:srgbClr val="222222"/>
                </a:solidFill>
                <a:latin typeface="Segoe UI"/>
              </a:rPr>
              <a:t>Link no chat: [definir URL]</a:t>
            </a:r>
          </a:p>
          <a:p>
            <a:pPr algn="ctr">
              <a:lnSpc>
                <a:spcPct val="106000"/>
              </a:lnSpc>
              <a:spcBef>
                <a:spcPts val="0"/>
              </a:spcBef>
              <a:spcAft>
                <a:spcPts val="400"/>
              </a:spcAft>
            </a:pPr>
            <a:r>
              <a:rPr sz="1200" b="1" i="0">
                <a:solidFill>
                  <a:srgbClr val="222222"/>
                </a:solidFill>
                <a:latin typeface="Segoe UI"/>
              </a:rPr>
              <a:t>WhatsApp: 31 99925-7130</a:t>
            </a:r>
          </a:p>
        </p:txBody>
      </p:sp>
      <p:sp>
        <p:nvSpPr>
          <p:cNvPr id="14" name="Rectangle 13"/>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
        <p:nvSpPr>
          <p:cNvPr id="16" name="TextBox 15"/>
          <p:cNvSpPr txBox="1"/>
          <p:nvPr/>
        </p:nvSpPr>
        <p:spPr>
          <a:xfrm>
            <a:off x="11155680" y="6565392"/>
            <a:ext cx="822960" cy="292608"/>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900" b="0" i="0">
                <a:solidFill>
                  <a:srgbClr val="9AA7BD"/>
                </a:solidFill>
                <a:latin typeface="Segoe UI"/>
              </a:rPr>
              <a:t>14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457200" y="475488"/>
            <a:ext cx="109728" cy="566928"/>
          </a:xfrm>
          <a:prstGeom prst="rect">
            <a:avLst/>
          </a:prstGeom>
          <a:solidFill>
            <a:srgbClr val="F5B3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20624"/>
            <a:ext cx="10789920" cy="292608"/>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200" b="1" i="0">
                <a:solidFill>
                  <a:srgbClr val="F5B301"/>
                </a:solidFill>
                <a:latin typeface="Segoe UI"/>
              </a:rPr>
              <a:t>TIRA-DÚVIDAS DA PÓS (NÃO TIRE O QR DA TELA)</a:t>
            </a:r>
          </a:p>
        </p:txBody>
      </p:sp>
      <p:sp>
        <p:nvSpPr>
          <p:cNvPr id="4" name="TextBox 3"/>
          <p:cNvSpPr txBox="1"/>
          <p:nvPr/>
        </p:nvSpPr>
        <p:spPr>
          <a:xfrm>
            <a:off x="658368" y="676656"/>
            <a:ext cx="10881360" cy="460062"/>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2700" b="1" i="0" dirty="0" err="1">
                <a:solidFill>
                  <a:srgbClr val="FFFFFF"/>
                </a:solidFill>
                <a:latin typeface="Segoe UI"/>
              </a:rPr>
              <a:t>Quebrando</a:t>
            </a:r>
            <a:r>
              <a:rPr sz="2700" b="1" i="0" dirty="0">
                <a:solidFill>
                  <a:srgbClr val="FFFFFF"/>
                </a:solidFill>
                <a:latin typeface="Segoe UI"/>
              </a:rPr>
              <a:t> </a:t>
            </a:r>
            <a:r>
              <a:rPr sz="2700" b="1" i="0" dirty="0" err="1">
                <a:solidFill>
                  <a:srgbClr val="FFFFFF"/>
                </a:solidFill>
                <a:latin typeface="Segoe UI"/>
              </a:rPr>
              <a:t>objeções</a:t>
            </a:r>
            <a:r>
              <a:rPr sz="2700" b="1" i="0" dirty="0">
                <a:solidFill>
                  <a:srgbClr val="FFFFFF"/>
                </a:solidFill>
                <a:latin typeface="Segoe UI"/>
              </a:rPr>
              <a:t> </a:t>
            </a:r>
            <a:r>
              <a:rPr lang="pt-BR" sz="2700" b="1" i="0" dirty="0">
                <a:solidFill>
                  <a:srgbClr val="FFFFFF"/>
                </a:solidFill>
                <a:latin typeface="Segoe UI"/>
              </a:rPr>
              <a:t>A</a:t>
            </a:r>
            <a:r>
              <a:rPr lang="pt-BR" sz="2700" b="1" dirty="0">
                <a:solidFill>
                  <a:srgbClr val="FFFFFF"/>
                </a:solidFill>
                <a:latin typeface="Segoe UI"/>
              </a:rPr>
              <a:t>O VIVO</a:t>
            </a:r>
            <a:endParaRPr sz="2700" b="1" i="0" dirty="0">
              <a:solidFill>
                <a:srgbClr val="FFFFFF"/>
              </a:solidFill>
              <a:latin typeface="Segoe UI"/>
            </a:endParaRPr>
          </a:p>
        </p:txBody>
      </p:sp>
      <p:sp>
        <p:nvSpPr>
          <p:cNvPr id="5" name="TextBox 4"/>
          <p:cNvSpPr txBox="1"/>
          <p:nvPr/>
        </p:nvSpPr>
        <p:spPr>
          <a:xfrm>
            <a:off x="658368" y="1554480"/>
            <a:ext cx="10881360" cy="4754880"/>
          </a:xfrm>
          <a:prstGeom prst="rect">
            <a:avLst/>
          </a:prstGeom>
          <a:noFill/>
        </p:spPr>
        <p:txBody>
          <a:bodyPr wrap="square" lIns="25400" tIns="25400" rIns="25400" bIns="25400">
            <a:spAutoFit/>
          </a:bodyPr>
          <a:lstStyle/>
          <a:p>
            <a:pPr>
              <a:lnSpc>
                <a:spcPct val="106000"/>
              </a:lnSpc>
              <a:spcBef>
                <a:spcPts val="0"/>
              </a:spcBef>
              <a:spcAft>
                <a:spcPts val="800"/>
              </a:spcAft>
            </a:pPr>
            <a:r>
              <a:rPr sz="1500" b="0">
                <a:solidFill>
                  <a:srgbClr val="F5B301"/>
                </a:solidFill>
                <a:latin typeface="Segoe UI"/>
              </a:rPr>
              <a:t>— </a:t>
            </a:r>
            <a:r>
              <a:rPr sz="1500">
                <a:solidFill>
                  <a:srgbClr val="FFFFFF"/>
                </a:solidFill>
                <a:latin typeface="Segoe UI"/>
              </a:rPr>
              <a:t>Funciona para iniciante? Sim — a trilha parte do essencial até arquitetura avançada.</a:t>
            </a:r>
          </a:p>
          <a:p>
            <a:pPr>
              <a:lnSpc>
                <a:spcPct val="106000"/>
              </a:lnSpc>
              <a:spcBef>
                <a:spcPts val="0"/>
              </a:spcBef>
              <a:spcAft>
                <a:spcPts val="800"/>
              </a:spcAft>
            </a:pPr>
            <a:r>
              <a:rPr sz="1500" b="0">
                <a:solidFill>
                  <a:srgbClr val="F5B301"/>
                </a:solidFill>
                <a:latin typeface="Segoe UI"/>
              </a:rPr>
              <a:t>— </a:t>
            </a:r>
            <a:r>
              <a:rPr sz="1500">
                <a:solidFill>
                  <a:srgbClr val="FFFFFF"/>
                </a:solidFill>
                <a:latin typeface="Segoe UI"/>
              </a:rPr>
              <a:t>Preciso ser certificado? Não — a Pós inclusive te prepara para certificações.</a:t>
            </a:r>
          </a:p>
          <a:p>
            <a:pPr>
              <a:lnSpc>
                <a:spcPct val="106000"/>
              </a:lnSpc>
              <a:spcBef>
                <a:spcPts val="0"/>
              </a:spcBef>
              <a:spcAft>
                <a:spcPts val="800"/>
              </a:spcAft>
            </a:pPr>
            <a:r>
              <a:rPr sz="1500" b="0">
                <a:solidFill>
                  <a:srgbClr val="F5B301"/>
                </a:solidFill>
                <a:latin typeface="Segoe UI"/>
              </a:rPr>
              <a:t>— </a:t>
            </a:r>
            <a:r>
              <a:rPr sz="1500">
                <a:solidFill>
                  <a:srgbClr val="FFFFFF"/>
                </a:solidFill>
                <a:latin typeface="Segoe UI"/>
              </a:rPr>
              <a:t>Posso fazer trabalhando? Sim — formato online, no seu ritmo, com encontros e mentoria.</a:t>
            </a:r>
          </a:p>
          <a:p>
            <a:pPr>
              <a:lnSpc>
                <a:spcPct val="106000"/>
              </a:lnSpc>
              <a:spcBef>
                <a:spcPts val="0"/>
              </a:spcBef>
              <a:spcAft>
                <a:spcPts val="800"/>
              </a:spcAft>
            </a:pPr>
            <a:r>
              <a:rPr sz="1500" b="0">
                <a:solidFill>
                  <a:srgbClr val="F5B301"/>
                </a:solidFill>
                <a:latin typeface="Segoe UI"/>
              </a:rPr>
              <a:t>— </a:t>
            </a:r>
            <a:r>
              <a:rPr sz="1500">
                <a:solidFill>
                  <a:srgbClr val="FFFFFF"/>
                </a:solidFill>
                <a:latin typeface="Segoe UI"/>
              </a:rPr>
              <a:t>Tem aula ao vivo / acompanhamento? Mentoria de 6 meses com o MVP Guilherme Maia.</a:t>
            </a:r>
          </a:p>
          <a:p>
            <a:pPr>
              <a:lnSpc>
                <a:spcPct val="106000"/>
              </a:lnSpc>
              <a:spcBef>
                <a:spcPts val="0"/>
              </a:spcBef>
              <a:spcAft>
                <a:spcPts val="800"/>
              </a:spcAft>
            </a:pPr>
            <a:r>
              <a:rPr sz="1500" b="0">
                <a:solidFill>
                  <a:srgbClr val="F5B301"/>
                </a:solidFill>
                <a:latin typeface="Segoe UI"/>
              </a:rPr>
              <a:t>— </a:t>
            </a:r>
            <a:r>
              <a:rPr sz="1500">
                <a:solidFill>
                  <a:srgbClr val="FFFFFF"/>
                </a:solidFill>
                <a:latin typeface="Segoe UI"/>
              </a:rPr>
              <a:t>E se eu travar? Comunidade + mentoria + projetos práticos para não ficar sozinho.</a:t>
            </a:r>
          </a:p>
          <a:p>
            <a:pPr>
              <a:lnSpc>
                <a:spcPct val="106000"/>
              </a:lnSpc>
              <a:spcBef>
                <a:spcPts val="0"/>
              </a:spcBef>
              <a:spcAft>
                <a:spcPts val="800"/>
              </a:spcAft>
            </a:pPr>
            <a:r>
              <a:rPr sz="1500" b="0">
                <a:solidFill>
                  <a:srgbClr val="9AA7BD"/>
                </a:solidFill>
                <a:latin typeface="Segoe UI"/>
              </a:rPr>
              <a:t>  • </a:t>
            </a:r>
            <a:r>
              <a:rPr sz="1400">
                <a:solidFill>
                  <a:srgbClr val="9AA7BD"/>
                </a:solidFill>
                <a:latin typeface="Segoe UI"/>
              </a:rPr>
              <a:t>Objeção de preço/tempo/aplicabilidade: mostre o custo de continuar fragmentado.</a:t>
            </a:r>
          </a:p>
        </p:txBody>
      </p:sp>
      <p:sp>
        <p:nvSpPr>
          <p:cNvPr id="6" name="Rectangle 5"/>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
        <p:nvSpPr>
          <p:cNvPr id="8" name="TextBox 7"/>
          <p:cNvSpPr txBox="1"/>
          <p:nvPr/>
        </p:nvSpPr>
        <p:spPr>
          <a:xfrm>
            <a:off x="11155680" y="6565392"/>
            <a:ext cx="822960" cy="292608"/>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900" b="0" i="0">
                <a:solidFill>
                  <a:srgbClr val="9AA7BD"/>
                </a:solidFill>
                <a:latin typeface="Segoe UI"/>
              </a:rPr>
              <a:t>15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0182A"/>
        </a:solidFill>
        <a:effectLst/>
      </p:bgPr>
    </p:bg>
    <p:spTree>
      <p:nvGrpSpPr>
        <p:cNvPr id="1" name=""/>
        <p:cNvGrpSpPr/>
        <p:nvPr/>
      </p:nvGrpSpPr>
      <p:grpSpPr>
        <a:xfrm>
          <a:off x="0" y="0"/>
          <a:ext cx="0" cy="0"/>
          <a:chOff x="0" y="0"/>
          <a:chExt cx="0" cy="0"/>
        </a:xfrm>
      </p:grpSpPr>
      <p:sp>
        <p:nvSpPr>
          <p:cNvPr id="2" name="TextBox 1"/>
          <p:cNvSpPr txBox="1"/>
          <p:nvPr/>
        </p:nvSpPr>
        <p:spPr>
          <a:xfrm>
            <a:off x="914400" y="1920240"/>
            <a:ext cx="10332720" cy="45720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500" b="1" i="0">
                <a:solidFill>
                  <a:srgbClr val="22C3A6"/>
                </a:solidFill>
                <a:latin typeface="Segoe UI"/>
              </a:rPr>
              <a:t>A ENTREGA NÃO ACABOU</a:t>
            </a:r>
          </a:p>
        </p:txBody>
      </p:sp>
      <p:sp>
        <p:nvSpPr>
          <p:cNvPr id="3" name="TextBox 2"/>
          <p:cNvSpPr txBox="1"/>
          <p:nvPr/>
        </p:nvSpPr>
        <p:spPr>
          <a:xfrm>
            <a:off x="914400" y="2377440"/>
            <a:ext cx="10332720" cy="1911036"/>
          </a:xfrm>
          <a:prstGeom prst="rect">
            <a:avLst/>
          </a:prstGeom>
          <a:noFill/>
        </p:spPr>
        <p:txBody>
          <a:bodyPr wrap="square" lIns="25400" tIns="25400" rIns="25400" bIns="25400" anchor="t">
            <a:spAutoFit/>
          </a:bodyPr>
          <a:lstStyle/>
          <a:p>
            <a:pPr algn="l">
              <a:lnSpc>
                <a:spcPct val="103000"/>
              </a:lnSpc>
              <a:spcBef>
                <a:spcPts val="0"/>
              </a:spcBef>
              <a:spcAft>
                <a:spcPts val="0"/>
              </a:spcAft>
            </a:pPr>
            <a:r>
              <a:rPr sz="4000" b="1" i="0" dirty="0" err="1">
                <a:solidFill>
                  <a:srgbClr val="FFFFFF"/>
                </a:solidFill>
                <a:latin typeface="Segoe UI"/>
              </a:rPr>
              <a:t>Voltamos</a:t>
            </a:r>
            <a:r>
              <a:rPr sz="4000" b="1" i="0" dirty="0">
                <a:solidFill>
                  <a:srgbClr val="FFFFFF"/>
                </a:solidFill>
                <a:latin typeface="Segoe UI"/>
              </a:rPr>
              <a:t> para a aula: a </a:t>
            </a:r>
            <a:r>
              <a:rPr sz="4000" b="1" i="0" dirty="0" err="1">
                <a:solidFill>
                  <a:srgbClr val="FFFFFF"/>
                </a:solidFill>
                <a:latin typeface="Segoe UI"/>
              </a:rPr>
              <a:t>peça</a:t>
            </a:r>
            <a:r>
              <a:rPr sz="4000" b="1" i="0" dirty="0">
                <a:solidFill>
                  <a:srgbClr val="FFFFFF"/>
                </a:solidFill>
                <a:latin typeface="Segoe UI"/>
              </a:rPr>
              <a:t> final </a:t>
            </a:r>
            <a:r>
              <a:rPr sz="4000" b="1" i="0" dirty="0" err="1">
                <a:solidFill>
                  <a:srgbClr val="FFFFFF"/>
                </a:solidFill>
                <a:latin typeface="Segoe UI"/>
              </a:rPr>
              <a:t>prometida</a:t>
            </a:r>
            <a:r>
              <a:rPr sz="4000" b="1" i="0" dirty="0">
                <a:solidFill>
                  <a:srgbClr val="FFFFFF"/>
                </a:solidFill>
                <a:latin typeface="Segoe UI"/>
              </a:rPr>
              <a:t> — Azure OpenAI </a:t>
            </a:r>
            <a:r>
              <a:rPr sz="4000" b="1" i="0" dirty="0" err="1">
                <a:solidFill>
                  <a:srgbClr val="FFFFFF"/>
                </a:solidFill>
                <a:latin typeface="Segoe UI"/>
              </a:rPr>
              <a:t>aplicada</a:t>
            </a:r>
            <a:r>
              <a:rPr sz="4000" b="1" i="0" dirty="0">
                <a:solidFill>
                  <a:srgbClr val="FFFFFF"/>
                </a:solidFill>
                <a:latin typeface="Segoe UI"/>
              </a:rPr>
              <a:t> à </a:t>
            </a:r>
            <a:r>
              <a:rPr lang="pt-BR" sz="4000" b="1" dirty="0">
                <a:solidFill>
                  <a:srgbClr val="FFFFFF"/>
                </a:solidFill>
                <a:latin typeface="Segoe UI"/>
              </a:rPr>
              <a:t>A</a:t>
            </a:r>
            <a:r>
              <a:rPr sz="4000" b="1" i="0" dirty="0" err="1">
                <a:solidFill>
                  <a:srgbClr val="FFFFFF"/>
                </a:solidFill>
                <a:latin typeface="Segoe UI"/>
              </a:rPr>
              <a:t>rquitetura</a:t>
            </a:r>
            <a:r>
              <a:rPr sz="4000" b="1" i="0" dirty="0">
                <a:solidFill>
                  <a:srgbClr val="FFFFFF"/>
                </a:solidFill>
                <a:latin typeface="Segoe UI"/>
              </a:rPr>
              <a:t>.</a:t>
            </a:r>
          </a:p>
        </p:txBody>
      </p:sp>
      <p:sp>
        <p:nvSpPr>
          <p:cNvPr id="4" name="TextBox 3"/>
          <p:cNvSpPr txBox="1"/>
          <p:nvPr/>
        </p:nvSpPr>
        <p:spPr>
          <a:xfrm>
            <a:off x="932688" y="4754880"/>
            <a:ext cx="10332720" cy="109728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700" b="0" i="0">
                <a:solidFill>
                  <a:srgbClr val="9AA7BD"/>
                </a:solidFill>
                <a:latin typeface="Segoe UI"/>
              </a:rPr>
              <a:t>Quem não comprou continua aprendendo. Quem comprou avança. A venda segue acontecendo.</a:t>
            </a:r>
          </a:p>
        </p:txBody>
      </p:sp>
      <p:sp>
        <p:nvSpPr>
          <p:cNvPr id="5" name="Rectangle 4"/>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0182A"/>
        </a:solidFill>
        <a:effectLst/>
      </p:bgPr>
    </p:bg>
    <p:spTree>
      <p:nvGrpSpPr>
        <p:cNvPr id="1" name=""/>
        <p:cNvGrpSpPr/>
        <p:nvPr/>
      </p:nvGrpSpPr>
      <p:grpSpPr>
        <a:xfrm>
          <a:off x="0" y="0"/>
          <a:ext cx="0" cy="0"/>
          <a:chOff x="0" y="0"/>
          <a:chExt cx="0" cy="0"/>
        </a:xfrm>
      </p:grpSpPr>
      <p:sp>
        <p:nvSpPr>
          <p:cNvPr id="2" name="Rounded Rectangle 1"/>
          <p:cNvSpPr/>
          <p:nvPr/>
        </p:nvSpPr>
        <p:spPr>
          <a:xfrm>
            <a:off x="822960" y="2011680"/>
            <a:ext cx="2011680" cy="2011680"/>
          </a:xfrm>
          <a:prstGeom prst="roundRect">
            <a:avLst>
              <a:gd name="adj" fmla="val 6000"/>
            </a:avLst>
          </a:prstGeom>
          <a:noFill/>
          <a:ln w="25400">
            <a:solidFill>
              <a:srgbClr val="2E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431750"/>
            <a:ext cx="2011680" cy="1171539"/>
          </a:xfrm>
          <a:prstGeom prst="rect">
            <a:avLst/>
          </a:prstGeom>
          <a:noFill/>
        </p:spPr>
        <p:txBody>
          <a:bodyPr wrap="square" lIns="25400" tIns="25400" rIns="25400" bIns="25400" anchor="ctr">
            <a:spAutoFit/>
          </a:bodyPr>
          <a:lstStyle/>
          <a:p>
            <a:pPr algn="ctr">
              <a:lnSpc>
                <a:spcPct val="106000"/>
              </a:lnSpc>
              <a:spcBef>
                <a:spcPts val="0"/>
              </a:spcBef>
              <a:spcAft>
                <a:spcPts val="0"/>
              </a:spcAft>
            </a:pPr>
            <a:r>
              <a:rPr sz="7400" b="1" i="0" dirty="0">
                <a:solidFill>
                  <a:srgbClr val="2E8BFF"/>
                </a:solidFill>
                <a:latin typeface="Segoe UI"/>
              </a:rPr>
              <a:t>1</a:t>
            </a:r>
            <a:r>
              <a:rPr lang="pt-BR" sz="7400" b="1" dirty="0">
                <a:solidFill>
                  <a:srgbClr val="2E8BFF"/>
                </a:solidFill>
                <a:latin typeface="Segoe UI"/>
              </a:rPr>
              <a:t>1</a:t>
            </a:r>
            <a:endParaRPr sz="7400" b="1" i="0" dirty="0">
              <a:solidFill>
                <a:srgbClr val="2E8BFF"/>
              </a:solidFill>
              <a:latin typeface="Segoe UI"/>
            </a:endParaRPr>
          </a:p>
        </p:txBody>
      </p:sp>
      <p:sp>
        <p:nvSpPr>
          <p:cNvPr id="4" name="TextBox 3"/>
          <p:cNvSpPr txBox="1"/>
          <p:nvPr/>
        </p:nvSpPr>
        <p:spPr>
          <a:xfrm>
            <a:off x="3200400" y="2286000"/>
            <a:ext cx="8229600" cy="1280160"/>
          </a:xfrm>
          <a:prstGeom prst="rect">
            <a:avLst/>
          </a:prstGeom>
          <a:noFill/>
        </p:spPr>
        <p:txBody>
          <a:bodyPr wrap="square" lIns="25400" tIns="25400" rIns="25400" bIns="25400" anchor="t">
            <a:spAutoFit/>
          </a:bodyPr>
          <a:lstStyle/>
          <a:p>
            <a:pPr algn="l">
              <a:lnSpc>
                <a:spcPct val="100000"/>
              </a:lnSpc>
              <a:spcBef>
                <a:spcPts val="0"/>
              </a:spcBef>
              <a:spcAft>
                <a:spcPts val="0"/>
              </a:spcAft>
            </a:pPr>
            <a:r>
              <a:rPr sz="3800" b="1" i="0">
                <a:solidFill>
                  <a:srgbClr val="FFFFFF"/>
                </a:solidFill>
                <a:latin typeface="Segoe UI"/>
              </a:rPr>
              <a:t>Azure OpenAI / AI Foundry</a:t>
            </a:r>
          </a:p>
        </p:txBody>
      </p:sp>
      <p:sp>
        <p:nvSpPr>
          <p:cNvPr id="5" name="Rectangle 4"/>
          <p:cNvSpPr/>
          <p:nvPr/>
        </p:nvSpPr>
        <p:spPr>
          <a:xfrm>
            <a:off x="3246120" y="3611880"/>
            <a:ext cx="2743200" cy="45720"/>
          </a:xfrm>
          <a:prstGeom prst="rect">
            <a:avLst/>
          </a:prstGeom>
          <a:solidFill>
            <a:srgbClr val="2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46120" y="3794760"/>
            <a:ext cx="8138160" cy="308674"/>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700" b="0" i="0" dirty="0" err="1">
                <a:solidFill>
                  <a:srgbClr val="9AA7BD"/>
                </a:solidFill>
                <a:latin typeface="Segoe UI"/>
              </a:rPr>
              <a:t>Transformar</a:t>
            </a:r>
            <a:r>
              <a:rPr sz="1700" b="0" i="0" dirty="0">
                <a:solidFill>
                  <a:srgbClr val="9AA7BD"/>
                </a:solidFill>
                <a:latin typeface="Segoe UI"/>
              </a:rPr>
              <a:t> a </a:t>
            </a:r>
            <a:r>
              <a:rPr lang="pt-BR" sz="1700" b="0" i="0" dirty="0">
                <a:solidFill>
                  <a:srgbClr val="9AA7BD"/>
                </a:solidFill>
                <a:latin typeface="Segoe UI"/>
              </a:rPr>
              <a:t>Azure App</a:t>
            </a:r>
            <a:r>
              <a:rPr sz="1700" b="0" i="0" dirty="0">
                <a:solidFill>
                  <a:srgbClr val="9AA7BD"/>
                </a:solidFill>
                <a:latin typeface="Segoe UI"/>
              </a:rPr>
              <a:t> Store </a:t>
            </a:r>
            <a:r>
              <a:rPr sz="1700" b="0" i="0" dirty="0" err="1">
                <a:solidFill>
                  <a:srgbClr val="9AA7BD"/>
                </a:solidFill>
                <a:latin typeface="Segoe UI"/>
              </a:rPr>
              <a:t>em</a:t>
            </a:r>
            <a:r>
              <a:rPr sz="1700" b="0" i="0" dirty="0">
                <a:solidFill>
                  <a:srgbClr val="9AA7BD"/>
                </a:solidFill>
                <a:latin typeface="Segoe UI"/>
              </a:rPr>
              <a:t> Cloud + AI: o Expert AI Assistant.</a:t>
            </a:r>
          </a:p>
        </p:txBody>
      </p:sp>
      <p:sp>
        <p:nvSpPr>
          <p:cNvPr id="7" name="Rectangle 6"/>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457200" y="457200"/>
            <a:ext cx="109728" cy="640080"/>
          </a:xfrm>
          <a:prstGeom prst="rect">
            <a:avLst/>
          </a:prstGeom>
          <a:solidFill>
            <a:srgbClr val="2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02336"/>
            <a:ext cx="10789920" cy="27432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200" b="1" i="0">
                <a:solidFill>
                  <a:srgbClr val="2E8BFF"/>
                </a:solidFill>
                <a:latin typeface="Segoe UI"/>
              </a:rPr>
              <a:t>LAB 11 · IA APLICADA</a:t>
            </a:r>
          </a:p>
        </p:txBody>
      </p:sp>
      <p:sp>
        <p:nvSpPr>
          <p:cNvPr id="4" name="TextBox 3"/>
          <p:cNvSpPr txBox="1"/>
          <p:nvPr/>
        </p:nvSpPr>
        <p:spPr>
          <a:xfrm>
            <a:off x="658368" y="658368"/>
            <a:ext cx="8229600" cy="54864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2600" b="1" i="0">
                <a:solidFill>
                  <a:srgbClr val="FFFFFF"/>
                </a:solidFill>
                <a:latin typeface="Segoe UI"/>
              </a:rPr>
              <a:t>Azure OpenAI / Azure AI Foundry</a:t>
            </a:r>
          </a:p>
        </p:txBody>
      </p:sp>
      <p:sp>
        <p:nvSpPr>
          <p:cNvPr id="5" name="TextBox 4"/>
          <p:cNvSpPr txBox="1"/>
          <p:nvPr/>
        </p:nvSpPr>
        <p:spPr>
          <a:xfrm>
            <a:off x="676656" y="1170432"/>
            <a:ext cx="10881360" cy="32004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350" b="0" i="1">
                <a:solidFill>
                  <a:srgbClr val="9AA7BD"/>
                </a:solidFill>
                <a:latin typeface="Segoe UI"/>
              </a:rPr>
              <a:t>A camada de inteligência da aplicação</a:t>
            </a:r>
          </a:p>
        </p:txBody>
      </p:sp>
      <p:sp>
        <p:nvSpPr>
          <p:cNvPr id="6" name="Rounded Rectangle 5"/>
          <p:cNvSpPr/>
          <p:nvPr/>
        </p:nvSpPr>
        <p:spPr>
          <a:xfrm>
            <a:off x="457200" y="1572768"/>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7200" y="1572768"/>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572768"/>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2E8BFF"/>
                </a:solidFill>
                <a:latin typeface="Segoe UI"/>
              </a:rPr>
              <a:t>■  O QUE É</a:t>
            </a:r>
          </a:p>
        </p:txBody>
      </p:sp>
      <p:sp>
        <p:nvSpPr>
          <p:cNvPr id="9" name="TextBox 8"/>
          <p:cNvSpPr txBox="1"/>
          <p:nvPr/>
        </p:nvSpPr>
        <p:spPr>
          <a:xfrm>
            <a:off x="640080" y="2029967"/>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2E8BFF"/>
                </a:solidFill>
                <a:latin typeface="Segoe UI"/>
              </a:rPr>
              <a:t>— </a:t>
            </a:r>
            <a:r>
              <a:rPr sz="1200">
                <a:solidFill>
                  <a:srgbClr val="FFFFFF"/>
                </a:solidFill>
                <a:latin typeface="Segoe UI"/>
              </a:rPr>
              <a:t>Modelos de IA (ex.: gpt-4o) como serviço gerenciado no Azure.</a:t>
            </a:r>
          </a:p>
          <a:p>
            <a:pPr>
              <a:lnSpc>
                <a:spcPct val="104000"/>
              </a:lnSpc>
              <a:spcBef>
                <a:spcPts val="0"/>
              </a:spcBef>
              <a:spcAft>
                <a:spcPts val="400"/>
              </a:spcAft>
            </a:pPr>
            <a:r>
              <a:rPr sz="1200" b="0">
                <a:solidFill>
                  <a:srgbClr val="2E8BFF"/>
                </a:solidFill>
                <a:latin typeface="Segoe UI"/>
              </a:rPr>
              <a:t>— </a:t>
            </a:r>
            <a:r>
              <a:rPr sz="1200">
                <a:solidFill>
                  <a:srgbClr val="FFFFFF"/>
                </a:solidFill>
                <a:latin typeface="Segoe UI"/>
              </a:rPr>
              <a:t>Deployment expõe o modelo para a aplicação via API.</a:t>
            </a:r>
          </a:p>
          <a:p>
            <a:pPr>
              <a:lnSpc>
                <a:spcPct val="104000"/>
              </a:lnSpc>
              <a:spcBef>
                <a:spcPts val="0"/>
              </a:spcBef>
              <a:spcAft>
                <a:spcPts val="400"/>
              </a:spcAft>
            </a:pPr>
            <a:r>
              <a:rPr sz="1200" b="0">
                <a:solidFill>
                  <a:srgbClr val="2E8BFF"/>
                </a:solidFill>
                <a:latin typeface="Segoe UI"/>
              </a:rPr>
              <a:t>— </a:t>
            </a:r>
            <a:r>
              <a:rPr sz="1200">
                <a:solidFill>
                  <a:srgbClr val="FFFFFF"/>
                </a:solidFill>
                <a:latin typeface="Segoe UI"/>
              </a:rPr>
              <a:t>Foundry organiza modelos, deployments e governança.</a:t>
            </a:r>
          </a:p>
        </p:txBody>
      </p:sp>
      <p:sp>
        <p:nvSpPr>
          <p:cNvPr id="10" name="Rounded Rectangle 9"/>
          <p:cNvSpPr/>
          <p:nvPr/>
        </p:nvSpPr>
        <p:spPr>
          <a:xfrm>
            <a:off x="6217920" y="1572768"/>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217920" y="1572768"/>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82512" y="1572768"/>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22C3A6"/>
                </a:solidFill>
                <a:latin typeface="Segoe UI"/>
              </a:rPr>
              <a:t>⚙  COMO FUNCIONA</a:t>
            </a:r>
          </a:p>
        </p:txBody>
      </p:sp>
      <p:sp>
        <p:nvSpPr>
          <p:cNvPr id="13" name="TextBox 12"/>
          <p:cNvSpPr txBox="1"/>
          <p:nvPr/>
        </p:nvSpPr>
        <p:spPr>
          <a:xfrm>
            <a:off x="6400800" y="2029967"/>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22C3A6"/>
                </a:solidFill>
                <a:latin typeface="Segoe UI"/>
              </a:rPr>
              <a:t>— </a:t>
            </a:r>
            <a:r>
              <a:rPr sz="1200">
                <a:solidFill>
                  <a:srgbClr val="FFFFFF"/>
                </a:solidFill>
                <a:latin typeface="Segoe UI"/>
              </a:rPr>
              <a:t>A API da Expert Store chama chat/completions com a chave do Key Vault.</a:t>
            </a:r>
          </a:p>
          <a:p>
            <a:pPr>
              <a:lnSpc>
                <a:spcPct val="104000"/>
              </a:lnSpc>
              <a:spcBef>
                <a:spcPts val="0"/>
              </a:spcBef>
              <a:spcAft>
                <a:spcPts val="400"/>
              </a:spcAft>
            </a:pPr>
            <a:r>
              <a:rPr sz="1200" b="0">
                <a:solidFill>
                  <a:srgbClr val="22C3A6"/>
                </a:solidFill>
                <a:latin typeface="Segoe UI"/>
              </a:rPr>
              <a:t>— </a:t>
            </a:r>
            <a:r>
              <a:rPr sz="1200">
                <a:solidFill>
                  <a:srgbClr val="FFFFFF"/>
                </a:solidFill>
                <a:latin typeface="Segoe UI"/>
              </a:rPr>
              <a:t>Envia catálogo (contexto) + pergunta do cliente ao modelo.</a:t>
            </a:r>
          </a:p>
          <a:p>
            <a:pPr>
              <a:lnSpc>
                <a:spcPct val="104000"/>
              </a:lnSpc>
              <a:spcBef>
                <a:spcPts val="0"/>
              </a:spcBef>
              <a:spcAft>
                <a:spcPts val="400"/>
              </a:spcAft>
            </a:pPr>
            <a:r>
              <a:rPr sz="1200" b="0">
                <a:solidFill>
                  <a:srgbClr val="22C3A6"/>
                </a:solidFill>
                <a:latin typeface="Segoe UI"/>
              </a:rPr>
              <a:t>— </a:t>
            </a:r>
            <a:r>
              <a:rPr sz="1200">
                <a:solidFill>
                  <a:srgbClr val="FFFFFF"/>
                </a:solidFill>
                <a:latin typeface="Segoe UI"/>
              </a:rPr>
              <a:t>Recebe a recomendação e devolve ao usuário.</a:t>
            </a:r>
          </a:p>
        </p:txBody>
      </p:sp>
      <p:sp>
        <p:nvSpPr>
          <p:cNvPr id="14" name="Rounded Rectangle 13"/>
          <p:cNvSpPr/>
          <p:nvPr/>
        </p:nvSpPr>
        <p:spPr>
          <a:xfrm>
            <a:off x="457200" y="3886200"/>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57200" y="3886200"/>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 y="3886200"/>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F5B301"/>
                </a:solidFill>
                <a:latin typeface="Segoe UI"/>
              </a:rPr>
              <a:t>⚖  TRADE-OFFS &amp; DECISÃO</a:t>
            </a:r>
          </a:p>
        </p:txBody>
      </p:sp>
      <p:sp>
        <p:nvSpPr>
          <p:cNvPr id="17" name="TextBox 16"/>
          <p:cNvSpPr txBox="1"/>
          <p:nvPr/>
        </p:nvSpPr>
        <p:spPr>
          <a:xfrm>
            <a:off x="640080" y="4343400"/>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F5B301"/>
                </a:solidFill>
                <a:latin typeface="Segoe UI"/>
              </a:rPr>
              <a:t>— </a:t>
            </a:r>
            <a:r>
              <a:rPr sz="1200">
                <a:solidFill>
                  <a:srgbClr val="FFFFFF"/>
                </a:solidFill>
                <a:latin typeface="Segoe UI"/>
              </a:rPr>
              <a:t>Modelo geral x especializado: flexibilidade vs. custo/latência.</a:t>
            </a:r>
          </a:p>
          <a:p>
            <a:pPr>
              <a:lnSpc>
                <a:spcPct val="104000"/>
              </a:lnSpc>
              <a:spcBef>
                <a:spcPts val="0"/>
              </a:spcBef>
              <a:spcAft>
                <a:spcPts val="400"/>
              </a:spcAft>
            </a:pPr>
            <a:r>
              <a:rPr sz="1200" b="0">
                <a:solidFill>
                  <a:srgbClr val="F5B301"/>
                </a:solidFill>
                <a:latin typeface="Segoe UI"/>
              </a:rPr>
              <a:t>— </a:t>
            </a:r>
            <a:r>
              <a:rPr sz="1200">
                <a:solidFill>
                  <a:srgbClr val="FFFFFF"/>
                </a:solidFill>
                <a:latin typeface="Segoe UI"/>
              </a:rPr>
              <a:t>Contexto maior x custo de tokens: qualidade vs. gasto.</a:t>
            </a:r>
          </a:p>
          <a:p>
            <a:pPr>
              <a:lnSpc>
                <a:spcPct val="104000"/>
              </a:lnSpc>
              <a:spcBef>
                <a:spcPts val="0"/>
              </a:spcBef>
              <a:spcAft>
                <a:spcPts val="400"/>
              </a:spcAft>
            </a:pPr>
            <a:r>
              <a:rPr sz="1200" b="0">
                <a:solidFill>
                  <a:srgbClr val="F5B301"/>
                </a:solidFill>
                <a:latin typeface="Segoe UI"/>
              </a:rPr>
              <a:t>— </a:t>
            </a:r>
            <a:r>
              <a:rPr sz="1200">
                <a:solidFill>
                  <a:srgbClr val="FFFFFF"/>
                </a:solidFill>
                <a:latin typeface="Segoe UI"/>
              </a:rPr>
              <a:t>Decisão: dados sensíveis no Azure, chave no Key Vault, prompt controlado.</a:t>
            </a:r>
          </a:p>
        </p:txBody>
      </p:sp>
      <p:sp>
        <p:nvSpPr>
          <p:cNvPr id="18" name="Rounded Rectangle 17"/>
          <p:cNvSpPr/>
          <p:nvPr/>
        </p:nvSpPr>
        <p:spPr>
          <a:xfrm>
            <a:off x="6217920" y="3886200"/>
            <a:ext cx="5440680" cy="2084831"/>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217920" y="3886200"/>
            <a:ext cx="544068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82512" y="3886200"/>
            <a:ext cx="516636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3DD68C"/>
                </a:solidFill>
                <a:latin typeface="Segoe UI"/>
              </a:rPr>
              <a:t>✓  BOAS PRÁTICAS DE ARQUITETURA</a:t>
            </a:r>
          </a:p>
        </p:txBody>
      </p:sp>
      <p:sp>
        <p:nvSpPr>
          <p:cNvPr id="21" name="TextBox 20"/>
          <p:cNvSpPr txBox="1"/>
          <p:nvPr/>
        </p:nvSpPr>
        <p:spPr>
          <a:xfrm>
            <a:off x="6400800" y="4343400"/>
            <a:ext cx="5074920" cy="1536191"/>
          </a:xfrm>
          <a:prstGeom prst="rect">
            <a:avLst/>
          </a:prstGeom>
          <a:noFill/>
        </p:spPr>
        <p:txBody>
          <a:bodyPr wrap="square" lIns="25400" tIns="25400" rIns="25400" bIns="25400">
            <a:spAutoFit/>
          </a:bodyPr>
          <a:lstStyle/>
          <a:p>
            <a:pPr>
              <a:lnSpc>
                <a:spcPct val="104000"/>
              </a:lnSpc>
              <a:spcBef>
                <a:spcPts val="0"/>
              </a:spcBef>
              <a:spcAft>
                <a:spcPts val="400"/>
              </a:spcAft>
            </a:pPr>
            <a:r>
              <a:rPr sz="1200" b="0">
                <a:solidFill>
                  <a:srgbClr val="3DD68C"/>
                </a:solidFill>
                <a:latin typeface="Segoe UI"/>
              </a:rPr>
              <a:t>— </a:t>
            </a:r>
            <a:r>
              <a:rPr sz="1200">
                <a:solidFill>
                  <a:srgbClr val="FFFFFF"/>
                </a:solidFill>
                <a:latin typeface="Segoe UI"/>
              </a:rPr>
              <a:t>Nunca exponha a chave; use Key Vault + Managed Identity.</a:t>
            </a:r>
          </a:p>
          <a:p>
            <a:pPr>
              <a:lnSpc>
                <a:spcPct val="104000"/>
              </a:lnSpc>
              <a:spcBef>
                <a:spcPts val="0"/>
              </a:spcBef>
              <a:spcAft>
                <a:spcPts val="400"/>
              </a:spcAft>
            </a:pPr>
            <a:r>
              <a:rPr sz="1200" b="0">
                <a:solidFill>
                  <a:srgbClr val="3DD68C"/>
                </a:solidFill>
                <a:latin typeface="Segoe UI"/>
              </a:rPr>
              <a:t>— </a:t>
            </a:r>
            <a:r>
              <a:rPr sz="1200">
                <a:solidFill>
                  <a:srgbClr val="FFFFFF"/>
                </a:solidFill>
                <a:latin typeface="Segoe UI"/>
              </a:rPr>
              <a:t>Limite tokens e valide saídas.</a:t>
            </a:r>
          </a:p>
          <a:p>
            <a:pPr>
              <a:lnSpc>
                <a:spcPct val="104000"/>
              </a:lnSpc>
              <a:spcBef>
                <a:spcPts val="0"/>
              </a:spcBef>
              <a:spcAft>
                <a:spcPts val="400"/>
              </a:spcAft>
            </a:pPr>
            <a:r>
              <a:rPr sz="1200" b="0">
                <a:solidFill>
                  <a:srgbClr val="3DD68C"/>
                </a:solidFill>
                <a:latin typeface="Segoe UI"/>
              </a:rPr>
              <a:t>— </a:t>
            </a:r>
            <a:r>
              <a:rPr sz="1200">
                <a:solidFill>
                  <a:srgbClr val="FFFFFF"/>
                </a:solidFill>
                <a:latin typeface="Segoe UI"/>
              </a:rPr>
              <a:t>Monitore uso e custo por token.</a:t>
            </a:r>
          </a:p>
        </p:txBody>
      </p:sp>
      <p:sp>
        <p:nvSpPr>
          <p:cNvPr id="22" name="Rounded Rectangle 21"/>
          <p:cNvSpPr/>
          <p:nvPr/>
        </p:nvSpPr>
        <p:spPr>
          <a:xfrm>
            <a:off x="457200" y="6080759"/>
            <a:ext cx="11274552" cy="457200"/>
          </a:xfrm>
          <a:prstGeom prst="roundRect">
            <a:avLst>
              <a:gd name="adj" fmla="val 6000"/>
            </a:avLst>
          </a:prstGeom>
          <a:solidFill>
            <a:srgbClr val="1D2A4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6080759"/>
            <a:ext cx="2011680" cy="457200"/>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150" b="1" i="0">
                <a:solidFill>
                  <a:srgbClr val="F5B301"/>
                </a:solidFill>
                <a:latin typeface="Segoe UI"/>
              </a:rPr>
              <a:t>💲 CUSTO (leve)</a:t>
            </a:r>
          </a:p>
        </p:txBody>
      </p:sp>
      <p:sp>
        <p:nvSpPr>
          <p:cNvPr id="24" name="TextBox 23"/>
          <p:cNvSpPr txBox="1"/>
          <p:nvPr/>
        </p:nvSpPr>
        <p:spPr>
          <a:xfrm>
            <a:off x="2468880" y="6080759"/>
            <a:ext cx="9144000" cy="457200"/>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150" b="0" i="0">
                <a:solidFill>
                  <a:srgbClr val="9AA7BD"/>
                </a:solidFill>
                <a:latin typeface="Segoe UI"/>
              </a:rPr>
              <a:t>Azure OpenAI cobra por token (uso). Ocioso, custa ~zero. Ótimo para começar pequeno e escalar conforme o valor.</a:t>
            </a:r>
          </a:p>
        </p:txBody>
      </p:sp>
      <p:sp>
        <p:nvSpPr>
          <p:cNvPr id="25" name="Rectangle 24"/>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
        <p:nvSpPr>
          <p:cNvPr id="27" name="TextBox 26"/>
          <p:cNvSpPr txBox="1"/>
          <p:nvPr/>
        </p:nvSpPr>
        <p:spPr>
          <a:xfrm>
            <a:off x="11155680" y="6565392"/>
            <a:ext cx="822960" cy="292608"/>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900" b="0" i="0">
                <a:solidFill>
                  <a:srgbClr val="9AA7BD"/>
                </a:solidFill>
                <a:latin typeface="Segoe UI"/>
              </a:rPr>
              <a:t>16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457200" y="475488"/>
            <a:ext cx="109728" cy="566928"/>
          </a:xfrm>
          <a:prstGeom prst="rect">
            <a:avLst/>
          </a:prstGeom>
          <a:solidFill>
            <a:srgbClr val="2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20624"/>
            <a:ext cx="10789920" cy="292608"/>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200" b="1" i="0">
                <a:solidFill>
                  <a:srgbClr val="2E8BFF"/>
                </a:solidFill>
                <a:latin typeface="Segoe UI"/>
              </a:rPr>
              <a:t>LAB 11 · IA APLICADA</a:t>
            </a:r>
          </a:p>
        </p:txBody>
      </p:sp>
      <p:sp>
        <p:nvSpPr>
          <p:cNvPr id="4" name="TextBox 3"/>
          <p:cNvSpPr txBox="1"/>
          <p:nvPr/>
        </p:nvSpPr>
        <p:spPr>
          <a:xfrm>
            <a:off x="658368" y="676656"/>
            <a:ext cx="10881360" cy="460062"/>
          </a:xfrm>
          <a:prstGeom prst="rect">
            <a:avLst/>
          </a:prstGeom>
          <a:noFill/>
        </p:spPr>
        <p:txBody>
          <a:bodyPr wrap="square" lIns="25400" tIns="25400" rIns="25400" bIns="25400" anchor="t">
            <a:spAutoFit/>
          </a:bodyPr>
          <a:lstStyle/>
          <a:p>
            <a:pPr algn="l">
              <a:lnSpc>
                <a:spcPct val="106000"/>
              </a:lnSpc>
              <a:spcBef>
                <a:spcPts val="0"/>
              </a:spcBef>
              <a:spcAft>
                <a:spcPts val="0"/>
              </a:spcAft>
            </a:pPr>
            <a:r>
              <a:rPr lang="pt-BR" sz="2700" b="1" i="0" dirty="0">
                <a:solidFill>
                  <a:srgbClr val="FFFFFF"/>
                </a:solidFill>
                <a:latin typeface="Segoe UI"/>
              </a:rPr>
              <a:t>Arquitetura com Azure Open AI e AI </a:t>
            </a:r>
            <a:r>
              <a:rPr lang="pt-BR" sz="2700" b="1" i="0" dirty="0" err="1">
                <a:solidFill>
                  <a:srgbClr val="FFFFFF"/>
                </a:solidFill>
                <a:latin typeface="Segoe UI"/>
              </a:rPr>
              <a:t>Foundry</a:t>
            </a:r>
            <a:r>
              <a:rPr lang="pt-BR" sz="2700" b="1" i="0" dirty="0">
                <a:solidFill>
                  <a:srgbClr val="FFFFFF"/>
                </a:solidFill>
                <a:latin typeface="Segoe UI"/>
              </a:rPr>
              <a:t> (</a:t>
            </a:r>
            <a:r>
              <a:rPr sz="2700" b="1" i="0" dirty="0">
                <a:solidFill>
                  <a:srgbClr val="FFFFFF"/>
                </a:solidFill>
                <a:latin typeface="Segoe UI"/>
              </a:rPr>
              <a:t>Expert AI Assistant</a:t>
            </a:r>
            <a:r>
              <a:rPr lang="pt-BR" sz="2700" b="1" i="0" dirty="0">
                <a:solidFill>
                  <a:srgbClr val="FFFFFF"/>
                </a:solidFill>
                <a:latin typeface="Segoe UI"/>
              </a:rPr>
              <a:t>)</a:t>
            </a:r>
            <a:endParaRPr sz="2700" b="1" i="0" dirty="0">
              <a:solidFill>
                <a:srgbClr val="FFFFFF"/>
              </a:solidFill>
              <a:latin typeface="Segoe UI"/>
            </a:endParaRPr>
          </a:p>
        </p:txBody>
      </p:sp>
      <p:sp>
        <p:nvSpPr>
          <p:cNvPr id="5" name="Rectangle 4"/>
          <p:cNvSpPr/>
          <p:nvPr/>
        </p:nvSpPr>
        <p:spPr>
          <a:xfrm>
            <a:off x="1683592" y="1408176"/>
            <a:ext cx="8824510" cy="4672584"/>
          </a:xfrm>
          <a:prstGeom prst="rect">
            <a:avLst/>
          </a:prstGeom>
          <a:solidFill>
            <a:srgbClr val="FFFFFF"/>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d5-ai-flow.png"/>
          <p:cNvPicPr>
            <a:picLocks noChangeAspect="1"/>
          </p:cNvPicPr>
          <p:nvPr/>
        </p:nvPicPr>
        <p:blipFill>
          <a:blip r:embed="rId3"/>
          <a:stretch>
            <a:fillRect/>
          </a:stretch>
        </p:blipFill>
        <p:spPr>
          <a:xfrm>
            <a:off x="1756744" y="1481328"/>
            <a:ext cx="8678206" cy="4526280"/>
          </a:xfrm>
          <a:prstGeom prst="rect">
            <a:avLst/>
          </a:prstGeom>
        </p:spPr>
      </p:pic>
      <p:sp>
        <p:nvSpPr>
          <p:cNvPr id="7" name="TextBox 6"/>
          <p:cNvSpPr txBox="1"/>
          <p:nvPr/>
        </p:nvSpPr>
        <p:spPr>
          <a:xfrm>
            <a:off x="658368" y="6126480"/>
            <a:ext cx="10881360" cy="365760"/>
          </a:xfrm>
          <a:prstGeom prst="rect">
            <a:avLst/>
          </a:prstGeom>
          <a:noFill/>
        </p:spPr>
        <p:txBody>
          <a:bodyPr wrap="square" lIns="25400" tIns="25400" rIns="25400" bIns="25400" anchor="t">
            <a:spAutoFit/>
          </a:bodyPr>
          <a:lstStyle/>
          <a:p>
            <a:pPr algn="ctr">
              <a:lnSpc>
                <a:spcPct val="106000"/>
              </a:lnSpc>
              <a:spcBef>
                <a:spcPts val="0"/>
              </a:spcBef>
              <a:spcAft>
                <a:spcPts val="0"/>
              </a:spcAft>
            </a:pPr>
            <a:r>
              <a:rPr sz="1200" b="0" i="1">
                <a:solidFill>
                  <a:srgbClr val="9AA7BD"/>
                </a:solidFill>
                <a:latin typeface="Segoe UI"/>
              </a:rPr>
              <a:t>Usuário -&gt; Expert Store (API) -&gt; Azure OpenAI (gpt-4o), com catálogo como contexto e chave no Key Vault.</a:t>
            </a:r>
          </a:p>
        </p:txBody>
      </p:sp>
      <p:sp>
        <p:nvSpPr>
          <p:cNvPr id="8" name="Rectangle 7"/>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
        <p:nvSpPr>
          <p:cNvPr id="10" name="TextBox 9"/>
          <p:cNvSpPr txBox="1"/>
          <p:nvPr/>
        </p:nvSpPr>
        <p:spPr>
          <a:xfrm>
            <a:off x="11155680" y="6565392"/>
            <a:ext cx="822960" cy="292608"/>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900" b="0" i="0">
                <a:solidFill>
                  <a:srgbClr val="9AA7BD"/>
                </a:solidFill>
                <a:latin typeface="Segoe UI"/>
              </a:rPr>
              <a:t>17</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457200" y="475488"/>
            <a:ext cx="109728" cy="566928"/>
          </a:xfrm>
          <a:prstGeom prst="rect">
            <a:avLst/>
          </a:prstGeom>
          <a:solidFill>
            <a:srgbClr val="22C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420624"/>
            <a:ext cx="10789920" cy="292608"/>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200" b="1" i="0">
                <a:solidFill>
                  <a:srgbClr val="22C3A6"/>
                </a:solidFill>
                <a:latin typeface="Segoe UI"/>
              </a:rPr>
              <a:t>ARQUITETURA COMPLETA</a:t>
            </a:r>
          </a:p>
        </p:txBody>
      </p:sp>
      <p:sp>
        <p:nvSpPr>
          <p:cNvPr id="4" name="TextBox 3"/>
          <p:cNvSpPr txBox="1"/>
          <p:nvPr/>
        </p:nvSpPr>
        <p:spPr>
          <a:xfrm>
            <a:off x="658368" y="676656"/>
            <a:ext cx="10881360" cy="460062"/>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2700" b="1" i="0" dirty="0">
                <a:solidFill>
                  <a:srgbClr val="FFFFFF"/>
                </a:solidFill>
                <a:latin typeface="Segoe UI"/>
              </a:rPr>
              <a:t>A Expert Store, de </a:t>
            </a:r>
            <a:r>
              <a:rPr sz="2700" b="1" i="0" dirty="0" err="1">
                <a:solidFill>
                  <a:srgbClr val="FFFFFF"/>
                </a:solidFill>
                <a:latin typeface="Segoe UI"/>
              </a:rPr>
              <a:t>ponta</a:t>
            </a:r>
            <a:r>
              <a:rPr sz="2700" b="1" i="0" dirty="0">
                <a:solidFill>
                  <a:srgbClr val="FFFFFF"/>
                </a:solidFill>
                <a:latin typeface="Segoe UI"/>
              </a:rPr>
              <a:t> a </a:t>
            </a:r>
            <a:r>
              <a:rPr sz="2700" b="1" i="0" dirty="0" err="1">
                <a:solidFill>
                  <a:srgbClr val="FFFFFF"/>
                </a:solidFill>
                <a:latin typeface="Segoe UI"/>
              </a:rPr>
              <a:t>ponta</a:t>
            </a:r>
            <a:r>
              <a:rPr sz="2700" b="1" i="0" dirty="0">
                <a:solidFill>
                  <a:srgbClr val="FFFFFF"/>
                </a:solidFill>
                <a:latin typeface="Segoe UI"/>
              </a:rPr>
              <a:t> (</a:t>
            </a:r>
            <a:r>
              <a:rPr lang="pt-BR" sz="2700" b="1" dirty="0">
                <a:solidFill>
                  <a:srgbClr val="FFFFFF"/>
                </a:solidFill>
                <a:latin typeface="Segoe UI"/>
              </a:rPr>
              <a:t>V</a:t>
            </a:r>
            <a:r>
              <a:rPr sz="2700" b="1" i="0" dirty="0" err="1">
                <a:solidFill>
                  <a:srgbClr val="FFFFFF"/>
                </a:solidFill>
                <a:latin typeface="Segoe UI"/>
              </a:rPr>
              <a:t>isão</a:t>
            </a:r>
            <a:r>
              <a:rPr sz="2700" b="1" i="0" dirty="0">
                <a:solidFill>
                  <a:srgbClr val="FFFFFF"/>
                </a:solidFill>
                <a:latin typeface="Segoe UI"/>
              </a:rPr>
              <a:t> </a:t>
            </a:r>
            <a:r>
              <a:rPr sz="2700" b="1" i="0" dirty="0" err="1">
                <a:solidFill>
                  <a:srgbClr val="FFFFFF"/>
                </a:solidFill>
                <a:latin typeface="Segoe UI"/>
              </a:rPr>
              <a:t>geral</a:t>
            </a:r>
            <a:r>
              <a:rPr sz="2700" b="1" i="0" dirty="0">
                <a:solidFill>
                  <a:srgbClr val="FFFFFF"/>
                </a:solidFill>
                <a:latin typeface="Segoe UI"/>
              </a:rPr>
              <a:t>)</a:t>
            </a:r>
          </a:p>
        </p:txBody>
      </p:sp>
      <p:sp>
        <p:nvSpPr>
          <p:cNvPr id="5" name="Rectangle 4"/>
          <p:cNvSpPr/>
          <p:nvPr/>
        </p:nvSpPr>
        <p:spPr>
          <a:xfrm>
            <a:off x="2003878" y="1408176"/>
            <a:ext cx="8183938" cy="4672584"/>
          </a:xfrm>
          <a:prstGeom prst="rect">
            <a:avLst/>
          </a:prstGeom>
          <a:solidFill>
            <a:srgbClr val="FFFFFF"/>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visao-geral-e2e.png"/>
          <p:cNvPicPr>
            <a:picLocks noChangeAspect="1"/>
          </p:cNvPicPr>
          <p:nvPr/>
        </p:nvPicPr>
        <p:blipFill>
          <a:blip r:embed="rId3"/>
          <a:stretch>
            <a:fillRect/>
          </a:stretch>
        </p:blipFill>
        <p:spPr>
          <a:xfrm>
            <a:off x="2077030" y="1481328"/>
            <a:ext cx="8037634" cy="4526280"/>
          </a:xfrm>
          <a:prstGeom prst="rect">
            <a:avLst/>
          </a:prstGeom>
        </p:spPr>
      </p:pic>
      <p:sp>
        <p:nvSpPr>
          <p:cNvPr id="7" name="TextBox 6"/>
          <p:cNvSpPr txBox="1"/>
          <p:nvPr/>
        </p:nvSpPr>
        <p:spPr>
          <a:xfrm>
            <a:off x="658368" y="6126480"/>
            <a:ext cx="10881360" cy="365760"/>
          </a:xfrm>
          <a:prstGeom prst="rect">
            <a:avLst/>
          </a:prstGeom>
          <a:noFill/>
        </p:spPr>
        <p:txBody>
          <a:bodyPr wrap="square" lIns="25400" tIns="25400" rIns="25400" bIns="25400" anchor="t">
            <a:spAutoFit/>
          </a:bodyPr>
          <a:lstStyle/>
          <a:p>
            <a:pPr algn="ctr">
              <a:lnSpc>
                <a:spcPct val="106000"/>
              </a:lnSpc>
              <a:spcBef>
                <a:spcPts val="0"/>
              </a:spcBef>
              <a:spcAft>
                <a:spcPts val="0"/>
              </a:spcAft>
            </a:pPr>
            <a:r>
              <a:rPr sz="1200" b="0" i="1">
                <a:solidFill>
                  <a:srgbClr val="9AA7BD"/>
                </a:solidFill>
                <a:latin typeface="Segoe UI"/>
              </a:rPr>
              <a:t>Dia 1 (Fundação e Modernização) · Dia 2 (Containers, DevOps e Kubernetes) · Cloud &amp; AI — com os fluxos de runtime, DevOps, IA e identidade.</a:t>
            </a:r>
          </a:p>
        </p:txBody>
      </p:sp>
      <p:sp>
        <p:nvSpPr>
          <p:cNvPr id="8" name="Rectangle 7"/>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
        <p:nvSpPr>
          <p:cNvPr id="10" name="TextBox 9"/>
          <p:cNvSpPr txBox="1"/>
          <p:nvPr/>
        </p:nvSpPr>
        <p:spPr>
          <a:xfrm>
            <a:off x="11155680" y="6565392"/>
            <a:ext cx="822960" cy="292608"/>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900" b="0" i="0">
                <a:solidFill>
                  <a:srgbClr val="9AA7BD"/>
                </a:solidFill>
                <a:latin typeface="Segoe UI"/>
              </a:rPr>
              <a:t>18</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0182A"/>
        </a:solidFill>
        <a:effectLst/>
      </p:bgPr>
    </p:bg>
    <p:spTree>
      <p:nvGrpSpPr>
        <p:cNvPr id="1" name=""/>
        <p:cNvGrpSpPr/>
        <p:nvPr/>
      </p:nvGrpSpPr>
      <p:grpSpPr>
        <a:xfrm>
          <a:off x="0" y="0"/>
          <a:ext cx="0" cy="0"/>
          <a:chOff x="0" y="0"/>
          <a:chExt cx="0" cy="0"/>
        </a:xfrm>
      </p:grpSpPr>
      <p:sp>
        <p:nvSpPr>
          <p:cNvPr id="2" name="TextBox 1"/>
          <p:cNvSpPr txBox="1"/>
          <p:nvPr/>
        </p:nvSpPr>
        <p:spPr>
          <a:xfrm>
            <a:off x="914400" y="1005840"/>
            <a:ext cx="10332720" cy="45720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400" b="1" i="0">
                <a:solidFill>
                  <a:srgbClr val="2E8BFF"/>
                </a:solidFill>
                <a:latin typeface="Segoe UI"/>
              </a:rPr>
              <a:t>GRANDE FECHAMENTO</a:t>
            </a:r>
          </a:p>
        </p:txBody>
      </p:sp>
      <p:sp>
        <p:nvSpPr>
          <p:cNvPr id="3" name="Rounded Rectangle 2"/>
          <p:cNvSpPr/>
          <p:nvPr/>
        </p:nvSpPr>
        <p:spPr>
          <a:xfrm>
            <a:off x="640080" y="1737360"/>
            <a:ext cx="5394960" cy="3291840"/>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40080" y="1737360"/>
            <a:ext cx="539496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04671" y="1737360"/>
            <a:ext cx="5120640" cy="38404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a:solidFill>
                  <a:srgbClr val="FF6B6B"/>
                </a:solidFill>
                <a:latin typeface="Segoe UI"/>
              </a:rPr>
              <a:t>09h30 DO DIA 1</a:t>
            </a:r>
          </a:p>
        </p:txBody>
      </p:sp>
      <p:sp>
        <p:nvSpPr>
          <p:cNvPr id="6" name="TextBox 5"/>
          <p:cNvSpPr txBox="1"/>
          <p:nvPr/>
        </p:nvSpPr>
        <p:spPr>
          <a:xfrm>
            <a:off x="822959" y="2194560"/>
            <a:ext cx="5029200" cy="2743200"/>
          </a:xfrm>
          <a:prstGeom prst="rect">
            <a:avLst/>
          </a:prstGeom>
          <a:noFill/>
        </p:spPr>
        <p:txBody>
          <a:bodyPr wrap="square" lIns="25400" tIns="25400" rIns="25400" bIns="25400">
            <a:spAutoFit/>
          </a:bodyPr>
          <a:lstStyle/>
          <a:p>
            <a:pPr>
              <a:lnSpc>
                <a:spcPct val="104000"/>
              </a:lnSpc>
              <a:spcBef>
                <a:spcPts val="0"/>
              </a:spcBef>
              <a:spcAft>
                <a:spcPts val="400"/>
              </a:spcAft>
            </a:pPr>
            <a:r>
              <a:rPr sz="1600" b="0">
                <a:solidFill>
                  <a:srgbClr val="FF6B6B"/>
                </a:solidFill>
                <a:latin typeface="Segoe UI"/>
              </a:rPr>
              <a:t>— </a:t>
            </a:r>
            <a:r>
              <a:rPr sz="1600">
                <a:solidFill>
                  <a:srgbClr val="FFFFFF"/>
                </a:solidFill>
                <a:latin typeface="Segoe UI"/>
              </a:rPr>
              <a:t>Uma VM.</a:t>
            </a:r>
          </a:p>
          <a:p>
            <a:pPr>
              <a:lnSpc>
                <a:spcPct val="104000"/>
              </a:lnSpc>
              <a:spcBef>
                <a:spcPts val="0"/>
              </a:spcBef>
              <a:spcAft>
                <a:spcPts val="400"/>
              </a:spcAft>
            </a:pPr>
            <a:r>
              <a:rPr sz="1600" b="0">
                <a:solidFill>
                  <a:srgbClr val="FF6B6B"/>
                </a:solidFill>
                <a:latin typeface="Segoe UI"/>
              </a:rPr>
              <a:t>— </a:t>
            </a:r>
            <a:r>
              <a:rPr sz="1600">
                <a:solidFill>
                  <a:srgbClr val="FFFFFF"/>
                </a:solidFill>
                <a:latin typeface="Segoe UI"/>
              </a:rPr>
              <a:t>Infraestrutura tradicional.</a:t>
            </a:r>
          </a:p>
          <a:p>
            <a:pPr>
              <a:lnSpc>
                <a:spcPct val="104000"/>
              </a:lnSpc>
              <a:spcBef>
                <a:spcPts val="0"/>
              </a:spcBef>
              <a:spcAft>
                <a:spcPts val="400"/>
              </a:spcAft>
            </a:pPr>
            <a:r>
              <a:rPr sz="1600" b="0">
                <a:solidFill>
                  <a:srgbClr val="FF6B6B"/>
                </a:solidFill>
                <a:latin typeface="Segoe UI"/>
              </a:rPr>
              <a:t>— </a:t>
            </a:r>
            <a:r>
              <a:rPr sz="1600">
                <a:solidFill>
                  <a:srgbClr val="FFFFFF"/>
                </a:solidFill>
                <a:latin typeface="Segoe UI"/>
              </a:rPr>
              <a:t>Deploy manual.</a:t>
            </a:r>
          </a:p>
          <a:p>
            <a:pPr>
              <a:lnSpc>
                <a:spcPct val="104000"/>
              </a:lnSpc>
              <a:spcBef>
                <a:spcPts val="0"/>
              </a:spcBef>
              <a:spcAft>
                <a:spcPts val="400"/>
              </a:spcAft>
            </a:pPr>
            <a:r>
              <a:rPr sz="1600" b="0">
                <a:solidFill>
                  <a:srgbClr val="FF6B6B"/>
                </a:solidFill>
                <a:latin typeface="Segoe UI"/>
              </a:rPr>
              <a:t>— </a:t>
            </a:r>
            <a:r>
              <a:rPr sz="1600">
                <a:solidFill>
                  <a:srgbClr val="FFFFFF"/>
                </a:solidFill>
                <a:latin typeface="Segoe UI"/>
              </a:rPr>
              <a:t>Zero IA.</a:t>
            </a:r>
          </a:p>
        </p:txBody>
      </p:sp>
      <p:sp>
        <p:nvSpPr>
          <p:cNvPr id="7" name="Rounded Rectangle 6"/>
          <p:cNvSpPr/>
          <p:nvPr/>
        </p:nvSpPr>
        <p:spPr>
          <a:xfrm>
            <a:off x="6217920" y="1737360"/>
            <a:ext cx="5303520" cy="3291840"/>
          </a:xfrm>
          <a:prstGeom prst="roundRect">
            <a:avLst>
              <a:gd name="adj" fmla="val 6000"/>
            </a:avLst>
          </a:prstGeom>
          <a:solidFill>
            <a:srgbClr val="162035"/>
          </a:solidFill>
          <a:ln w="12700">
            <a:solidFill>
              <a:srgbClr val="2A38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17920" y="1737360"/>
            <a:ext cx="5303520" cy="384048"/>
          </a:xfrm>
          <a:prstGeom prst="roundRect">
            <a:avLst>
              <a:gd name="adj" fmla="val 6000"/>
            </a:avLst>
          </a:prstGeom>
          <a:solidFill>
            <a:srgbClr val="1D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82512" y="1809126"/>
            <a:ext cx="5029200" cy="240515"/>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1250" b="1" i="0" dirty="0">
                <a:solidFill>
                  <a:srgbClr val="3DD68C"/>
                </a:solidFill>
                <a:latin typeface="Segoe UI"/>
              </a:rPr>
              <a:t>18h</a:t>
            </a:r>
            <a:r>
              <a:rPr lang="pt-BR" sz="1250" b="1" i="0" dirty="0">
                <a:solidFill>
                  <a:srgbClr val="3DD68C"/>
                </a:solidFill>
                <a:latin typeface="Segoe UI"/>
              </a:rPr>
              <a:t>30</a:t>
            </a:r>
            <a:r>
              <a:rPr sz="1250" b="1" i="0" dirty="0">
                <a:solidFill>
                  <a:srgbClr val="3DD68C"/>
                </a:solidFill>
                <a:latin typeface="Segoe UI"/>
              </a:rPr>
              <a:t> DO DIA 2</a:t>
            </a:r>
          </a:p>
        </p:txBody>
      </p:sp>
      <p:sp>
        <p:nvSpPr>
          <p:cNvPr id="10" name="TextBox 9"/>
          <p:cNvSpPr txBox="1"/>
          <p:nvPr/>
        </p:nvSpPr>
        <p:spPr>
          <a:xfrm>
            <a:off x="6400800" y="2194560"/>
            <a:ext cx="4937759" cy="2743200"/>
          </a:xfrm>
          <a:prstGeom prst="rect">
            <a:avLst/>
          </a:prstGeom>
          <a:noFill/>
        </p:spPr>
        <p:txBody>
          <a:bodyPr wrap="square" lIns="25400" tIns="25400" rIns="25400" bIns="25400">
            <a:spAutoFit/>
          </a:bodyPr>
          <a:lstStyle/>
          <a:p>
            <a:pPr>
              <a:lnSpc>
                <a:spcPct val="104000"/>
              </a:lnSpc>
              <a:spcBef>
                <a:spcPts val="0"/>
              </a:spcBef>
              <a:spcAft>
                <a:spcPts val="400"/>
              </a:spcAft>
            </a:pPr>
            <a:r>
              <a:rPr sz="1600" b="0">
                <a:solidFill>
                  <a:srgbClr val="3DD68C"/>
                </a:solidFill>
                <a:latin typeface="Segoe UI"/>
              </a:rPr>
              <a:t>— </a:t>
            </a:r>
            <a:r>
              <a:rPr sz="1600">
                <a:solidFill>
                  <a:srgbClr val="FFFFFF"/>
                </a:solidFill>
                <a:latin typeface="Segoe UI"/>
              </a:rPr>
              <a:t>Cloud + DevOps + Kubernetes + AI.</a:t>
            </a:r>
          </a:p>
          <a:p>
            <a:pPr>
              <a:lnSpc>
                <a:spcPct val="104000"/>
              </a:lnSpc>
              <a:spcBef>
                <a:spcPts val="0"/>
              </a:spcBef>
              <a:spcAft>
                <a:spcPts val="400"/>
              </a:spcAft>
            </a:pPr>
            <a:r>
              <a:rPr sz="1600" b="0">
                <a:solidFill>
                  <a:srgbClr val="3DD68C"/>
                </a:solidFill>
                <a:latin typeface="Segoe UI"/>
              </a:rPr>
              <a:t>— </a:t>
            </a:r>
            <a:r>
              <a:rPr sz="1600">
                <a:solidFill>
                  <a:srgbClr val="FFFFFF"/>
                </a:solidFill>
                <a:latin typeface="Segoe UI"/>
              </a:rPr>
              <a:t>Rede segura e dados privados.</a:t>
            </a:r>
          </a:p>
          <a:p>
            <a:pPr>
              <a:lnSpc>
                <a:spcPct val="104000"/>
              </a:lnSpc>
              <a:spcBef>
                <a:spcPts val="0"/>
              </a:spcBef>
              <a:spcAft>
                <a:spcPts val="400"/>
              </a:spcAft>
            </a:pPr>
            <a:r>
              <a:rPr sz="1600" b="0">
                <a:solidFill>
                  <a:srgbClr val="3DD68C"/>
                </a:solidFill>
                <a:latin typeface="Segoe UI"/>
              </a:rPr>
              <a:t>— </a:t>
            </a:r>
            <a:r>
              <a:rPr sz="1600">
                <a:solidFill>
                  <a:srgbClr val="FFFFFF"/>
                </a:solidFill>
                <a:latin typeface="Segoe UI"/>
              </a:rPr>
              <a:t>CI/CD automatizado.</a:t>
            </a:r>
          </a:p>
          <a:p>
            <a:pPr>
              <a:lnSpc>
                <a:spcPct val="104000"/>
              </a:lnSpc>
              <a:spcBef>
                <a:spcPts val="0"/>
              </a:spcBef>
              <a:spcAft>
                <a:spcPts val="400"/>
              </a:spcAft>
            </a:pPr>
            <a:r>
              <a:rPr sz="1600" b="0">
                <a:solidFill>
                  <a:srgbClr val="3DD68C"/>
                </a:solidFill>
                <a:latin typeface="Segoe UI"/>
              </a:rPr>
              <a:t>— </a:t>
            </a:r>
            <a:r>
              <a:rPr sz="1600">
                <a:solidFill>
                  <a:srgbClr val="FFFFFF"/>
                </a:solidFill>
                <a:latin typeface="Segoe UI"/>
              </a:rPr>
              <a:t>Assistente de IA em produção.</a:t>
            </a:r>
          </a:p>
        </p:txBody>
      </p:sp>
      <p:sp>
        <p:nvSpPr>
          <p:cNvPr id="11" name="TextBox 10"/>
          <p:cNvSpPr txBox="1"/>
          <p:nvPr/>
        </p:nvSpPr>
        <p:spPr>
          <a:xfrm>
            <a:off x="914400" y="5303520"/>
            <a:ext cx="10332720" cy="743217"/>
          </a:xfrm>
          <a:prstGeom prst="rect">
            <a:avLst/>
          </a:prstGeom>
          <a:noFill/>
        </p:spPr>
        <p:txBody>
          <a:bodyPr wrap="square" lIns="25400" tIns="25400" rIns="25400" bIns="25400" anchor="t">
            <a:spAutoFit/>
          </a:bodyPr>
          <a:lstStyle/>
          <a:p>
            <a:pPr algn="ctr">
              <a:lnSpc>
                <a:spcPct val="106000"/>
              </a:lnSpc>
              <a:spcBef>
                <a:spcPts val="0"/>
              </a:spcBef>
              <a:spcAft>
                <a:spcPts val="0"/>
              </a:spcAft>
            </a:pPr>
            <a:r>
              <a:rPr sz="2200" b="1" i="0" dirty="0" err="1">
                <a:solidFill>
                  <a:srgbClr val="FFFFFF"/>
                </a:solidFill>
                <a:latin typeface="Segoe UI"/>
              </a:rPr>
              <a:t>Você</a:t>
            </a:r>
            <a:r>
              <a:rPr sz="2200" b="1" i="0" dirty="0">
                <a:solidFill>
                  <a:srgbClr val="FFFFFF"/>
                </a:solidFill>
                <a:latin typeface="Segoe UI"/>
              </a:rPr>
              <a:t> </a:t>
            </a:r>
            <a:r>
              <a:rPr sz="2200" b="1" i="0" dirty="0" err="1">
                <a:solidFill>
                  <a:srgbClr val="FFFFFF"/>
                </a:solidFill>
                <a:latin typeface="Segoe UI"/>
              </a:rPr>
              <a:t>percebe</a:t>
            </a:r>
            <a:r>
              <a:rPr sz="2200" b="1" i="0" dirty="0">
                <a:solidFill>
                  <a:srgbClr val="FFFFFF"/>
                </a:solidFill>
                <a:latin typeface="Segoe UI"/>
              </a:rPr>
              <a:t> o </a:t>
            </a:r>
            <a:r>
              <a:rPr sz="2200" b="1" i="0" dirty="0" err="1">
                <a:solidFill>
                  <a:srgbClr val="FFFFFF"/>
                </a:solidFill>
                <a:latin typeface="Segoe UI"/>
              </a:rPr>
              <a:t>quanto</a:t>
            </a:r>
            <a:r>
              <a:rPr sz="2200" b="1" i="0" dirty="0">
                <a:solidFill>
                  <a:srgbClr val="FFFFFF"/>
                </a:solidFill>
                <a:latin typeface="Segoe UI"/>
              </a:rPr>
              <a:t> </a:t>
            </a:r>
            <a:r>
              <a:rPr sz="2200" b="1" i="0" dirty="0" err="1">
                <a:solidFill>
                  <a:srgbClr val="FFFFFF"/>
                </a:solidFill>
                <a:latin typeface="Segoe UI"/>
              </a:rPr>
              <a:t>dá</a:t>
            </a:r>
            <a:r>
              <a:rPr sz="2200" b="1" i="0" dirty="0">
                <a:solidFill>
                  <a:srgbClr val="FFFFFF"/>
                </a:solidFill>
                <a:latin typeface="Segoe UI"/>
              </a:rPr>
              <a:t> para </a:t>
            </a:r>
            <a:r>
              <a:rPr sz="2200" b="1" i="0" dirty="0" err="1">
                <a:solidFill>
                  <a:srgbClr val="FFFFFF"/>
                </a:solidFill>
                <a:latin typeface="Segoe UI"/>
              </a:rPr>
              <a:t>evoluir</a:t>
            </a:r>
            <a:r>
              <a:rPr sz="2200" b="1" i="0" dirty="0">
                <a:solidFill>
                  <a:srgbClr val="FFFFFF"/>
                </a:solidFill>
                <a:latin typeface="Segoe UI"/>
              </a:rPr>
              <a:t> </a:t>
            </a:r>
            <a:r>
              <a:rPr sz="2200" b="1" i="0" dirty="0" err="1">
                <a:solidFill>
                  <a:srgbClr val="FFFFFF"/>
                </a:solidFill>
                <a:latin typeface="Segoe UI"/>
              </a:rPr>
              <a:t>quando</a:t>
            </a:r>
            <a:r>
              <a:rPr sz="2200" b="1" i="0" dirty="0">
                <a:solidFill>
                  <a:srgbClr val="FFFFFF"/>
                </a:solidFill>
                <a:latin typeface="Segoe UI"/>
              </a:rPr>
              <a:t> </a:t>
            </a:r>
            <a:r>
              <a:rPr sz="2200" b="1" i="0" dirty="0" err="1">
                <a:solidFill>
                  <a:srgbClr val="FFFFFF"/>
                </a:solidFill>
                <a:latin typeface="Segoe UI"/>
              </a:rPr>
              <a:t>existe</a:t>
            </a:r>
            <a:r>
              <a:rPr sz="2200" b="1" i="0" dirty="0">
                <a:solidFill>
                  <a:srgbClr val="FFFFFF"/>
                </a:solidFill>
                <a:latin typeface="Segoe UI"/>
              </a:rPr>
              <a:t> </a:t>
            </a:r>
            <a:r>
              <a:rPr sz="2200" b="1" i="0" dirty="0" err="1">
                <a:solidFill>
                  <a:srgbClr val="FFFFFF"/>
                </a:solidFill>
                <a:latin typeface="Segoe UI"/>
              </a:rPr>
              <a:t>uma</a:t>
            </a:r>
            <a:r>
              <a:rPr sz="2200" b="1" i="0" dirty="0">
                <a:solidFill>
                  <a:srgbClr val="FFFFFF"/>
                </a:solidFill>
                <a:latin typeface="Segoe UI"/>
              </a:rPr>
              <a:t> </a:t>
            </a:r>
            <a:r>
              <a:rPr lang="pt-BR" sz="2200" b="1" dirty="0">
                <a:solidFill>
                  <a:srgbClr val="FFFFFF"/>
                </a:solidFill>
                <a:latin typeface="Segoe UI"/>
              </a:rPr>
              <a:t>T</a:t>
            </a:r>
            <a:r>
              <a:rPr sz="2200" b="1" i="0" dirty="0" err="1">
                <a:solidFill>
                  <a:srgbClr val="FFFFFF"/>
                </a:solidFill>
                <a:latin typeface="Segoe UI"/>
              </a:rPr>
              <a:t>rilha</a:t>
            </a:r>
            <a:br>
              <a:rPr lang="pt-BR" sz="2200" b="1" i="0" dirty="0">
                <a:solidFill>
                  <a:srgbClr val="FFFFFF"/>
                </a:solidFill>
                <a:latin typeface="Segoe UI"/>
              </a:rPr>
            </a:br>
            <a:r>
              <a:rPr lang="pt-BR" sz="2200" b="1" i="0" dirty="0">
                <a:solidFill>
                  <a:srgbClr val="FFFFFF"/>
                </a:solidFill>
                <a:latin typeface="Segoe UI"/>
              </a:rPr>
              <a:t> e um mentor</a:t>
            </a:r>
            <a:r>
              <a:rPr sz="2200" b="1" i="0" dirty="0">
                <a:solidFill>
                  <a:srgbClr val="FFFFFF"/>
                </a:solidFill>
                <a:latin typeface="Segoe UI"/>
              </a:rPr>
              <a:t>?</a:t>
            </a:r>
          </a:p>
        </p:txBody>
      </p:sp>
      <p:sp>
        <p:nvSpPr>
          <p:cNvPr id="12" name="Rectangle 11"/>
          <p:cNvSpPr/>
          <p:nvPr/>
        </p:nvSpPr>
        <p:spPr>
          <a:xfrm>
            <a:off x="0" y="6565392"/>
            <a:ext cx="12191695" cy="292608"/>
          </a:xfrm>
          <a:prstGeom prst="rect">
            <a:avLst/>
          </a:prstGeom>
          <a:solidFill>
            <a:srgbClr val="1018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6565392"/>
            <a:ext cx="8229600" cy="292608"/>
          </a:xfrm>
          <a:prstGeom prst="rect">
            <a:avLst/>
          </a:prstGeom>
          <a:noFill/>
        </p:spPr>
        <p:txBody>
          <a:bodyPr wrap="square" lIns="25400" tIns="25400" rIns="25400" bIns="25400" anchor="ctr">
            <a:spAutoFit/>
          </a:bodyPr>
          <a:lstStyle/>
          <a:p>
            <a:pPr algn="l">
              <a:lnSpc>
                <a:spcPct val="106000"/>
              </a:lnSpc>
              <a:spcBef>
                <a:spcPts val="0"/>
              </a:spcBef>
              <a:spcAft>
                <a:spcPts val="0"/>
              </a:spcAft>
            </a:pPr>
            <a:r>
              <a:rPr sz="900" b="0" i="0">
                <a:solidFill>
                  <a:srgbClr val="9AA7BD"/>
                </a:solidFill>
                <a:latin typeface="Segoe UI"/>
              </a:rPr>
              <a:t>High Expert  •  Imersão Arquiteto Azure — Cloud &amp; AI</a:t>
            </a:r>
          </a:p>
        </p:txBody>
      </p:sp>
      <p:sp>
        <p:nvSpPr>
          <p:cNvPr id="14" name="TextBox 13"/>
          <p:cNvSpPr txBox="1"/>
          <p:nvPr/>
        </p:nvSpPr>
        <p:spPr>
          <a:xfrm>
            <a:off x="11155680" y="6565392"/>
            <a:ext cx="822960" cy="292608"/>
          </a:xfrm>
          <a:prstGeom prst="rect">
            <a:avLst/>
          </a:prstGeom>
          <a:noFill/>
        </p:spPr>
        <p:txBody>
          <a:bodyPr wrap="square" lIns="25400" tIns="25400" rIns="25400" bIns="25400" anchor="ctr">
            <a:spAutoFit/>
          </a:bodyPr>
          <a:lstStyle/>
          <a:p>
            <a:pPr algn="r">
              <a:lnSpc>
                <a:spcPct val="106000"/>
              </a:lnSpc>
              <a:spcBef>
                <a:spcPts val="0"/>
              </a:spcBef>
              <a:spcAft>
                <a:spcPts val="0"/>
              </a:spcAft>
            </a:pPr>
            <a:r>
              <a:rPr sz="900" b="0" i="0">
                <a:solidFill>
                  <a:srgbClr val="9AA7BD"/>
                </a:solidFill>
                <a:latin typeface="Segoe UI"/>
              </a:rPr>
              <a:t>19</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2E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1696"/>
            <a:ext cx="12191695" cy="146304"/>
          </a:xfrm>
          <a:prstGeom prst="rect">
            <a:avLst/>
          </a:prstGeom>
          <a:solidFill>
            <a:srgbClr val="22C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371600"/>
            <a:ext cx="10515600" cy="45720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500" b="1" i="0">
                <a:solidFill>
                  <a:srgbClr val="22C3A6"/>
                </a:solidFill>
                <a:latin typeface="Segoe UI"/>
              </a:rPr>
              <a:t>BORA RUMO AO ARQUITETO AZURE</a:t>
            </a:r>
          </a:p>
        </p:txBody>
      </p:sp>
      <p:sp>
        <p:nvSpPr>
          <p:cNvPr id="5" name="TextBox 4"/>
          <p:cNvSpPr txBox="1"/>
          <p:nvPr/>
        </p:nvSpPr>
        <p:spPr>
          <a:xfrm>
            <a:off x="822960" y="1874519"/>
            <a:ext cx="10607040" cy="1448473"/>
          </a:xfrm>
          <a:prstGeom prst="rect">
            <a:avLst/>
          </a:prstGeom>
          <a:noFill/>
        </p:spPr>
        <p:txBody>
          <a:bodyPr wrap="square" lIns="25400" tIns="25400" rIns="25400" bIns="25400" anchor="t">
            <a:spAutoFit/>
          </a:bodyPr>
          <a:lstStyle/>
          <a:p>
            <a:pPr algn="l">
              <a:lnSpc>
                <a:spcPct val="102000"/>
              </a:lnSpc>
              <a:spcBef>
                <a:spcPts val="0"/>
              </a:spcBef>
              <a:spcAft>
                <a:spcPts val="0"/>
              </a:spcAft>
            </a:pPr>
            <a:r>
              <a:rPr sz="4600" b="1" i="0" dirty="0">
                <a:solidFill>
                  <a:srgbClr val="FFFFFF"/>
                </a:solidFill>
                <a:latin typeface="Segoe UI"/>
              </a:rPr>
              <a:t>Sua </a:t>
            </a:r>
            <a:r>
              <a:rPr sz="4600" b="1" i="0" dirty="0" err="1">
                <a:solidFill>
                  <a:srgbClr val="FFFFFF"/>
                </a:solidFill>
                <a:latin typeface="Segoe UI"/>
              </a:rPr>
              <a:t>próxima</a:t>
            </a:r>
            <a:r>
              <a:rPr sz="4600" b="1" i="0" dirty="0">
                <a:solidFill>
                  <a:srgbClr val="FFFFFF"/>
                </a:solidFill>
                <a:latin typeface="Segoe UI"/>
              </a:rPr>
              <a:t> </a:t>
            </a:r>
            <a:r>
              <a:rPr sz="4600" b="1" i="0" dirty="0" err="1">
                <a:solidFill>
                  <a:srgbClr val="FFFFFF"/>
                </a:solidFill>
                <a:latin typeface="Segoe UI"/>
              </a:rPr>
              <a:t>decisão</a:t>
            </a:r>
            <a:r>
              <a:rPr sz="4600" b="1" i="0" dirty="0">
                <a:solidFill>
                  <a:srgbClr val="FFFFFF"/>
                </a:solidFill>
                <a:latin typeface="Segoe UI"/>
              </a:rPr>
              <a:t> de </a:t>
            </a:r>
            <a:r>
              <a:rPr lang="pt-BR" sz="4600" b="1" dirty="0">
                <a:solidFill>
                  <a:srgbClr val="FFFFFF"/>
                </a:solidFill>
                <a:latin typeface="Segoe UI"/>
              </a:rPr>
              <a:t>A</a:t>
            </a:r>
            <a:r>
              <a:rPr sz="4600" b="1" i="0" dirty="0" err="1">
                <a:solidFill>
                  <a:srgbClr val="FFFFFF"/>
                </a:solidFill>
                <a:latin typeface="Segoe UI"/>
              </a:rPr>
              <a:t>rquitetura</a:t>
            </a:r>
            <a:r>
              <a:rPr sz="4600" b="1" i="0" dirty="0">
                <a:solidFill>
                  <a:srgbClr val="FFFFFF"/>
                </a:solidFill>
                <a:latin typeface="Segoe UI"/>
              </a:rPr>
              <a:t> é </a:t>
            </a:r>
            <a:r>
              <a:rPr sz="4600" b="1" i="0" dirty="0" err="1">
                <a:solidFill>
                  <a:srgbClr val="FFFFFF"/>
                </a:solidFill>
                <a:latin typeface="Segoe UI"/>
              </a:rPr>
              <a:t>sobre</a:t>
            </a:r>
            <a:r>
              <a:rPr sz="4600" b="1" i="0" dirty="0">
                <a:solidFill>
                  <a:srgbClr val="FFFFFF"/>
                </a:solidFill>
                <a:latin typeface="Segoe UI"/>
              </a:rPr>
              <a:t> a </a:t>
            </a:r>
            <a:r>
              <a:rPr sz="4600" b="1" i="0" dirty="0" err="1">
                <a:solidFill>
                  <a:srgbClr val="FFFFFF"/>
                </a:solidFill>
                <a:latin typeface="Segoe UI"/>
              </a:rPr>
              <a:t>sua</a:t>
            </a:r>
            <a:r>
              <a:rPr sz="4600" b="1" i="0" dirty="0">
                <a:solidFill>
                  <a:srgbClr val="FFFFFF"/>
                </a:solidFill>
                <a:latin typeface="Segoe UI"/>
              </a:rPr>
              <a:t> </a:t>
            </a:r>
            <a:r>
              <a:rPr sz="4600" b="1" i="0" dirty="0" err="1">
                <a:solidFill>
                  <a:srgbClr val="FFFFFF"/>
                </a:solidFill>
                <a:latin typeface="Segoe UI"/>
              </a:rPr>
              <a:t>carreira</a:t>
            </a:r>
            <a:endParaRPr sz="4600" b="1" i="0" dirty="0">
              <a:solidFill>
                <a:srgbClr val="FFFFFF"/>
              </a:solidFill>
              <a:latin typeface="Segoe UI"/>
            </a:endParaRPr>
          </a:p>
        </p:txBody>
      </p:sp>
      <p:sp>
        <p:nvSpPr>
          <p:cNvPr id="6" name="TextBox 5"/>
          <p:cNvSpPr txBox="1"/>
          <p:nvPr/>
        </p:nvSpPr>
        <p:spPr>
          <a:xfrm>
            <a:off x="841248" y="3977639"/>
            <a:ext cx="10424160" cy="731520"/>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900" b="0" i="0" dirty="0">
                <a:solidFill>
                  <a:srgbClr val="9AA7BD"/>
                </a:solidFill>
                <a:latin typeface="Segoe UI"/>
              </a:rPr>
              <a:t>Pós-Graduação </a:t>
            </a:r>
            <a:r>
              <a:rPr sz="1900" b="0" i="0" dirty="0" err="1">
                <a:solidFill>
                  <a:srgbClr val="9AA7BD"/>
                </a:solidFill>
                <a:latin typeface="Segoe UI"/>
              </a:rPr>
              <a:t>em</a:t>
            </a:r>
            <a:r>
              <a:rPr sz="1900" b="0" i="0" dirty="0">
                <a:solidFill>
                  <a:srgbClr val="9AA7BD"/>
                </a:solidFill>
                <a:latin typeface="Segoe UI"/>
              </a:rPr>
              <a:t> </a:t>
            </a:r>
            <a:r>
              <a:rPr sz="1900" b="0" i="0" dirty="0" err="1">
                <a:solidFill>
                  <a:srgbClr val="9AA7BD"/>
                </a:solidFill>
                <a:latin typeface="Segoe UI"/>
              </a:rPr>
              <a:t>Arquitetura</a:t>
            </a:r>
            <a:r>
              <a:rPr sz="1900" b="0" i="0" dirty="0">
                <a:solidFill>
                  <a:srgbClr val="9AA7BD"/>
                </a:solidFill>
                <a:latin typeface="Segoe UI"/>
              </a:rPr>
              <a:t> de Azure com IA — </a:t>
            </a:r>
            <a:r>
              <a:rPr sz="1900" b="0" i="0" dirty="0" err="1">
                <a:solidFill>
                  <a:srgbClr val="9AA7BD"/>
                </a:solidFill>
                <a:latin typeface="Segoe UI"/>
              </a:rPr>
              <a:t>condição</a:t>
            </a:r>
            <a:r>
              <a:rPr sz="1900" b="0" i="0" dirty="0">
                <a:solidFill>
                  <a:srgbClr val="9AA7BD"/>
                </a:solidFill>
                <a:latin typeface="Segoe UI"/>
              </a:rPr>
              <a:t> </a:t>
            </a:r>
            <a:r>
              <a:rPr sz="1900" b="0" i="0" dirty="0" err="1">
                <a:solidFill>
                  <a:srgbClr val="9AA7BD"/>
                </a:solidFill>
                <a:latin typeface="Segoe UI"/>
              </a:rPr>
              <a:t>exclusiva</a:t>
            </a:r>
            <a:r>
              <a:rPr sz="1900" b="0" i="0" dirty="0">
                <a:solidFill>
                  <a:srgbClr val="9AA7BD"/>
                </a:solidFill>
                <a:latin typeface="Segoe UI"/>
              </a:rPr>
              <a:t> da </a:t>
            </a:r>
            <a:r>
              <a:rPr sz="1900" b="0" i="0" dirty="0" err="1">
                <a:solidFill>
                  <a:srgbClr val="9AA7BD"/>
                </a:solidFill>
                <a:latin typeface="Segoe UI"/>
              </a:rPr>
              <a:t>Imersão</a:t>
            </a:r>
            <a:r>
              <a:rPr sz="1900" b="0" i="0" dirty="0">
                <a:solidFill>
                  <a:srgbClr val="9AA7BD"/>
                </a:solidFill>
                <a:latin typeface="Segoe UI"/>
              </a:rPr>
              <a:t>. Link no chat + QR </a:t>
            </a:r>
            <a:r>
              <a:rPr sz="1900" b="0" i="0" dirty="0" err="1">
                <a:solidFill>
                  <a:srgbClr val="9AA7BD"/>
                </a:solidFill>
                <a:latin typeface="Segoe UI"/>
              </a:rPr>
              <a:t>na</a:t>
            </a:r>
            <a:r>
              <a:rPr sz="1900" b="0" i="0" dirty="0">
                <a:solidFill>
                  <a:srgbClr val="9AA7BD"/>
                </a:solidFill>
                <a:latin typeface="Segoe UI"/>
              </a:rPr>
              <a:t> </a:t>
            </a:r>
            <a:r>
              <a:rPr sz="1900" b="0" i="0" dirty="0" err="1">
                <a:solidFill>
                  <a:srgbClr val="9AA7BD"/>
                </a:solidFill>
                <a:latin typeface="Segoe UI"/>
              </a:rPr>
              <a:t>tela</a:t>
            </a:r>
            <a:r>
              <a:rPr sz="1900" b="0" i="0" dirty="0">
                <a:solidFill>
                  <a:srgbClr val="9AA7BD"/>
                </a:solidFill>
                <a:latin typeface="Segoe UI"/>
              </a:rPr>
              <a:t>.</a:t>
            </a:r>
          </a:p>
        </p:txBody>
      </p:sp>
      <p:sp>
        <p:nvSpPr>
          <p:cNvPr id="7" name="TextBox 6"/>
          <p:cNvSpPr txBox="1"/>
          <p:nvPr/>
        </p:nvSpPr>
        <p:spPr>
          <a:xfrm>
            <a:off x="841248" y="5806440"/>
            <a:ext cx="10424160" cy="248145"/>
          </a:xfrm>
          <a:prstGeom prst="rect">
            <a:avLst/>
          </a:prstGeom>
          <a:noFill/>
        </p:spPr>
        <p:txBody>
          <a:bodyPr wrap="square" lIns="25400" tIns="25400" rIns="25400" bIns="25400" anchor="t">
            <a:spAutoFit/>
          </a:bodyPr>
          <a:lstStyle/>
          <a:p>
            <a:pPr algn="l">
              <a:lnSpc>
                <a:spcPct val="106000"/>
              </a:lnSpc>
              <a:spcBef>
                <a:spcPts val="0"/>
              </a:spcBef>
              <a:spcAft>
                <a:spcPts val="0"/>
              </a:spcAft>
            </a:pPr>
            <a:r>
              <a:rPr sz="1300" b="0" i="1" dirty="0">
                <a:solidFill>
                  <a:srgbClr val="9AA7BD"/>
                </a:solidFill>
                <a:latin typeface="Segoe UI"/>
              </a:rPr>
              <a:t>High Expert  •  </a:t>
            </a:r>
            <a:r>
              <a:rPr lang="pt-BR" sz="1300" b="0" i="1" dirty="0">
                <a:solidFill>
                  <a:srgbClr val="9AA7BD"/>
                </a:solidFill>
                <a:latin typeface="Segoe UI"/>
              </a:rPr>
              <a:t>Guilherme Maia </a:t>
            </a:r>
            <a:r>
              <a:rPr sz="1300" b="0" i="1" dirty="0">
                <a:solidFill>
                  <a:srgbClr val="9AA7BD"/>
                </a:solidFill>
                <a:latin typeface="Segoe UI"/>
              </a:rPr>
              <a:t>•  WhatsApp </a:t>
            </a:r>
            <a:r>
              <a:rPr lang="pt-BR" sz="1300" b="0" i="1" dirty="0">
                <a:solidFill>
                  <a:srgbClr val="9AA7BD"/>
                </a:solidFill>
                <a:latin typeface="Segoe UI"/>
              </a:rPr>
              <a:t>(</a:t>
            </a:r>
            <a:r>
              <a:rPr sz="1300" b="0" i="1" dirty="0">
                <a:solidFill>
                  <a:srgbClr val="9AA7BD"/>
                </a:solidFill>
                <a:latin typeface="Segoe UI"/>
              </a:rPr>
              <a:t>31</a:t>
            </a:r>
            <a:r>
              <a:rPr lang="pt-BR" sz="1300" b="0" i="1" dirty="0">
                <a:solidFill>
                  <a:srgbClr val="9AA7BD"/>
                </a:solidFill>
                <a:latin typeface="Segoe UI"/>
              </a:rPr>
              <a:t>)</a:t>
            </a:r>
            <a:r>
              <a:rPr sz="1300" b="0" i="1" dirty="0">
                <a:solidFill>
                  <a:srgbClr val="9AA7BD"/>
                </a:solidFill>
                <a:latin typeface="Segoe UI"/>
              </a:rPr>
              <a:t> 99925-7130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Terraform + Azure</a:t>
            </a:r>
          </a:p>
        </p:txBody>
      </p:sp>
      <p:sp>
        <p:nvSpPr>
          <p:cNvPr id="3" name="Content Placeholder 2"/>
          <p:cNvSpPr>
            <a:spLocks noGrp="1"/>
          </p:cNvSpPr>
          <p:nvPr>
            <p:ph idx="1"/>
          </p:nvPr>
        </p:nvSpPr>
        <p:spPr/>
        <p:txBody>
          <a:bodyPr/>
          <a:lstStyle/>
          <a:p>
            <a:r>
              <a:t>Infrastructure as Code para provisionamento</a:t>
            </a:r>
          </a:p>
          <a:p>
            <a:pPr lvl="1"/>
            <a:r>
              <a:t>Definir infra em HCL (HashiCorp Language)</a:t>
            </a:r>
          </a:p>
          <a:p>
            <a:pPr lvl="1"/>
            <a:r>
              <a:t>State management local ou remoto</a:t>
            </a:r>
          </a:p>
          <a:p>
            <a:pPr lvl="1"/>
            <a:r>
              <a:t>Integração com azurerm provider &gt;=4.2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Terraform - Modelo A</a:t>
            </a:r>
          </a:p>
        </p:txBody>
      </p:sp>
      <p:sp>
        <p:nvSpPr>
          <p:cNvPr id="3" name="Content Placeholder 2"/>
          <p:cNvSpPr>
            <a:spLocks noGrp="1"/>
          </p:cNvSpPr>
          <p:nvPr>
            <p:ph idx="1"/>
          </p:nvPr>
        </p:nvSpPr>
        <p:spPr/>
        <p:txBody>
          <a:bodyPr/>
          <a:lstStyle/>
          <a:p>
            <a:r>
              <a:t>Separação de responsabilidades</a:t>
            </a:r>
          </a:p>
          <a:p>
            <a:pPr lvl="1"/>
            <a:r>
              <a:t>Dia 1: Recursos manuais via Portal (RG, VNet, SQL)</a:t>
            </a:r>
          </a:p>
          <a:p>
            <a:pPr lvl="1"/>
            <a:r>
              <a:t>Dia 2: Terraform cria ACR, AKS, conectividade</a:t>
            </a:r>
          </a:p>
          <a:p>
            <a:pPr lvl="1"/>
            <a:r>
              <a:t>Data sources consultam foundação do Dia 1</a:t>
            </a:r>
          </a:p>
          <a:p>
            <a:pPr lvl="1"/>
            <a:r>
              <a:t>Sem colisão de estado - alunos trabalham em paralelo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Azure OpenAI Service</a:t>
            </a:r>
          </a:p>
        </p:txBody>
      </p:sp>
      <p:sp>
        <p:nvSpPr>
          <p:cNvPr id="3" name="Content Placeholder 2"/>
          <p:cNvSpPr>
            <a:spLocks noGrp="1"/>
          </p:cNvSpPr>
          <p:nvPr>
            <p:ph idx="1"/>
          </p:nvPr>
        </p:nvSpPr>
        <p:spPr/>
        <p:txBody>
          <a:bodyPr/>
          <a:lstStyle/>
          <a:p>
            <a:r>
              <a:t>Modelos LLM em ambiente seguro e escalável</a:t>
            </a:r>
          </a:p>
          <a:p>
            <a:pPr lvl="1"/>
            <a:r>
              <a:t>Acesso a GPT-4, GPT-3.5-turbo, Embeddings</a:t>
            </a:r>
          </a:p>
          <a:p>
            <a:pPr lvl="1"/>
            <a:r>
              <a:t>Autenticação via Entra ID ou chaves API</a:t>
            </a:r>
          </a:p>
          <a:p>
            <a:pPr lvl="1"/>
            <a:r>
              <a:t>Integração com aplicações via REST/SDK</a:t>
            </a:r>
          </a:p>
          <a:p>
            <a:pPr lvl="1"/>
            <a:r>
              <a:t>Compliance, privacidade e rate limiting garantidos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Azure AI Foundry</a:t>
            </a:r>
          </a:p>
        </p:txBody>
      </p:sp>
      <p:sp>
        <p:nvSpPr>
          <p:cNvPr id="3" name="Content Placeholder 2"/>
          <p:cNvSpPr>
            <a:spLocks noGrp="1"/>
          </p:cNvSpPr>
          <p:nvPr>
            <p:ph idx="1"/>
          </p:nvPr>
        </p:nvSpPr>
        <p:spPr/>
        <p:txBody>
          <a:bodyPr/>
          <a:lstStyle/>
          <a:p>
            <a:r>
              <a:t>Plataforma unificada para projetos de AI</a:t>
            </a:r>
          </a:p>
          <a:p>
            <a:pPr lvl="1"/>
            <a:r>
              <a:t>Hub com projects, connections e resources</a:t>
            </a:r>
          </a:p>
          <a:p>
            <a:pPr lvl="1"/>
            <a:r>
              <a:t>Integração nativa com OpenAI, Copilot, Prompt Flow</a:t>
            </a:r>
          </a:p>
          <a:p>
            <a:pPr lvl="1"/>
            <a:r>
              <a:t>Workload identity para autenticação segura sem senhas</a:t>
            </a:r>
          </a:p>
          <a:p>
            <a:pPr lvl="1"/>
            <a:r>
              <a:t>Gerenciamento de modelos, deployments e monitoring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Arquitetura Integrada</a:t>
            </a:r>
          </a:p>
        </p:txBody>
      </p:sp>
      <p:sp>
        <p:nvSpPr>
          <p:cNvPr id="3" name="Content Placeholder 2"/>
          <p:cNvSpPr>
            <a:spLocks noGrp="1"/>
          </p:cNvSpPr>
          <p:nvPr>
            <p:ph idx="1"/>
          </p:nvPr>
        </p:nvSpPr>
        <p:spPr/>
        <p:txBody>
          <a:bodyPr/>
          <a:lstStyle/>
          <a:p>
            <a:r>
              <a:t>Terraform provisiona; OpenAI + Foundry executam</a:t>
            </a:r>
          </a:p>
          <a:p>
            <a:pPr lvl="1"/>
            <a:r>
              <a:t>Lab 12: Terraform cria Azure AI Foundry via azurerm</a:t>
            </a:r>
          </a:p>
          <a:p>
            <a:pPr lvl="1"/>
            <a:r>
              <a:t>Lab 13: App AKS autentica via Workload Identity</a:t>
            </a:r>
          </a:p>
          <a:p>
            <a:pPr lvl="1"/>
            <a:r>
              <a:t>Fluxo: App → AKS Pod Identity → OpenAI/Foundry</a:t>
            </a:r>
          </a:p>
          <a:p>
            <a:pPr lvl="1"/>
            <a:r>
              <a:t>State: Terraform gerencia infra; App gerencia prompts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Terraform + Azure</a:t>
            </a:r>
          </a:p>
        </p:txBody>
      </p:sp>
      <p:sp>
        <p:nvSpPr>
          <p:cNvPr id="3" name="Content Placeholder 2"/>
          <p:cNvSpPr>
            <a:spLocks noGrp="1"/>
          </p:cNvSpPr>
          <p:nvPr>
            <p:ph idx="1"/>
          </p:nvPr>
        </p:nvSpPr>
        <p:spPr/>
        <p:txBody>
          <a:bodyPr/>
          <a:lstStyle/>
          <a:p>
            <a:r>
              <a:t>Infrastructure as Code para provisionamento</a:t>
            </a:r>
          </a:p>
          <a:p>
            <a:pPr lvl="1"/>
            <a:r>
              <a:t>Definir infra em HCL (HashiCorp Language)</a:t>
            </a:r>
          </a:p>
          <a:p>
            <a:pPr lvl="1"/>
            <a:r>
              <a:t>State management local ou remoto</a:t>
            </a:r>
          </a:p>
          <a:p>
            <a:pPr lvl="1"/>
            <a:r>
              <a:t>Integração com azurerm provider &gt;=4.2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Terraform - Modelo A</a:t>
            </a:r>
          </a:p>
        </p:txBody>
      </p:sp>
      <p:sp>
        <p:nvSpPr>
          <p:cNvPr id="3" name="Content Placeholder 2"/>
          <p:cNvSpPr>
            <a:spLocks noGrp="1"/>
          </p:cNvSpPr>
          <p:nvPr>
            <p:ph idx="1"/>
          </p:nvPr>
        </p:nvSpPr>
        <p:spPr/>
        <p:txBody>
          <a:bodyPr/>
          <a:lstStyle/>
          <a:p>
            <a:r>
              <a:t>Separação de responsabilidades</a:t>
            </a:r>
          </a:p>
          <a:p>
            <a:pPr lvl="1"/>
            <a:r>
              <a:t>Dia 1: Recursos manuais via Portal (RG, VNet, SQL)</a:t>
            </a:r>
          </a:p>
          <a:p>
            <a:pPr lvl="1"/>
            <a:r>
              <a:t>Dia 2: Terraform cria ACR, AKS, conectividade</a:t>
            </a:r>
          </a:p>
          <a:p>
            <a:pPr lvl="1"/>
            <a:r>
              <a:t>Data sources consultam foundação do Dia 1</a:t>
            </a:r>
          </a:p>
          <a:p>
            <a:pPr lvl="1"/>
            <a:r>
              <a:t>Sem colisão de estado - alunos trabalham em paralelo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Azure OpenAI Service</a:t>
            </a:r>
          </a:p>
        </p:txBody>
      </p:sp>
      <p:sp>
        <p:nvSpPr>
          <p:cNvPr id="3" name="Content Placeholder 2"/>
          <p:cNvSpPr>
            <a:spLocks noGrp="1"/>
          </p:cNvSpPr>
          <p:nvPr>
            <p:ph idx="1"/>
          </p:nvPr>
        </p:nvSpPr>
        <p:spPr/>
        <p:txBody>
          <a:bodyPr/>
          <a:lstStyle/>
          <a:p>
            <a:r>
              <a:t>Modelos LLM em ambiente seguro e escalável</a:t>
            </a:r>
          </a:p>
          <a:p>
            <a:pPr lvl="1"/>
            <a:r>
              <a:t>Acesso a GPT-4, GPT-3.5-turbo, Embeddings</a:t>
            </a:r>
          </a:p>
          <a:p>
            <a:pPr lvl="1"/>
            <a:r>
              <a:t>Autenticação via Entra ID ou chaves API</a:t>
            </a:r>
          </a:p>
          <a:p>
            <a:pPr lvl="1"/>
            <a:r>
              <a:t>Integração com aplicações via REST/SDK</a:t>
            </a:r>
          </a:p>
          <a:p>
            <a:pPr lvl="1"/>
            <a:r>
              <a:t>Compliance, privacidade e rate limiting garantidos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Azure AI Foundry</a:t>
            </a:r>
          </a:p>
        </p:txBody>
      </p:sp>
      <p:sp>
        <p:nvSpPr>
          <p:cNvPr id="3" name="Content Placeholder 2"/>
          <p:cNvSpPr>
            <a:spLocks noGrp="1"/>
          </p:cNvSpPr>
          <p:nvPr>
            <p:ph idx="1"/>
          </p:nvPr>
        </p:nvSpPr>
        <p:spPr/>
        <p:txBody>
          <a:bodyPr/>
          <a:lstStyle/>
          <a:p>
            <a:r>
              <a:t>Plataforma unificada para projetos de AI</a:t>
            </a:r>
          </a:p>
          <a:p>
            <a:pPr lvl="1"/>
            <a:r>
              <a:t>Hub com projects, connections e resources</a:t>
            </a:r>
          </a:p>
          <a:p>
            <a:pPr lvl="1"/>
            <a:r>
              <a:t>Integração nativa com OpenAI, Copilot, Prompt Flow</a:t>
            </a:r>
          </a:p>
          <a:p>
            <a:pPr lvl="1"/>
            <a:r>
              <a:t>Workload identity para autenticação segura sem senhas</a:t>
            </a:r>
          </a:p>
          <a:p>
            <a:pPr lvl="1"/>
            <a:r>
              <a:t>Gerenciamento de modelos, deployments e monitoring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Arquitetura Integrada</a:t>
            </a:r>
          </a:p>
        </p:txBody>
      </p:sp>
      <p:sp>
        <p:nvSpPr>
          <p:cNvPr id="3" name="Content Placeholder 2"/>
          <p:cNvSpPr>
            <a:spLocks noGrp="1"/>
          </p:cNvSpPr>
          <p:nvPr>
            <p:ph idx="1"/>
          </p:nvPr>
        </p:nvSpPr>
        <p:spPr/>
        <p:txBody>
          <a:bodyPr/>
          <a:lstStyle/>
          <a:p>
            <a:r>
              <a:t>Terraform provisiona; OpenAI + Foundry executam</a:t>
            </a:r>
          </a:p>
          <a:p>
            <a:pPr lvl="1"/>
            <a:r>
              <a:t>Lab 12: Terraform cria Azure AI Foundry via azurerm</a:t>
            </a:r>
          </a:p>
          <a:p>
            <a:pPr lvl="1"/>
            <a:r>
              <a:t>Lab 13: App AKS autentica via Workload Identity</a:t>
            </a:r>
          </a:p>
          <a:p>
            <a:pPr lvl="1"/>
            <a:r>
              <a:t>Fluxo: App → AKS Pod Identity → OpenAI/Foundry</a:t>
            </a:r>
          </a:p>
          <a:p>
            <a:pPr lvl="1"/>
            <a:r>
              <a:t>State: Terraform gerencia infra; App gerencia prompts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204</TotalTime>
  <Words>7087</Words>
  <Application>Microsoft Office PowerPoint</Application>
  <PresentationFormat>Widescreen</PresentationFormat>
  <Paragraphs>626</Paragraphs>
  <Slides>31</Slides>
  <Notes>31</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Guilherme Maia</cp:lastModifiedBy>
  <cp:revision>4</cp:revision>
  <dcterms:created xsi:type="dcterms:W3CDTF">2013-01-27T09:14:16Z</dcterms:created>
  <dcterms:modified xsi:type="dcterms:W3CDTF">2026-08-22T21:45:44Z</dcterms:modified>
  <cp:category/>
</cp:coreProperties>
</file>